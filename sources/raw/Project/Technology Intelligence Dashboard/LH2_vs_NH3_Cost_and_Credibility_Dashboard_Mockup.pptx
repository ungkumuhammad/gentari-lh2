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5.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ecutive view" id="{bbad5c90-eb73-e23a-6e6a-3e3863c0900c}">
          <p14:sldIdLst>
            <p14:sldId id="256"/>
            <p14:sldId id="257"/>
          </p14:sldIdLst>
        </p14:section>
        <p14:section name="Convergence and risk" id="{40714722-80eb-ca75-e495-6ff0907d9456}">
          <p14:sldIdLst>
            <p14:sldId id="258"/>
            <p14:sldId id="259"/>
            <p14:sldId id="260"/>
          </p14:sldIdLst>
        </p14:section>
        <p14:section name="Evidence and actions" id="{b034dd4a-9b87-6f3c-028e-ab262c707302}">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LH₂ (targets met)</c:v>
                </c:pt>
              </c:strCache>
            </c:strRef>
          </c:tx>
          <c:spPr>
            <a:solidFill>
              <a:srgbClr val="0E7C86"/>
            </a:solidFill>
            <a:ln w="38100" cap="flat">
              <a:solidFill>
                <a:srgbClr val="0E7C8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0E7C86"/>
              </a:solidFill>
              <a:ln w="9525" cap="flat">
                <a:solidFill>
                  <a:srgbClr val="0E7C86"/>
                </a:solidFill>
                <a:prstDash val="solid"/>
                <a:round/>
              </a:ln>
              <a:effectLst/>
            </c:spPr>
          </c:marker>
          <c:cat>
            <c:multiLvlStrRef>
              <c:f>Sheet1!$A$2:$A$6</c:f>
              <c:multiLvlStrCache>
                <c:ptCount val="5"/>
                <c:lvl>
                  <c:pt idx="0">
                    <c:v>2026</c:v>
                  </c:pt>
                  <c:pt idx="1">
                    <c:v>2030</c:v>
                  </c:pt>
                  <c:pt idx="2">
                    <c:v>2035</c:v>
                  </c:pt>
                  <c:pt idx="3">
                    <c:v>2040</c:v>
                  </c:pt>
                  <c:pt idx="4">
                    <c:v>2045</c:v>
                  </c:pt>
                </c:lvl>
              </c:multiLvlStrCache>
            </c:multiLvlStrRef>
          </c:cat>
          <c:val>
            <c:numRef>
              <c:f>Sheet1!$B$2:$B$6</c:f>
              <c:numCache>
                <c:formatCode>General</c:formatCode>
                <c:ptCount val="5"/>
                <c:pt idx="0">
                  <c:v>8.65</c:v>
                </c:pt>
                <c:pt idx="1">
                  <c:v>7.37</c:v>
                </c:pt>
                <c:pt idx="2">
                  <c:v>5.89</c:v>
                </c:pt>
                <c:pt idx="3">
                  <c:v>4.91</c:v>
                </c:pt>
                <c:pt idx="4">
                  <c:v>4.75</c:v>
                </c:pt>
              </c:numCache>
            </c:numRef>
          </c:val>
          <c:smooth val="0"/>
        </c:ser>
        <c:ser>
          <c:idx val="1"/>
          <c:order val="1"/>
          <c:tx>
            <c:strRef>
              <c:f>Sheet1!$C$1</c:f>
              <c:strCache>
                <c:ptCount val="1"/>
                <c:pt idx="0">
                  <c:v>NH₃ (improving)</c:v>
                </c:pt>
              </c:strCache>
            </c:strRef>
          </c:tx>
          <c:spPr>
            <a:solidFill>
              <a:srgbClr val="E08A1E"/>
            </a:solidFill>
            <a:ln w="3810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08A1E"/>
              </a:solidFill>
              <a:ln w="9525" cap="flat">
                <a:solidFill>
                  <a:srgbClr val="E08A1E"/>
                </a:solidFill>
                <a:prstDash val="solid"/>
                <a:round/>
              </a:ln>
              <a:effectLst/>
            </c:spPr>
          </c:marker>
          <c:cat>
            <c:multiLvlStrRef>
              <c:f>Sheet1!$A$2:$A$6</c:f>
              <c:multiLvlStrCache>
                <c:ptCount val="5"/>
                <c:lvl>
                  <c:pt idx="0">
                    <c:v>2026</c:v>
                  </c:pt>
                  <c:pt idx="1">
                    <c:v>2030</c:v>
                  </c:pt>
                  <c:pt idx="2">
                    <c:v>2035</c:v>
                  </c:pt>
                  <c:pt idx="3">
                    <c:v>2040</c:v>
                  </c:pt>
                  <c:pt idx="4">
                    <c:v>2045</c:v>
                  </c:pt>
                </c:lvl>
              </c:multiLvlStrCache>
            </c:multiLvlStrRef>
          </c:cat>
          <c:val>
            <c:numRef>
              <c:f>Sheet1!$C$2:$C$6</c:f>
              <c:numCache>
                <c:formatCode>General</c:formatCode>
                <c:ptCount val="5"/>
                <c:pt idx="0">
                  <c:v>6.69</c:v>
                </c:pt>
                <c:pt idx="1">
                  <c:v>5.83</c:v>
                </c:pt>
                <c:pt idx="2">
                  <c:v>5.26</c:v>
                </c:pt>
                <c:pt idx="3">
                  <c:v>4.8</c:v>
                </c:pt>
                <c:pt idx="4">
                  <c:v>4.65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2A33"/>
                </a:solidFill>
                <a:latin typeface="+mn-lt"/>
              </a:defRPr>
            </a:pPr>
            <a:endParaRPr lang="en-US"/>
          </a:p>
        </c:txPr>
        <c:crossAx val="2094734552"/>
        <c:crosses val="autoZero"/>
        <c:auto val="1"/>
        <c:lblAlgn val="ctr"/>
        <c:noMultiLvlLbl val="1"/>
      </c:catAx>
      <c:valAx>
        <c:axId val="2094734552"/>
        <c:scaling>
          <c:orientation val="minMax"/>
          <c:max val="9"/>
          <c:min val="4"/>
        </c:scaling>
        <c:delete val="0"/>
        <c:axPos val="l"/>
        <c:majorGridlines>
          <c:spPr>
            <a:ln w="9525" cap="flat">
              <a:solidFill>
                <a:srgbClr val="D5DEE0"/>
              </a:solidFill>
              <a:prstDash val="solid"/>
              <a:round/>
            </a:ln>
          </c:spPr>
        </c:majorGridlines>
        <c:numFmt formatCode="&quot;$&quot;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F2A33"/>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solidFill>
                <a:srgbClr val="0F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Production (common LCOH)</c:v>
                </c:pt>
              </c:strCache>
            </c:strRef>
          </c:tx>
          <c:spPr>
            <a:solidFill>
              <a:srgbClr val="5B6E75"/>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LH₂ 2026  $8.65</c:v>
                  </c:pt>
                  <c:pt idx="1">
                    <c:v>NH₃ 2026  $6.69</c:v>
                  </c:pt>
                  <c:pt idx="2">
                    <c:v>LH₂ 2030  $7.37</c:v>
                  </c:pt>
                  <c:pt idx="3">
                    <c:v>NH₃ 2030  $5.83</c:v>
                  </c:pt>
                </c:lvl>
              </c:multiLvlStrCache>
            </c:multiLvlStrRef>
          </c:cat>
          <c:val>
            <c:numRef>
              <c:f>Sheet1!$B$2:$B$5</c:f>
              <c:numCache>
                <c:formatCode>General</c:formatCode>
                <c:ptCount val="4"/>
                <c:pt idx="0">
                  <c:v>4</c:v>
                </c:pt>
                <c:pt idx="1">
                  <c:v>4</c:v>
                </c:pt>
                <c:pt idx="2">
                  <c:v>3.2</c:v>
                </c:pt>
                <c:pt idx="3">
                  <c:v>3.2</c:v>
                </c:pt>
              </c:numCache>
            </c:numRef>
          </c:val>
        </c:ser>
        <c:ser>
          <c:idx val="1"/>
          <c:order val="1"/>
          <c:tx>
            <c:strRef>
              <c:f>Sheet1!$C$1</c:f>
              <c:strCache>
                <c:ptCount val="1"/>
                <c:pt idx="0">
                  <c:v>Hydrogen losses</c:v>
                </c:pt>
              </c:strCache>
            </c:strRef>
          </c:tx>
          <c:spPr>
            <a:solidFill>
              <a:srgbClr val="F3C77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LH₂ 2026  $8.65</c:v>
                  </c:pt>
                  <c:pt idx="1">
                    <c:v>NH₃ 2026  $6.69</c:v>
                  </c:pt>
                  <c:pt idx="2">
                    <c:v>LH₂ 2030  $7.37</c:v>
                  </c:pt>
                  <c:pt idx="3">
                    <c:v>NH₃ 2030  $5.83</c:v>
                  </c:pt>
                </c:lvl>
              </c:multiLvlStrCache>
            </c:multiLvlStrRef>
          </c:cat>
          <c:val>
            <c:numRef>
              <c:f>Sheet1!$C$2:$C$5</c:f>
              <c:numCache>
                <c:formatCode>General</c:formatCode>
                <c:ptCount val="4"/>
                <c:pt idx="0">
                  <c:v>0.34</c:v>
                </c:pt>
                <c:pt idx="1">
                  <c:v>0.29</c:v>
                </c:pt>
                <c:pt idx="2">
                  <c:v>0.24</c:v>
                </c:pt>
                <c:pt idx="3">
                  <c:v>0.23</c:v>
                </c:pt>
              </c:numCache>
            </c:numRef>
          </c:val>
        </c:ser>
        <c:ser>
          <c:idx val="2"/>
          <c:order val="2"/>
          <c:tx>
            <c:strRef>
              <c:f>Sheet1!$D$1</c:f>
              <c:strCache>
                <c:ptCount val="1"/>
                <c:pt idx="0">
                  <c:v>Conversion</c:v>
                </c:pt>
              </c:strCache>
            </c:strRef>
          </c:tx>
          <c:spPr>
            <a:solidFill>
              <a:srgbClr val="0E7C8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LH₂ 2026  $8.65</c:v>
                  </c:pt>
                  <c:pt idx="1">
                    <c:v>NH₃ 2026  $6.69</c:v>
                  </c:pt>
                  <c:pt idx="2">
                    <c:v>LH₂ 2030  $7.37</c:v>
                  </c:pt>
                  <c:pt idx="3">
                    <c:v>NH₃ 2030  $5.83</c:v>
                  </c:pt>
                </c:lvl>
              </c:multiLvlStrCache>
            </c:multiLvlStrRef>
          </c:cat>
          <c:val>
            <c:numRef>
              <c:f>Sheet1!$D$2:$D$5</c:f>
              <c:numCache>
                <c:formatCode>General</c:formatCode>
                <c:ptCount val="4"/>
                <c:pt idx="0">
                  <c:v>2.36</c:v>
                </c:pt>
                <c:pt idx="1">
                  <c:v>0.71</c:v>
                </c:pt>
                <c:pt idx="2">
                  <c:v>1.99</c:v>
                </c:pt>
                <c:pt idx="3">
                  <c:v>0.71</c:v>
                </c:pt>
              </c:numCache>
            </c:numRef>
          </c:val>
        </c:ser>
        <c:ser>
          <c:idx val="3"/>
          <c:order val="3"/>
          <c:tx>
            <c:strRef>
              <c:f>Sheet1!$E$1</c:f>
              <c:strCache>
                <c:ptCount val="1"/>
                <c:pt idx="0">
                  <c:v>Export storage</c:v>
                </c:pt>
              </c:strCache>
            </c:strRef>
          </c:tx>
          <c:spPr>
            <a:solidFill>
              <a:srgbClr val="E08A1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LH₂ 2026  $8.65</c:v>
                  </c:pt>
                  <c:pt idx="1">
                    <c:v>NH₃ 2026  $6.69</c:v>
                  </c:pt>
                  <c:pt idx="2">
                    <c:v>LH₂ 2030  $7.37</c:v>
                  </c:pt>
                  <c:pt idx="3">
                    <c:v>NH₃ 2030  $5.83</c:v>
                  </c:pt>
                </c:lvl>
              </c:multiLvlStrCache>
            </c:multiLvlStrRef>
          </c:cat>
          <c:val>
            <c:numRef>
              <c:f>Sheet1!$E$2:$E$5</c:f>
              <c:numCache>
                <c:formatCode>General</c:formatCode>
                <c:ptCount val="4"/>
                <c:pt idx="0">
                  <c:v>0.53</c:v>
                </c:pt>
                <c:pt idx="1">
                  <c:v>0.35</c:v>
                </c:pt>
                <c:pt idx="2">
                  <c:v>0.53</c:v>
                </c:pt>
                <c:pt idx="3">
                  <c:v>0.35</c:v>
                </c:pt>
              </c:numCache>
            </c:numRef>
          </c:val>
        </c:ser>
        <c:ser>
          <c:idx val="4"/>
          <c:order val="4"/>
          <c:tx>
            <c:strRef>
              <c:f>Sheet1!$F$1</c:f>
              <c:strCache>
                <c:ptCount val="1"/>
                <c:pt idx="0">
                  <c:v>Shipping</c:v>
                </c:pt>
              </c:strCache>
            </c:strRef>
          </c:tx>
          <c:spPr>
            <a:solidFill>
              <a:srgbClr val="0B556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LH₂ 2026  $8.65</c:v>
                  </c:pt>
                  <c:pt idx="1">
                    <c:v>NH₃ 2026  $6.69</c:v>
                  </c:pt>
                  <c:pt idx="2">
                    <c:v>LH₂ 2030  $7.37</c:v>
                  </c:pt>
                  <c:pt idx="3">
                    <c:v>NH₃ 2030  $5.83</c:v>
                  </c:pt>
                </c:lvl>
              </c:multiLvlStrCache>
            </c:multiLvlStrRef>
          </c:cat>
          <c:val>
            <c:numRef>
              <c:f>Sheet1!$F$2:$F$5</c:f>
              <c:numCache>
                <c:formatCode>General</c:formatCode>
                <c:ptCount val="4"/>
                <c:pt idx="0">
                  <c:v>0.47</c:v>
                </c:pt>
                <c:pt idx="1">
                  <c:v>0.17</c:v>
                </c:pt>
                <c:pt idx="2">
                  <c:v>0.47</c:v>
                </c:pt>
                <c:pt idx="3">
                  <c:v>0.17</c:v>
                </c:pt>
              </c:numCache>
            </c:numRef>
          </c:val>
        </c:ser>
        <c:ser>
          <c:idx val="5"/>
          <c:order val="5"/>
          <c:tx>
            <c:strRef>
              <c:f>Sheet1!$G$1</c:f>
              <c:strCache>
                <c:ptCount val="1"/>
                <c:pt idx="0">
                  <c:v>Import storage</c:v>
                </c:pt>
              </c:strCache>
            </c:strRef>
          </c:tx>
          <c:spPr>
            <a:solidFill>
              <a:srgbClr val="A7C4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LH₂ 2026  $8.65</c:v>
                  </c:pt>
                  <c:pt idx="1">
                    <c:v>NH₃ 2026  $6.69</c:v>
                  </c:pt>
                  <c:pt idx="2">
                    <c:v>LH₂ 2030  $7.37</c:v>
                  </c:pt>
                  <c:pt idx="3">
                    <c:v>NH₃ 2030  $5.83</c:v>
                  </c:pt>
                </c:lvl>
              </c:multiLvlStrCache>
            </c:multiLvlStrRef>
          </c:cat>
          <c:val>
            <c:numRef>
              <c:f>Sheet1!$G$2:$G$5</c:f>
              <c:numCache>
                <c:formatCode>General</c:formatCode>
                <c:ptCount val="4"/>
                <c:pt idx="0">
                  <c:v>0.56</c:v>
                </c:pt>
                <c:pt idx="1">
                  <c:v>0.35</c:v>
                </c:pt>
                <c:pt idx="2">
                  <c:v>0.56</c:v>
                </c:pt>
                <c:pt idx="3">
                  <c:v>0.35</c:v>
                </c:pt>
              </c:numCache>
            </c:numRef>
          </c:val>
        </c:ser>
        <c:ser>
          <c:idx val="6"/>
          <c:order val="6"/>
          <c:tx>
            <c:strRef>
              <c:f>Sheet1!$H$1</c:f>
              <c:strCache>
                <c:ptCount val="1"/>
                <c:pt idx="0">
                  <c:v>Reconversion</c:v>
                </c:pt>
              </c:strCache>
            </c:strRef>
          </c:tx>
          <c:spPr>
            <a:solidFill>
              <a:srgbClr val="2F8F5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LH₂ 2026  $8.65</c:v>
                  </c:pt>
                  <c:pt idx="1">
                    <c:v>NH₃ 2026  $6.69</c:v>
                  </c:pt>
                  <c:pt idx="2">
                    <c:v>LH₂ 2030  $7.37</c:v>
                  </c:pt>
                  <c:pt idx="3">
                    <c:v>NH₃ 2030  $5.83</c:v>
                  </c:pt>
                </c:lvl>
              </c:multiLvlStrCache>
            </c:multiLvlStrRef>
          </c:cat>
          <c:val>
            <c:numRef>
              <c:f>Sheet1!$H$2:$H$5</c:f>
              <c:numCache>
                <c:formatCode>General</c:formatCode>
                <c:ptCount val="4"/>
                <c:pt idx="0">
                  <c:v>0.39</c:v>
                </c:pt>
                <c:pt idx="1">
                  <c:v>0.82</c:v>
                </c:pt>
                <c:pt idx="2">
                  <c:v>0.39</c:v>
                </c:pt>
                <c:pt idx="3">
                  <c:v>0.82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2A33"/>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b"/>
        <c:majorGridlines>
          <c:spPr>
            <a:ln w="9525" cap="flat">
              <a:solidFill>
                <a:srgbClr val="D5DEE0"/>
              </a:solidFill>
              <a:prstDash val="solid"/>
              <a:round/>
            </a:ln>
          </c:spPr>
        </c:majorGridlines>
        <c:numFmt formatCode="&quot;$&quot;0" sourceLinked="0"/>
        <c:majorTickMark val="out"/>
        <c:minorTickMark val="none"/>
        <c:tickLblPos val="low"/>
        <c:spPr>
          <a:ln w="12700" cap="flat">
            <a:solidFill>
              <a:srgbClr val="888888"/>
            </a:solidFill>
            <a:prstDash val="solid"/>
            <a:round/>
          </a:ln>
        </c:spPr>
        <c:txPr>
          <a:bodyPr/>
          <a:lstStyle/>
          <a:p>
            <a:pPr>
              <a:defRPr sz="1200" b="0" i="0" u="none" strike="noStrike">
                <a:solidFill>
                  <a:srgbClr val="0F2A33"/>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0F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Targets met vs NH₃ flat</c:v>
                </c:pt>
              </c:strCache>
            </c:strRef>
          </c:tx>
          <c:spPr>
            <a:solidFill>
              <a:srgbClr val="0E7C86"/>
            </a:solidFill>
            <a:ln w="31750" cap="flat">
              <a:solidFill>
                <a:srgbClr val="0E7C8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E7C86"/>
              </a:solidFill>
              <a:ln w="9525" cap="flat">
                <a:solidFill>
                  <a:srgbClr val="0E7C86"/>
                </a:solidFill>
                <a:prstDash val="solid"/>
                <a:round/>
              </a:ln>
              <a:effectLst/>
            </c:spPr>
          </c:marker>
          <c:cat>
            <c:multiLvlStrRef>
              <c:f>Sheet1!$A$2:$A$6</c:f>
              <c:multiLvlStrCache>
                <c:ptCount val="5"/>
                <c:lvl>
                  <c:pt idx="0">
                    <c:v>2026</c:v>
                  </c:pt>
                  <c:pt idx="1">
                    <c:v>2030</c:v>
                  </c:pt>
                  <c:pt idx="2">
                    <c:v>2035</c:v>
                  </c:pt>
                  <c:pt idx="3">
                    <c:v>2040</c:v>
                  </c:pt>
                  <c:pt idx="4">
                    <c:v>2045</c:v>
                  </c:pt>
                </c:lvl>
              </c:multiLvlStrCache>
            </c:multiLvlStrRef>
          </c:cat>
          <c:val>
            <c:numRef>
              <c:f>Sheet1!$B$2:$B$6</c:f>
              <c:numCache>
                <c:formatCode>General</c:formatCode>
                <c:ptCount val="5"/>
                <c:pt idx="0">
                  <c:v>1.96</c:v>
                </c:pt>
                <c:pt idx="1">
                  <c:v>1.53</c:v>
                </c:pt>
                <c:pt idx="2">
                  <c:v>0.49</c:v>
                </c:pt>
                <c:pt idx="3">
                  <c:v>-0.17</c:v>
                </c:pt>
                <c:pt idx="4">
                  <c:v>-0.23</c:v>
                </c:pt>
              </c:numCache>
            </c:numRef>
          </c:val>
          <c:smooth val="0"/>
        </c:ser>
        <c:ser>
          <c:idx val="1"/>
          <c:order val="1"/>
          <c:tx>
            <c:strRef>
              <c:f>Sheet1!$C$1</c:f>
              <c:strCache>
                <c:ptCount val="1"/>
                <c:pt idx="0">
                  <c:v>Targets met vs NH₃ improving</c:v>
                </c:pt>
              </c:strCache>
            </c:strRef>
          </c:tx>
          <c:spPr>
            <a:solidFill>
              <a:srgbClr val="0B5563"/>
            </a:solidFill>
            <a:ln w="31750" cap="flat">
              <a:solidFill>
                <a:srgbClr val="0B556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B5563"/>
              </a:solidFill>
              <a:ln w="9525" cap="flat">
                <a:solidFill>
                  <a:srgbClr val="0B5563"/>
                </a:solidFill>
                <a:prstDash val="solid"/>
                <a:round/>
              </a:ln>
              <a:effectLst/>
            </c:spPr>
          </c:marker>
          <c:cat>
            <c:multiLvlStrRef>
              <c:f>Sheet1!$A$2:$A$6</c:f>
              <c:multiLvlStrCache>
                <c:ptCount val="5"/>
                <c:lvl>
                  <c:pt idx="0">
                    <c:v>2026</c:v>
                  </c:pt>
                  <c:pt idx="1">
                    <c:v>2030</c:v>
                  </c:pt>
                  <c:pt idx="2">
                    <c:v>2035</c:v>
                  </c:pt>
                  <c:pt idx="3">
                    <c:v>2040</c:v>
                  </c:pt>
                  <c:pt idx="4">
                    <c:v>2045</c:v>
                  </c:pt>
                </c:lvl>
              </c:multiLvlStrCache>
            </c:multiLvlStrRef>
          </c:cat>
          <c:val>
            <c:numRef>
              <c:f>Sheet1!$C$2:$C$6</c:f>
              <c:numCache>
                <c:formatCode>General</c:formatCode>
                <c:ptCount val="5"/>
                <c:pt idx="0">
                  <c:v>1.96</c:v>
                </c:pt>
                <c:pt idx="1">
                  <c:v>1.53</c:v>
                </c:pt>
                <c:pt idx="2">
                  <c:v>0.63</c:v>
                </c:pt>
                <c:pt idx="3">
                  <c:v>0.11</c:v>
                </c:pt>
                <c:pt idx="4">
                  <c:v>0.1</c:v>
                </c:pt>
              </c:numCache>
            </c:numRef>
          </c:val>
          <c:smooth val="0"/>
        </c:ser>
        <c:ser>
          <c:idx val="2"/>
          <c:order val="2"/>
          <c:tx>
            <c:strRef>
              <c:f>Sheet1!$D$1</c:f>
              <c:strCache>
                <c:ptCount val="1"/>
                <c:pt idx="0">
                  <c:v>Conservative vs NH₃ flat</c:v>
                </c:pt>
              </c:strCache>
            </c:strRef>
          </c:tx>
          <c:spPr>
            <a:solidFill>
              <a:srgbClr val="E08A1E"/>
            </a:solidFill>
            <a:ln w="31750" cap="flat">
              <a:solidFill>
                <a:srgbClr val="E08A1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08A1E"/>
              </a:solidFill>
              <a:ln w="9525" cap="flat">
                <a:solidFill>
                  <a:srgbClr val="E08A1E"/>
                </a:solidFill>
                <a:prstDash val="solid"/>
                <a:round/>
              </a:ln>
              <a:effectLst/>
            </c:spPr>
          </c:marker>
          <c:cat>
            <c:multiLvlStrRef>
              <c:f>Sheet1!$A$2:$A$6</c:f>
              <c:multiLvlStrCache>
                <c:ptCount val="5"/>
                <c:lvl>
                  <c:pt idx="0">
                    <c:v>2026</c:v>
                  </c:pt>
                  <c:pt idx="1">
                    <c:v>2030</c:v>
                  </c:pt>
                  <c:pt idx="2">
                    <c:v>2035</c:v>
                  </c:pt>
                  <c:pt idx="3">
                    <c:v>2040</c:v>
                  </c:pt>
                  <c:pt idx="4">
                    <c:v>2045</c:v>
                  </c:pt>
                </c:lvl>
              </c:multiLvlStrCache>
            </c:multiLvlStrRef>
          </c:cat>
          <c:val>
            <c:numRef>
              <c:f>Sheet1!$D$2:$D$6</c:f>
              <c:numCache>
                <c:formatCode>General</c:formatCode>
                <c:ptCount val="5"/>
                <c:pt idx="0">
                  <c:v>1.96</c:v>
                </c:pt>
                <c:pt idx="1">
                  <c:v>1.82</c:v>
                </c:pt>
                <c:pt idx="2">
                  <c:v>1.34</c:v>
                </c:pt>
                <c:pt idx="3">
                  <c:v>0.77</c:v>
                </c:pt>
                <c:pt idx="4">
                  <c:v>0.67</c:v>
                </c:pt>
              </c:numCache>
            </c:numRef>
          </c:val>
          <c:smooth val="0"/>
        </c:ser>
        <c:ser>
          <c:idx val="3"/>
          <c:order val="3"/>
          <c:tx>
            <c:strRef>
              <c:f>Sheet1!$E$1</c:f>
              <c:strCache>
                <c:ptCount val="1"/>
                <c:pt idx="0">
                  <c:v>Conservative vs NH₃ improving</c:v>
                </c:pt>
              </c:strCache>
            </c:strRef>
          </c:tx>
          <c:spPr>
            <a:solidFill>
              <a:srgbClr val="5B6E75"/>
            </a:solidFill>
            <a:ln w="31750" cap="flat">
              <a:solidFill>
                <a:srgbClr val="5B6E7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5B6E75"/>
              </a:solidFill>
              <a:ln w="9525" cap="flat">
                <a:solidFill>
                  <a:srgbClr val="5B6E75"/>
                </a:solidFill>
                <a:prstDash val="solid"/>
                <a:round/>
              </a:ln>
              <a:effectLst/>
            </c:spPr>
          </c:marker>
          <c:cat>
            <c:multiLvlStrRef>
              <c:f>Sheet1!$A$2:$A$6</c:f>
              <c:multiLvlStrCache>
                <c:ptCount val="5"/>
                <c:lvl>
                  <c:pt idx="0">
                    <c:v>2026</c:v>
                  </c:pt>
                  <c:pt idx="1">
                    <c:v>2030</c:v>
                  </c:pt>
                  <c:pt idx="2">
                    <c:v>2035</c:v>
                  </c:pt>
                  <c:pt idx="3">
                    <c:v>2040</c:v>
                  </c:pt>
                  <c:pt idx="4">
                    <c:v>2045</c:v>
                  </c:pt>
                </c:lvl>
              </c:multiLvlStrCache>
            </c:multiLvlStrRef>
          </c:cat>
          <c:val>
            <c:numRef>
              <c:f>Sheet1!$E$2:$E$6</c:f>
              <c:numCache>
                <c:formatCode>General</c:formatCode>
                <c:ptCount val="5"/>
                <c:pt idx="0">
                  <c:v>1.96</c:v>
                </c:pt>
                <c:pt idx="1">
                  <c:v>1.82</c:v>
                </c:pt>
                <c:pt idx="2">
                  <c:v>1.48</c:v>
                </c:pt>
                <c:pt idx="3">
                  <c:v>1.05</c:v>
                </c:pt>
                <c:pt idx="4">
                  <c:v>0.99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2A33"/>
                </a:solidFill>
                <a:latin typeface="+mn-lt"/>
              </a:defRPr>
            </a:pPr>
            <a:endParaRPr lang="en-US"/>
          </a:p>
        </c:txPr>
        <c:crossAx val="2094734552"/>
        <c:crosses val="autoZero"/>
        <c:auto val="1"/>
        <c:lblAlgn val="ctr"/>
        <c:noMultiLvlLbl val="1"/>
      </c:catAx>
      <c:valAx>
        <c:axId val="2094734552"/>
        <c:scaling>
          <c:orientation val="minMax"/>
          <c:max val="2.5"/>
          <c:min val="-0.5"/>
        </c:scaling>
        <c:delete val="0"/>
        <c:axPos val="l"/>
        <c:majorGridlines>
          <c:spPr>
            <a:ln w="9525" cap="flat">
              <a:solidFill>
                <a:srgbClr val="D5DEE0"/>
              </a:solidFill>
              <a:prstDash val="solid"/>
              <a:round/>
            </a:ln>
          </c:spPr>
        </c:majorGridlines>
        <c:numFmt formatCode="&quot;$&quot;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F2A33"/>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100">
              <a:solidFill>
                <a:srgbClr val="0F2A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Gap effect</c:v>
                </c:pt>
              </c:strCache>
            </c:strRef>
          </c:tx>
          <c:spPr>
            <a:solidFill>
              <a:srgbClr val="0E7C86"/>
            </a:solidFill>
            <a:effectLst/>
          </c:spPr>
          <c:invertIfNegative val="0"/>
          <c:dLbls>
            <c:numFmt formatCode="&quot;$&quot;0.00;&quot;−$&quot;0.00" sourceLinked="0"/>
            <c:txPr>
              <a:bodyPr/>
              <a:lstStyle/>
              <a:p>
                <a:pPr>
                  <a:defRPr b="1" i="0" strike="noStrike" sz="1200" u="none">
                    <a:solidFill>
                      <a:srgbClr val="0F2A33"/>
                    </a:solidFill>
                    <a:latin typeface="+mn-lt"/>
                  </a:defRPr>
                </a:pPr>
              </a:p>
            </c:txPr>
            <c:showLegendKey val="0"/>
            <c:showVal val="1"/>
            <c:showCatName val="0"/>
            <c:showSerName val="0"/>
            <c:showPercent val="0"/>
            <c:showBubbleSize val="0"/>
            <c:showLeaderLines val="0"/>
          </c:dLbls>
          <c:dPt>
            <c:idx val="0"/>
            <c:invertIfNegative val="0"/>
            <c:bubble3D val="0"/>
            <c:spPr>
              <a:solidFill>
                <a:srgbClr val="0E7C86"/>
              </a:solidFill>
              <a:effectLst/>
            </c:spPr>
          </c:dPt>
          <c:dPt>
            <c:idx val="1"/>
            <c:invertIfNegative val="0"/>
            <c:bubble3D val="0"/>
            <c:spPr>
              <a:solidFill>
                <a:srgbClr val="0E7C86"/>
              </a:solidFill>
              <a:effectLst/>
            </c:spPr>
          </c:dPt>
          <c:dPt>
            <c:idx val="2"/>
            <c:invertIfNegative val="0"/>
            <c:bubble3D val="0"/>
            <c:spPr>
              <a:solidFill>
                <a:srgbClr val="0E7C86"/>
              </a:solidFill>
              <a:effectLst/>
            </c:spPr>
          </c:dPt>
          <c:dPt>
            <c:idx val="3"/>
            <c:invertIfNegative val="0"/>
            <c:bubble3D val="0"/>
            <c:spPr>
              <a:solidFill>
                <a:srgbClr val="0E7C86"/>
              </a:solidFill>
              <a:effectLst/>
            </c:spPr>
          </c:dPt>
          <c:dPt>
            <c:idx val="4"/>
            <c:invertIfNegative val="0"/>
            <c:bubble3D val="0"/>
            <c:spPr>
              <a:solidFill>
                <a:srgbClr val="0E7C86"/>
              </a:solidFill>
              <a:effectLst/>
            </c:spPr>
          </c:dPt>
          <c:dPt>
            <c:idx val="5"/>
            <c:invertIfNegative val="0"/>
            <c:bubble3D val="0"/>
            <c:spPr>
              <a:solidFill>
                <a:srgbClr val="E08A1E"/>
              </a:solidFill>
              <a:effectLst/>
            </c:spPr>
          </c:dPt>
          <c:dPt>
            <c:idx val="6"/>
            <c:invertIfNegative val="0"/>
            <c:bubble3D val="0"/>
            <c:spPr>
              <a:solidFill>
                <a:srgbClr val="E08A1E"/>
              </a:solidFill>
              <a:effectLst/>
            </c:spPr>
          </c:dPt>
          <c:dPt>
            <c:idx val="7"/>
            <c:invertIfNegative val="0"/>
            <c:bubble3D val="0"/>
            <c:spPr>
              <a:solidFill>
                <a:srgbClr val="E08A1E"/>
              </a:solidFill>
              <a:effectLst/>
            </c:spPr>
          </c:dPt>
          <c:cat>
            <c:multiLvlStrRef>
              <c:f>Sheet1!$A$2:$A$9</c:f>
              <c:multiLvlStrCache>
                <c:ptCount val="8"/>
                <c:lvl>
                  <c:pt idx="0">
                    <c:v>LH₂: Liquefier CAPEX</c:v>
                  </c:pt>
                  <c:pt idx="1">
                    <c:v>LH₂: LH₂ tank cost</c:v>
                  </c:pt>
                  <c:pt idx="2">
                    <c:v>LH₂: Liquefaction energy</c:v>
                  </c:pt>
                  <c:pt idx="3">
                    <c:v>LH₂: Carrier size and price</c:v>
                  </c:pt>
                  <c:pt idx="4">
                    <c:v>LH₂: Boil-off</c:v>
                  </c:pt>
                  <c:pt idx="5">
                    <c:v>NH₃: Carrier size and price</c:v>
                  </c:pt>
                  <c:pt idx="6">
                    <c:v>NH₃: Cracker heat</c:v>
                  </c:pt>
                  <c:pt idx="7">
                    <c:v>NH₃: Cracker CAPEX</c:v>
                  </c:pt>
                </c:lvl>
              </c:multiLvlStrCache>
            </c:multiLvlStrRef>
          </c:cat>
          <c:val>
            <c:numRef>
              <c:f>Sheet1!$B$2:$B$9</c:f>
              <c:numCache>
                <c:formatCode>General</c:formatCode>
                <c:ptCount val="8"/>
                <c:pt idx="0">
                  <c:v>0.83</c:v>
                </c:pt>
                <c:pt idx="1">
                  <c:v>0.8</c:v>
                </c:pt>
                <c:pt idx="2">
                  <c:v>0.17</c:v>
                </c:pt>
                <c:pt idx="3">
                  <c:v>0.16</c:v>
                </c:pt>
                <c:pt idx="4">
                  <c:v>0.11</c:v>
                </c:pt>
                <c:pt idx="5">
                  <c:v>-0.05</c:v>
                </c:pt>
                <c:pt idx="6">
                  <c:v>-0.08</c:v>
                </c:pt>
                <c:pt idx="7">
                  <c:v>-0.16</c:v>
                </c:pt>
              </c:numCache>
            </c:numRef>
          </c:val>
        </c:ser>
        <c:dLbls>
          <c:numFmt formatCode="&quot;$&quot;0.00;&quot;−$&quot;0.00" sourceLinked="0"/>
          <c:txPr>
            <a:bodyPr/>
            <a:lstStyle/>
            <a:p>
              <a:pPr>
                <a:defRPr b="1" i="0" strike="noStrike" sz="1200" u="none">
                  <a:solidFill>
                    <a:srgbClr val="0F2A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2A33"/>
                </a:solidFill>
                <a:latin typeface="+mn-lt"/>
              </a:defRPr>
            </a:pPr>
            <a:endParaRPr lang="en-US"/>
          </a:p>
        </c:txPr>
        <c:crossAx val="2094734552"/>
        <c:crosses val="autoZero"/>
        <c:auto val="1"/>
        <c:lblAlgn val="ctr"/>
        <c:noMultiLvlLbl val="1"/>
      </c:catAx>
      <c:valAx>
        <c:axId val="2094734552"/>
        <c:scaling>
          <c:orientation val="minMax"/>
          <c:max val="1.1"/>
          <c:min val="-0.7"/>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Delivered</c:v>
                </c:pt>
              </c:strCache>
            </c:strRef>
          </c:tx>
          <c:spPr>
            <a:solidFill>
              <a:srgbClr val="0E7C86"/>
            </a:solidFill>
            <a:effectLst/>
          </c:spPr>
          <c:invertIfNegative val="0"/>
          <c:dLbls>
            <c:numFmt formatCode="$0.00" sourceLinked="0"/>
            <c:txPr>
              <a:bodyPr/>
              <a:lstStyle/>
              <a:p>
                <a:pPr>
                  <a:defRPr b="1" i="0" strike="noStrike" sz="1300" u="none">
                    <a:solidFill>
                      <a:srgbClr val="0F2A33"/>
                    </a:solidFill>
                    <a:latin typeface="+mn-lt"/>
                  </a:defRPr>
                </a:pPr>
              </a:p>
            </c:txPr>
            <c:showLegendKey val="0"/>
            <c:showVal val="1"/>
            <c:showCatName val="0"/>
            <c:showSerName val="0"/>
            <c:showPercent val="0"/>
            <c:showBubbleSize val="0"/>
            <c:showLeaderLines val="0"/>
          </c:dLbls>
          <c:dPt>
            <c:idx val="0"/>
            <c:invertIfNegative val="0"/>
            <c:bubble3D val="0"/>
            <c:spPr>
              <a:solidFill>
                <a:srgbClr val="0E7C86"/>
              </a:solidFill>
              <a:effectLst/>
            </c:spPr>
          </c:dPt>
          <c:dPt>
            <c:idx val="1"/>
            <c:invertIfNegative val="0"/>
            <c:bubble3D val="0"/>
            <c:spPr>
              <a:solidFill>
                <a:srgbClr val="0E7C86"/>
              </a:solidFill>
              <a:effectLst/>
            </c:spPr>
          </c:dPt>
          <c:dPt>
            <c:idx val="2"/>
            <c:invertIfNegative val="0"/>
            <c:bubble3D val="0"/>
            <c:spPr>
              <a:solidFill>
                <a:srgbClr val="0E7C86"/>
              </a:solidFill>
              <a:effectLst/>
            </c:spPr>
          </c:dPt>
          <c:dPt>
            <c:idx val="3"/>
            <c:invertIfNegative val="0"/>
            <c:bubble3D val="0"/>
            <c:spPr>
              <a:solidFill>
                <a:srgbClr val="E08A1E"/>
              </a:solidFill>
              <a:effectLst/>
            </c:spPr>
          </c:dPt>
          <c:cat>
            <c:multiLvlStrRef>
              <c:f>Sheet1!$A$2:$A$5</c:f>
              <c:multiLvlStrCache>
                <c:ptCount val="4"/>
                <c:lvl>
                  <c:pt idx="0">
                    <c:v>LH₂, DOE/Shell concept tank (~$1,750/m³)</c:v>
                  </c:pt>
                  <c:pt idx="1">
                    <c:v>LH₂, IEA tank cost (~$9,000/m³)</c:v>
                  </c:pt>
                  <c:pt idx="2">
                    <c:v>LH₂, KBR tank cost (~$52,600/m³)</c:v>
                  </c:pt>
                  <c:pt idx="3">
                    <c:v>NH₃, improving path</c:v>
                  </c:pt>
                </c:lvl>
              </c:multiLvlStrCache>
            </c:multiLvlStrRef>
          </c:cat>
          <c:val>
            <c:numRef>
              <c:f>Sheet1!$B$2:$B$5</c:f>
              <c:numCache>
                <c:formatCode>General</c:formatCode>
                <c:ptCount val="4"/>
                <c:pt idx="0">
                  <c:v>4.85</c:v>
                </c:pt>
                <c:pt idx="1">
                  <c:v>5.71</c:v>
                </c:pt>
                <c:pt idx="2">
                  <c:v>10.84</c:v>
                </c:pt>
                <c:pt idx="3">
                  <c:v>4.8</c:v>
                </c:pt>
              </c:numCache>
            </c:numRef>
          </c:val>
        </c:ser>
        <c:dLbls>
          <c:numFmt formatCode="$0.00" sourceLinked="0"/>
          <c:txPr>
            <a:bodyPr/>
            <a:lstStyle/>
            <a:p>
              <a:pPr>
                <a:defRPr b="1" i="0" strike="noStrike" sz="1300" u="none">
                  <a:solidFill>
                    <a:srgbClr val="0F2A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F2A33"/>
                </a:solidFill>
                <a:latin typeface="+mn-lt"/>
              </a:defRPr>
            </a:pPr>
            <a:endParaRPr lang="en-US"/>
          </a:p>
        </c:txPr>
        <c:crossAx val="2094734552"/>
        <c:crosses val="autoZero"/>
        <c:auto val="1"/>
        <c:lblAlgn val="ctr"/>
        <c:noMultiLvlLbl val="1"/>
      </c:catAx>
      <c:valAx>
        <c:axId val="2094734552"/>
        <c:scaling>
          <c:orientation val="minMax"/>
          <c:max val="13"/>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Entries</c:v>
                </c:pt>
              </c:strCache>
            </c:strRef>
          </c:tx>
          <c:spPr>
            <a:solidFill>
              <a:schemeClr val="accent1"/>
            </a:solidFill>
            <a:ln w="9525" cap="flat">
              <a:solidFill>
                <a:srgbClr val="F9F9F9"/>
              </a:solidFill>
              <a:prstDash val="solid"/>
              <a:round/>
            </a:ln>
            <a:effectLst/>
          </c:spPr>
          <c:dPt>
            <c:idx val="0"/>
            <c:bubble3D val="0"/>
            <c:spPr>
              <a:solidFill>
                <a:srgbClr val="0E7C86"/>
              </a:solidFill>
              <a:effectLst/>
            </c:spPr>
          </c:dPt>
          <c:dPt>
            <c:idx val="1"/>
            <c:bubble3D val="0"/>
            <c:spPr>
              <a:solidFill>
                <a:srgbClr val="E08A1E"/>
              </a:solidFill>
              <a:effectLst/>
            </c:spPr>
          </c:dPt>
          <c:dPt>
            <c:idx val="2"/>
            <c:bubble3D val="0"/>
            <c:spPr>
              <a:solidFill>
                <a:srgbClr val="5B6E75"/>
              </a:solidFill>
              <a:effectLst/>
            </c:spPr>
          </c:dPt>
          <c:dLbls>
            <c:dLbl>
              <c:idx val="0"/>
              <c:numFmt formatCode="General" sourceLinked="0"/>
              <c:spPr/>
              <c:txPr>
                <a:bodyPr/>
                <a:lstStyle/>
                <a:p>
                  <a:pPr>
                    <a:defRPr sz="1300" b="1" i="0" u="none" strike="noStrike">
                      <a:solidFill>
                        <a:srgbClr val="FFFFFF"/>
                      </a:solidFill>
                      <a:latin typeface="+mn-lt"/>
                    </a:defRPr>
                  </a:pPr>
                </a:p>
              </c:txPr>
              <c:showLegendKey val="0"/>
              <c:showVal val="1"/>
              <c:showCatName val="0"/>
              <c:showSerName val="0"/>
              <c:showPercent val="0"/>
              <c:showBubbleSize val="0"/>
            </c:dLbl>
            <c:dLbl>
              <c:idx val="1"/>
              <c:numFmt formatCode="General" sourceLinked="0"/>
              <c:spPr/>
              <c:txPr>
                <a:bodyPr/>
                <a:lstStyle/>
                <a:p>
                  <a:pPr>
                    <a:defRPr sz="1300" b="1" i="0" u="none" strike="noStrike">
                      <a:solidFill>
                        <a:srgbClr val="FFFFFF"/>
                      </a:solidFill>
                      <a:latin typeface="+mn-lt"/>
                    </a:defRPr>
                  </a:pPr>
                </a:p>
              </c:txPr>
              <c:showLegendKey val="0"/>
              <c:showVal val="1"/>
              <c:showCatName val="0"/>
              <c:showSerName val="0"/>
              <c:showPercent val="0"/>
              <c:showBubbleSize val="0"/>
            </c:dLbl>
            <c:dLbl>
              <c:idx val="2"/>
              <c:numFmt formatCode="General" sourceLinked="0"/>
              <c:spPr/>
              <c:txPr>
                <a:bodyPr/>
                <a:lstStyle/>
                <a:p>
                  <a:pPr>
                    <a:defRPr sz="1300" b="1" i="0" u="none" strike="noStrike">
                      <a:solidFill>
                        <a:srgbClr val="FFFFFF"/>
                      </a:solidFill>
                      <a:latin typeface="+mn-lt"/>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Grade B</c:v>
                </c:pt>
                <c:pt idx="1">
                  <c:v>Grade D</c:v>
                </c:pt>
                <c:pt idx="2">
                  <c:v>Grade E</c:v>
                </c:pt>
              </c:strCache>
            </c:strRef>
          </c:cat>
          <c:val>
            <c:numRef>
              <c:f>Sheet1!$B$2:$B$4</c:f>
              <c:numCache>
                <c:ptCount val="3"/>
                <c:pt idx="0">
                  <c:v>11</c:v>
                </c:pt>
                <c:pt idx="1">
                  <c:v>12</c:v>
                </c:pt>
                <c:pt idx="2">
                  <c:v>9</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dashboard view. LH2 on the published-targets path against NH3 on the improving path. The 2026 gap is about USD 2 per kg. It narrows to roughly USD 0.1 per kg by 2040 and then stops closing. Against flat NH3 the paths cross around 2039. All the improvement beyond 2026 rests on inputs graded D or E: vendor claims, plans or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the stacked cost per kg delivered for each route in 2026 and 2030. Grey is the common production cost. Bottom: for 2030, how far each stage must scale beyond what has been demonstrated. LH2 needs a 50 t/d liquefier train against 30 t/d proven, a tank 13 times the largest operating, and a carrier many times larger than the 75 t pilot. NH3 shipping is established; the cracker needs about 40 times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combinations of the two LH2 paths and two NH3 paths. The only crossing is when every LH2 target is met on time and NH3 does not improve. If NH3 improves as modestly assumed, the paths stay within about USD 0.10 per kg through 2045. If LH2 delivers only half the improvement, the gap stays between 0.7 and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bar reverts one input to its 2026 value and shows how much of the LH2 cost reduction disappears. Liquefier CAPEX and tank cost are about 0.8 dollars per kg each. Liquefaction energy, which gets the most attention, is only about 0.17. Every one of these inputs is a claim, plan or assumption today. The NH3 improvements are also assumptions and widen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published tank costs differ by a factor of about thirty, from under 1,750 dollars per cubic metre in the DOE and Shell concept, to about 9,000 in the IEA annex, to about 52,600 for the 4,000 cubic metre tanks in the KBR study. That single input swings the 2040 LH2 cost between roughly 4.85 and 10.84 dollars per kg. The table shows the other sensitivities for the same year. KBR cracker heat of 6.4 kWh per kg is a sensitivity; the IEA 10.2 is the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milestones are the points at which an input moves from a claim to operating evidence. The Uhde cracker demonstration is due at the end of this year. The KHI 50 t/d liquefier completes at the end of 2028 and the ship-to-base trials follow by FY2030. The asks on the right are what Gentari can request from the two vendors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studies use different boundaries and none is a like-for-like match, but all place LH2 above cracked ammonia and none finds parity before 2040. The register behind the dashboard has 32 sourced entries, none of them independent operating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SH">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457200" y="6473952"/>
            <a:ext cx="10424160" cy="274320"/>
          </a:xfrm>
          <a:prstGeom prst="rect">
            <a:avLst/>
          </a:prstGeom>
          <a:noFill/>
          <a:ln/>
        </p:spPr>
        <p:txBody>
          <a:bodyPr wrap="square" lIns="0" tIns="0" rIns="0" bIns="0" rtlCol="0" anchor="ctr"/>
          <a:lstStyle/>
          <a:p>
            <a:pPr indent="0" marL="0">
              <a:buNone/>
            </a:pPr>
            <a:r>
              <a:rPr lang="en-US" sz="1000" dirty="0">
                <a:solidFill>
                  <a:schemeClr val="accent4"/>
                </a:solidFill>
              </a:rPr>
              <a:t>Gentari Hydrogen  |  Technology intelligence  |  LH₂ vs NH₃ cost and credibility  |  Dashboard mock-up, evidence as of 30 Oct 2026  |  Internal, for discussion</a:t>
            </a:r>
            <a:endParaRPr lang="en-US" sz="1000" dirty="0"/>
          </a:p>
        </p:txBody>
      </p:sp>
      <p:sp>
        <p:nvSpPr>
          <p:cNvPr id="3" name="Text 1"/>
          <p:cNvSpPr/>
          <p:nvPr>
            <p:ph idx="101" type="title" hasCustomPrompt="1"/>
          </p:nvPr>
        </p:nvSpPr>
        <p:spPr>
          <a:xfrm>
            <a:off x="457200" y="274320"/>
            <a:ext cx="11274552" cy="9144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74552" cy="914400"/>
          </a:xfrm>
          <a:prstGeom prst="rect">
            <a:avLst/>
          </a:prstGeom>
          <a:noFill/>
          <a:ln/>
        </p:spPr>
        <p:txBody>
          <a:bodyPr wrap="square" lIns="0" tIns="0" rIns="0" bIns="0" rtlCol="0" anchor="t"/>
          <a:lstStyle/>
          <a:p>
            <a:pPr algn="l" indent="0" marL="0">
              <a:buNone/>
            </a:pPr>
            <a:r>
              <a:rPr lang="en-US" sz="2800" b="1" dirty="0">
                <a:solidFill>
                  <a:schemeClr val="tx1"/>
                </a:solidFill>
              </a:rPr>
              <a:t>LH₂ stays above NH₃ on delivered cost through 2045 on almost every path, and none of the improvement is proven yet</a:t>
            </a:r>
            <a:endParaRPr lang="en-US" sz="2800" dirty="0"/>
          </a:p>
        </p:txBody>
      </p:sp>
      <p:sp>
        <p:nvSpPr>
          <p:cNvPr id="3" name="Subtitle"/>
          <p:cNvSpPr txBox="1"/>
          <p:nvPr/>
        </p:nvSpPr>
        <p:spPr>
          <a:xfrm>
            <a:off x="457200" y="1188720"/>
            <a:ext cx="11274552" cy="274320"/>
          </a:xfrm>
          <a:prstGeom prst="rect">
            <a:avLst/>
          </a:prstGeom>
          <a:noFill/>
          <a:ln/>
        </p:spPr>
        <p:txBody>
          <a:bodyPr wrap="square" lIns="0" tIns="0" rIns="0" bIns="0" rtlCol="0" anchor="t"/>
          <a:lstStyle/>
          <a:p>
            <a:pPr indent="0" marL="0">
              <a:buNone/>
            </a:pPr>
            <a:r>
              <a:rPr lang="en-US" sz="1200" dirty="0">
                <a:solidFill>
                  <a:schemeClr val="accent4"/>
                </a:solidFill>
              </a:rPr>
              <a:t>Pure H₂ delivered at the import terminal gate, 100 kt/yr, 8,000 km, same production cost for both routes. Default view: LH₂ published targets met against improving NH₃.</a:t>
            </a:r>
            <a:endParaRPr lang="en-US" sz="1200" dirty="0"/>
          </a:p>
        </p:txBody>
      </p:sp>
      <p:sp>
        <p:nvSpPr>
          <p:cNvPr id="4" name="KPI 1"/>
          <p:cNvSpPr/>
          <p:nvPr/>
        </p:nvSpPr>
        <p:spPr>
          <a:xfrm>
            <a:off x="457200" y="1600200"/>
            <a:ext cx="2647188" cy="1234440"/>
          </a:xfrm>
          <a:prstGeom prst="roundRect">
            <a:avLst>
              <a:gd name="adj" fmla="val 5926"/>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5" name="KPI 1 label"/>
          <p:cNvSpPr txBox="1"/>
          <p:nvPr/>
        </p:nvSpPr>
        <p:spPr>
          <a:xfrm>
            <a:off x="640080" y="1709928"/>
            <a:ext cx="2281428" cy="228600"/>
          </a:xfrm>
          <a:prstGeom prst="rect">
            <a:avLst/>
          </a:prstGeom>
          <a:noFill/>
          <a:ln/>
        </p:spPr>
        <p:txBody>
          <a:bodyPr wrap="square" lIns="0" tIns="0" rIns="0" bIns="0" rtlCol="0" anchor="t"/>
          <a:lstStyle/>
          <a:p>
            <a:pPr indent="0" marL="0">
              <a:buNone/>
            </a:pPr>
            <a:r>
              <a:rPr lang="en-US" sz="1200" b="1" dirty="0">
                <a:solidFill>
                  <a:schemeClr val="tx1"/>
                </a:solidFill>
              </a:rPr>
              <a:t>Gap in 2026, LH₂ minus NH₃</a:t>
            </a:r>
            <a:endParaRPr lang="en-US" sz="1200" dirty="0"/>
          </a:p>
        </p:txBody>
      </p:sp>
      <p:sp>
        <p:nvSpPr>
          <p:cNvPr id="6" name="KPI 1 value"/>
          <p:cNvSpPr txBox="1"/>
          <p:nvPr/>
        </p:nvSpPr>
        <p:spPr>
          <a:xfrm>
            <a:off x="640080" y="1965960"/>
            <a:ext cx="2281428" cy="502920"/>
          </a:xfrm>
          <a:prstGeom prst="rect">
            <a:avLst/>
          </a:prstGeom>
          <a:noFill/>
          <a:ln/>
        </p:spPr>
        <p:txBody>
          <a:bodyPr wrap="square" lIns="0" tIns="0" rIns="0" bIns="0" rtlCol="0" anchor="ctr"/>
          <a:lstStyle/>
          <a:p>
            <a:pPr indent="0" marL="0">
              <a:buNone/>
            </a:pPr>
            <a:r>
              <a:rPr lang="en-US" sz="3000" b="1" dirty="0">
                <a:solidFill>
                  <a:schemeClr val="tx1"/>
                </a:solidFill>
              </a:rPr>
              <a:t>$1.96</a:t>
            </a:r>
            <a:endParaRPr lang="en-US" sz="3000" dirty="0"/>
          </a:p>
        </p:txBody>
      </p:sp>
      <p:sp>
        <p:nvSpPr>
          <p:cNvPr id="7" name="KPI 1 note"/>
          <p:cNvSpPr txBox="1"/>
          <p:nvPr/>
        </p:nvSpPr>
        <p:spPr>
          <a:xfrm>
            <a:off x="640080" y="2496312"/>
            <a:ext cx="2281428" cy="274320"/>
          </a:xfrm>
          <a:prstGeom prst="rect">
            <a:avLst/>
          </a:prstGeom>
          <a:noFill/>
          <a:ln/>
        </p:spPr>
        <p:txBody>
          <a:bodyPr wrap="square" lIns="0" tIns="0" rIns="0" bIns="0" rtlCol="0" anchor="t"/>
          <a:lstStyle/>
          <a:p>
            <a:pPr indent="0" marL="0">
              <a:buNone/>
            </a:pPr>
            <a:r>
              <a:rPr lang="en-US" sz="1100" dirty="0">
                <a:solidFill>
                  <a:schemeClr val="accent4"/>
                </a:solidFill>
              </a:rPr>
              <a:t>LH₂ $8.65 vs NH₃ $6.69 per kg</a:t>
            </a:r>
            <a:endParaRPr lang="en-US" sz="1100" dirty="0"/>
          </a:p>
        </p:txBody>
      </p:sp>
      <p:sp>
        <p:nvSpPr>
          <p:cNvPr id="8" name="KPI 2"/>
          <p:cNvSpPr/>
          <p:nvPr/>
        </p:nvSpPr>
        <p:spPr>
          <a:xfrm>
            <a:off x="3332988" y="1600200"/>
            <a:ext cx="2647188" cy="1234440"/>
          </a:xfrm>
          <a:prstGeom prst="roundRect">
            <a:avLst>
              <a:gd name="adj" fmla="val 5926"/>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9" name="KPI 2 label"/>
          <p:cNvSpPr txBox="1"/>
          <p:nvPr/>
        </p:nvSpPr>
        <p:spPr>
          <a:xfrm>
            <a:off x="3515868" y="1709928"/>
            <a:ext cx="2281428" cy="228600"/>
          </a:xfrm>
          <a:prstGeom prst="rect">
            <a:avLst/>
          </a:prstGeom>
          <a:noFill/>
          <a:ln/>
        </p:spPr>
        <p:txBody>
          <a:bodyPr wrap="square" lIns="0" tIns="0" rIns="0" bIns="0" rtlCol="0" anchor="t"/>
          <a:lstStyle/>
          <a:p>
            <a:pPr indent="0" marL="0">
              <a:buNone/>
            </a:pPr>
            <a:r>
              <a:rPr lang="en-US" sz="1200" b="1" dirty="0">
                <a:solidFill>
                  <a:schemeClr val="tx1"/>
                </a:solidFill>
              </a:rPr>
              <a:t>Gap in 2030</a:t>
            </a:r>
            <a:endParaRPr lang="en-US" sz="1200" dirty="0"/>
          </a:p>
        </p:txBody>
      </p:sp>
      <p:sp>
        <p:nvSpPr>
          <p:cNvPr id="10" name="KPI 2 value"/>
          <p:cNvSpPr txBox="1"/>
          <p:nvPr/>
        </p:nvSpPr>
        <p:spPr>
          <a:xfrm>
            <a:off x="3515868" y="1965960"/>
            <a:ext cx="2281428" cy="502920"/>
          </a:xfrm>
          <a:prstGeom prst="rect">
            <a:avLst/>
          </a:prstGeom>
          <a:noFill/>
          <a:ln/>
        </p:spPr>
        <p:txBody>
          <a:bodyPr wrap="square" lIns="0" tIns="0" rIns="0" bIns="0" rtlCol="0" anchor="ctr"/>
          <a:lstStyle/>
          <a:p>
            <a:pPr indent="0" marL="0">
              <a:buNone/>
            </a:pPr>
            <a:r>
              <a:rPr lang="en-US" sz="3000" b="1" dirty="0">
                <a:solidFill>
                  <a:schemeClr val="tx1"/>
                </a:solidFill>
              </a:rPr>
              <a:t>$1.53</a:t>
            </a:r>
            <a:endParaRPr lang="en-US" sz="3000" dirty="0"/>
          </a:p>
        </p:txBody>
      </p:sp>
      <p:sp>
        <p:nvSpPr>
          <p:cNvPr id="11" name="KPI 2 note"/>
          <p:cNvSpPr txBox="1"/>
          <p:nvPr/>
        </p:nvSpPr>
        <p:spPr>
          <a:xfrm>
            <a:off x="3515868" y="2496312"/>
            <a:ext cx="2281428" cy="274320"/>
          </a:xfrm>
          <a:prstGeom prst="rect">
            <a:avLst/>
          </a:prstGeom>
          <a:noFill/>
          <a:ln/>
        </p:spPr>
        <p:txBody>
          <a:bodyPr wrap="square" lIns="0" tIns="0" rIns="0" bIns="0" rtlCol="0" anchor="t"/>
          <a:lstStyle/>
          <a:p>
            <a:pPr indent="0" marL="0">
              <a:buNone/>
            </a:pPr>
            <a:r>
              <a:rPr lang="en-US" sz="1100" dirty="0">
                <a:solidFill>
                  <a:schemeClr val="accent4"/>
                </a:solidFill>
              </a:rPr>
              <a:t>LH₂ $7.37 vs NH₃ $5.83</a:t>
            </a:r>
            <a:endParaRPr lang="en-US" sz="1100" dirty="0"/>
          </a:p>
        </p:txBody>
      </p:sp>
      <p:sp>
        <p:nvSpPr>
          <p:cNvPr id="12" name="KPI 3"/>
          <p:cNvSpPr/>
          <p:nvPr/>
        </p:nvSpPr>
        <p:spPr>
          <a:xfrm>
            <a:off x="6208776" y="1600200"/>
            <a:ext cx="2647188" cy="1234440"/>
          </a:xfrm>
          <a:prstGeom prst="roundRect">
            <a:avLst>
              <a:gd name="adj" fmla="val 5926"/>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13" name="KPI 3 label"/>
          <p:cNvSpPr txBox="1"/>
          <p:nvPr/>
        </p:nvSpPr>
        <p:spPr>
          <a:xfrm>
            <a:off x="6391656" y="1709928"/>
            <a:ext cx="2281428" cy="228600"/>
          </a:xfrm>
          <a:prstGeom prst="rect">
            <a:avLst/>
          </a:prstGeom>
          <a:noFill/>
          <a:ln/>
        </p:spPr>
        <p:txBody>
          <a:bodyPr wrap="square" lIns="0" tIns="0" rIns="0" bIns="0" rtlCol="0" anchor="t"/>
          <a:lstStyle/>
          <a:p>
            <a:pPr indent="0" marL="0">
              <a:buNone/>
            </a:pPr>
            <a:r>
              <a:rPr lang="en-US" sz="1200" b="1" dirty="0">
                <a:solidFill>
                  <a:schemeClr val="tx1"/>
                </a:solidFill>
              </a:rPr>
              <a:t>Parity year on this path</a:t>
            </a:r>
            <a:endParaRPr lang="en-US" sz="1200" dirty="0"/>
          </a:p>
        </p:txBody>
      </p:sp>
      <p:sp>
        <p:nvSpPr>
          <p:cNvPr id="14" name="KPI 3 value"/>
          <p:cNvSpPr txBox="1"/>
          <p:nvPr/>
        </p:nvSpPr>
        <p:spPr>
          <a:xfrm>
            <a:off x="6391656" y="1965960"/>
            <a:ext cx="2281428" cy="502920"/>
          </a:xfrm>
          <a:prstGeom prst="rect">
            <a:avLst/>
          </a:prstGeom>
          <a:noFill/>
          <a:ln/>
        </p:spPr>
        <p:txBody>
          <a:bodyPr wrap="square" lIns="0" tIns="0" rIns="0" bIns="0" rtlCol="0" anchor="ctr"/>
          <a:lstStyle/>
          <a:p>
            <a:pPr indent="0" marL="0">
              <a:buNone/>
            </a:pPr>
            <a:r>
              <a:rPr lang="en-US" sz="3000" b="1" dirty="0">
                <a:solidFill>
                  <a:schemeClr val="tx1"/>
                </a:solidFill>
              </a:rPr>
              <a:t>Not by 2045</a:t>
            </a:r>
            <a:endParaRPr lang="en-US" sz="3000" dirty="0"/>
          </a:p>
        </p:txBody>
      </p:sp>
      <p:sp>
        <p:nvSpPr>
          <p:cNvPr id="15" name="KPI 3 note"/>
          <p:cNvSpPr txBox="1"/>
          <p:nvPr/>
        </p:nvSpPr>
        <p:spPr>
          <a:xfrm>
            <a:off x="6391656" y="2496312"/>
            <a:ext cx="2281428" cy="274320"/>
          </a:xfrm>
          <a:prstGeom prst="rect">
            <a:avLst/>
          </a:prstGeom>
          <a:noFill/>
          <a:ln/>
        </p:spPr>
        <p:txBody>
          <a:bodyPr wrap="square" lIns="0" tIns="0" rIns="0" bIns="0" rtlCol="0" anchor="t"/>
          <a:lstStyle/>
          <a:p>
            <a:pPr indent="0" marL="0">
              <a:buNone/>
            </a:pPr>
            <a:r>
              <a:rPr lang="en-US" sz="1100" dirty="0">
                <a:solidFill>
                  <a:schemeClr val="accent4"/>
                </a:solidFill>
              </a:rPr>
              <a:t>Gap in 2045: $0.10. Against flat NH₃: about 2039</a:t>
            </a:r>
            <a:endParaRPr lang="en-US" sz="1100" dirty="0"/>
          </a:p>
        </p:txBody>
      </p:sp>
      <p:sp>
        <p:nvSpPr>
          <p:cNvPr id="16" name="KPI 4"/>
          <p:cNvSpPr/>
          <p:nvPr/>
        </p:nvSpPr>
        <p:spPr>
          <a:xfrm>
            <a:off x="9084564" y="1600200"/>
            <a:ext cx="2647188" cy="1234440"/>
          </a:xfrm>
          <a:prstGeom prst="roundRect">
            <a:avLst>
              <a:gd name="adj" fmla="val 5926"/>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17" name="KPI 4 label"/>
          <p:cNvSpPr txBox="1"/>
          <p:nvPr/>
        </p:nvSpPr>
        <p:spPr>
          <a:xfrm>
            <a:off x="9267444" y="1709928"/>
            <a:ext cx="2281428" cy="228600"/>
          </a:xfrm>
          <a:prstGeom prst="rect">
            <a:avLst/>
          </a:prstGeom>
          <a:noFill/>
          <a:ln/>
        </p:spPr>
        <p:txBody>
          <a:bodyPr wrap="square" lIns="0" tIns="0" rIns="0" bIns="0" rtlCol="0" anchor="t"/>
          <a:lstStyle/>
          <a:p>
            <a:pPr indent="0" marL="0">
              <a:buNone/>
            </a:pPr>
            <a:r>
              <a:rPr lang="en-US" sz="1200" b="1" dirty="0">
                <a:solidFill>
                  <a:schemeClr val="tx1"/>
                </a:solidFill>
              </a:rPr>
              <a:t>Backed by operating evidence</a:t>
            </a:r>
            <a:endParaRPr lang="en-US" sz="1200" dirty="0"/>
          </a:p>
        </p:txBody>
      </p:sp>
      <p:sp>
        <p:nvSpPr>
          <p:cNvPr id="18" name="KPI 4 value"/>
          <p:cNvSpPr txBox="1"/>
          <p:nvPr/>
        </p:nvSpPr>
        <p:spPr>
          <a:xfrm>
            <a:off x="9267444" y="1965960"/>
            <a:ext cx="2281428" cy="502920"/>
          </a:xfrm>
          <a:prstGeom prst="rect">
            <a:avLst/>
          </a:prstGeom>
          <a:noFill/>
          <a:ln/>
        </p:spPr>
        <p:txBody>
          <a:bodyPr wrap="square" lIns="0" tIns="0" rIns="0" bIns="0" rtlCol="0" anchor="ctr"/>
          <a:lstStyle/>
          <a:p>
            <a:pPr indent="0" marL="0">
              <a:buNone/>
            </a:pPr>
            <a:r>
              <a:rPr lang="en-US" sz="3000" b="1" dirty="0">
                <a:solidFill>
                  <a:schemeClr val="tx1"/>
                </a:solidFill>
              </a:rPr>
              <a:t>0%</a:t>
            </a:r>
            <a:endParaRPr lang="en-US" sz="3000" dirty="0"/>
          </a:p>
        </p:txBody>
      </p:sp>
      <p:sp>
        <p:nvSpPr>
          <p:cNvPr id="19" name="KPI 4 note"/>
          <p:cNvSpPr txBox="1"/>
          <p:nvPr/>
        </p:nvSpPr>
        <p:spPr>
          <a:xfrm>
            <a:off x="9267444" y="2496312"/>
            <a:ext cx="2281428" cy="274320"/>
          </a:xfrm>
          <a:prstGeom prst="rect">
            <a:avLst/>
          </a:prstGeom>
          <a:noFill/>
          <a:ln/>
        </p:spPr>
        <p:txBody>
          <a:bodyPr wrap="square" lIns="0" tIns="0" rIns="0" bIns="0" rtlCol="0" anchor="t"/>
          <a:lstStyle/>
          <a:p>
            <a:pPr indent="0" marL="0">
              <a:buNone/>
            </a:pPr>
            <a:r>
              <a:rPr lang="en-US" sz="1100" dirty="0">
                <a:solidFill>
                  <a:schemeClr val="accent4"/>
                </a:solidFill>
              </a:rPr>
              <a:t>$2.08 of $2.08 per kg rests on grade D or E</a:t>
            </a:r>
            <a:endParaRPr lang="en-US" sz="1100" dirty="0"/>
          </a:p>
        </p:txBody>
      </p:sp>
      <p:sp>
        <p:nvSpPr>
          <p:cNvPr id="20" name="Convergence card"/>
          <p:cNvSpPr/>
          <p:nvPr/>
        </p:nvSpPr>
        <p:spPr>
          <a:xfrm>
            <a:off x="457200" y="3017520"/>
            <a:ext cx="6949440" cy="3063240"/>
          </a:xfrm>
          <a:prstGeom prst="roundRect">
            <a:avLst>
              <a:gd name="adj" fmla="val 2388"/>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21" name="Chart title"/>
          <p:cNvSpPr txBox="1"/>
          <p:nvPr/>
        </p:nvSpPr>
        <p:spPr>
          <a:xfrm>
            <a:off x="640080" y="3127248"/>
            <a:ext cx="6583680" cy="274320"/>
          </a:xfrm>
          <a:prstGeom prst="rect">
            <a:avLst/>
          </a:prstGeom>
          <a:noFill/>
          <a:ln/>
        </p:spPr>
        <p:txBody>
          <a:bodyPr wrap="square" lIns="0" tIns="0" rIns="0" bIns="0" rtlCol="0" anchor="t"/>
          <a:lstStyle/>
          <a:p>
            <a:pPr indent="0" marL="0">
              <a:buNone/>
            </a:pPr>
            <a:r>
              <a:rPr lang="en-US" sz="1600" b="1" dirty="0">
                <a:solidFill>
                  <a:schemeClr val="tx1"/>
                </a:solidFill>
              </a:rPr>
              <a:t>Delivered cost, USD per kg H₂</a:t>
            </a:r>
            <a:endParaRPr lang="en-US" sz="1600" dirty="0"/>
          </a:p>
        </p:txBody>
      </p:sp>
      <p:graphicFrame>
        <p:nvGraphicFramePr>
          <p:cNvPr id="22" name="Chart 0" descr=""/>
          <p:cNvGraphicFramePr/>
          <p:nvPr/>
        </p:nvGraphicFramePr>
        <p:xfrm>
          <a:off x="548640" y="3429000"/>
          <a:ext cx="6766560" cy="2606040"/>
        </p:xfrm>
        <a:graphic xmlns:a="http://schemas.openxmlformats.org/drawingml/2006/main">
          <a:graphicData uri="http://schemas.openxmlformats.org/drawingml/2006/chart">
            <c:chart xmlns:c="http://schemas.openxmlformats.org/drawingml/2006/chart" r:id="rId1"/>
          </a:graphicData>
        </a:graphic>
      </p:graphicFrame>
      <p:sp>
        <p:nvSpPr>
          <p:cNvPr id="23" name="Reading card"/>
          <p:cNvSpPr/>
          <p:nvPr/>
        </p:nvSpPr>
        <p:spPr>
          <a:xfrm>
            <a:off x="7635240" y="3017520"/>
            <a:ext cx="4096512" cy="3063240"/>
          </a:xfrm>
          <a:prstGeom prst="roundRect">
            <a:avLst>
              <a:gd name="adj" fmla="val 2388"/>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24" name="Reading title"/>
          <p:cNvSpPr txBox="1"/>
          <p:nvPr/>
        </p:nvSpPr>
        <p:spPr>
          <a:xfrm>
            <a:off x="7818120" y="3127248"/>
            <a:ext cx="3749040" cy="274320"/>
          </a:xfrm>
          <a:prstGeom prst="rect">
            <a:avLst/>
          </a:prstGeom>
          <a:noFill/>
          <a:ln/>
        </p:spPr>
        <p:txBody>
          <a:bodyPr wrap="square" lIns="0" tIns="0" rIns="0" bIns="0" rtlCol="0" anchor="t"/>
          <a:lstStyle/>
          <a:p>
            <a:pPr indent="0" marL="0">
              <a:buNone/>
            </a:pPr>
            <a:r>
              <a:rPr lang="en-US" sz="1600" b="1" dirty="0">
                <a:solidFill>
                  <a:schemeClr val="tx1"/>
                </a:solidFill>
              </a:rPr>
              <a:t>How to read it</a:t>
            </a:r>
            <a:endParaRPr lang="en-US" sz="1600" dirty="0"/>
          </a:p>
        </p:txBody>
      </p:sp>
      <p:sp>
        <p:nvSpPr>
          <p:cNvPr id="25" name="Reading text"/>
          <p:cNvSpPr txBox="1"/>
          <p:nvPr/>
        </p:nvSpPr>
        <p:spPr>
          <a:xfrm>
            <a:off x="7818120" y="3474720"/>
            <a:ext cx="3749040" cy="2468880"/>
          </a:xfrm>
          <a:prstGeom prst="rect">
            <a:avLst/>
          </a:prstGeom>
          <a:noFill/>
          <a:ln/>
        </p:spPr>
        <p:txBody>
          <a:bodyPr wrap="square" lIns="0" tIns="0" rIns="0" bIns="0" rtlCol="0" anchor="t"/>
          <a:lstStyle/>
          <a:p>
            <a:pPr indent="0" marL="0">
              <a:spcAft>
                <a:spcPts val="800"/>
              </a:spcAft>
              <a:buNone/>
            </a:pPr>
            <a:r>
              <a:rPr lang="en-US" sz="1400" dirty="0">
                <a:solidFill>
                  <a:schemeClr val="tx1"/>
                </a:solidFill>
              </a:rPr>
              <a:t>The gap narrows from $1.96 to $0.11 by 2040, then stalls.</a:t>
            </a:r>
            <a:endParaRPr lang="en-US" sz="1400" dirty="0"/>
          </a:p>
          <a:p>
            <a:pPr indent="0" marL="0">
              <a:spcAft>
                <a:spcPts val="800"/>
              </a:spcAft>
              <a:buNone/>
            </a:pPr>
            <a:r>
              <a:rPr lang="en-US" sz="1400" dirty="0">
                <a:solidFill>
                  <a:schemeClr val="tx1"/>
                </a:solidFill>
              </a:rPr>
              <a:t>Liquefier CAPEX and large LH₂ tanks carry the closure. Liquefaction energy carries very little.</a:t>
            </a:r>
            <a:endParaRPr lang="en-US" sz="1400" dirty="0"/>
          </a:p>
          <a:p>
            <a:pPr indent="0" marL="0">
              <a:spcAft>
                <a:spcPts val="800"/>
              </a:spcAft>
              <a:buNone/>
            </a:pPr>
            <a:r>
              <a:rPr lang="en-US" sz="1400" dirty="0">
                <a:solidFill>
                  <a:schemeClr val="tx1"/>
                </a:solidFill>
              </a:rPr>
              <a:t>Parity needs every target on schedule and NH₃ standing still.</a:t>
            </a:r>
            <a:endParaRPr lang="en-US" sz="1400" dirty="0"/>
          </a:p>
          <a:p>
            <a:pPr indent="0" marL="0">
              <a:buNone/>
            </a:pPr>
            <a:r>
              <a:rPr lang="en-US" sz="1400" dirty="0">
                <a:solidFill>
                  <a:schemeClr val="tx1"/>
                </a:solidFill>
              </a:rPr>
              <a:t>Nothing past 2026 is a forecast. The years apply developers' own targets.</a:t>
            </a:r>
            <a:endParaRPr lang="en-US" sz="1400" dirty="0"/>
          </a:p>
        </p:txBody>
      </p:sp>
      <p:sp>
        <p:nvSpPr>
          <p:cNvPr id="26" name="Source line"/>
          <p:cNvSpPr txBox="1"/>
          <p:nvPr/>
        </p:nvSpPr>
        <p:spPr>
          <a:xfrm>
            <a:off x="457200" y="6199632"/>
            <a:ext cx="11274552" cy="256032"/>
          </a:xfrm>
          <a:prstGeom prst="rect">
            <a:avLst/>
          </a:prstGeom>
          <a:noFill/>
          <a:ln/>
        </p:spPr>
        <p:txBody>
          <a:bodyPr wrap="square" lIns="0" tIns="0" rIns="0" bIns="0" rtlCol="0" anchor="ctr"/>
          <a:lstStyle/>
          <a:p>
            <a:pPr indent="0" marL="0">
              <a:buNone/>
            </a:pPr>
            <a:r>
              <a:rPr lang="en-US" sz="1000" dirty="0">
                <a:solidFill>
                  <a:schemeClr val="accent4"/>
                </a:solidFill>
              </a:rPr>
              <a:t>Sources: IEA GHR 2026 annex; KHI/NEDO roadmap; Incheon plant (Korea.net); HySTRA/Kawasaki; DOE; KBR/CATF. Model run on the published inputs in the register.</a:t>
            </a:r>
            <a:endParaRPr lang="en-US" sz="1000" dirty="0"/>
          </a:p>
        </p:txBody>
      </p:sp>
      <p:sp>
        <p:nvSpPr>
          <p:cNvPr id="25" name="Slide Number Placeholder 0"/>
          <p:cNvSpPr>
            <a:spLocks noGrp="1"/>
          </p:cNvSpPr>
          <p:nvPr>
            <p:ph type="sldNum" sz="quarter" idx="4294967295"/>
          </p:nvPr>
        </p:nvSpPr>
        <p:spPr>
          <a:xfrm>
            <a:off x="11183112"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74552" cy="914400"/>
          </a:xfrm>
          <a:prstGeom prst="rect">
            <a:avLst/>
          </a:prstGeom>
          <a:noFill/>
          <a:ln/>
        </p:spPr>
        <p:txBody>
          <a:bodyPr wrap="square" lIns="0" tIns="0" rIns="0" bIns="0" rtlCol="0" anchor="t"/>
          <a:lstStyle/>
          <a:p>
            <a:pPr algn="l" indent="0" marL="0">
              <a:buNone/>
            </a:pPr>
            <a:r>
              <a:rPr lang="en-US" sz="2800" b="1" dirty="0">
                <a:solidFill>
                  <a:schemeClr val="tx1"/>
                </a:solidFill>
              </a:rPr>
              <a:t>Where the cost sits, and which stages have not yet been shown to work at the scale assumed</a:t>
            </a:r>
            <a:endParaRPr lang="en-US" sz="2800" dirty="0"/>
          </a:p>
        </p:txBody>
      </p:sp>
      <p:sp>
        <p:nvSpPr>
          <p:cNvPr id="3" name="Stack card"/>
          <p:cNvSpPr/>
          <p:nvPr/>
        </p:nvSpPr>
        <p:spPr>
          <a:xfrm>
            <a:off x="457200" y="1325880"/>
            <a:ext cx="11274552" cy="2697480"/>
          </a:xfrm>
          <a:prstGeom prst="roundRect">
            <a:avLst>
              <a:gd name="adj" fmla="val 2712"/>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graphicFrame>
        <p:nvGraphicFramePr>
          <p:cNvPr id="4" name="Chart 0" descr=""/>
          <p:cNvGraphicFramePr/>
          <p:nvPr/>
        </p:nvGraphicFramePr>
        <p:xfrm>
          <a:off x="548640" y="1371600"/>
          <a:ext cx="11064240" cy="2606040"/>
        </p:xfrm>
        <a:graphic xmlns:a="http://schemas.openxmlformats.org/drawingml/2006/main">
          <a:graphicData uri="http://schemas.openxmlformats.org/drawingml/2006/chart">
            <c:chart xmlns:c="http://schemas.openxmlformats.org/drawingml/2006/chart" r:id="rId1"/>
          </a:graphicData>
        </a:graphic>
      </p:graphicFrame>
      <p:sp>
        <p:nvSpPr>
          <p:cNvPr id="5" name="Ribbon card"/>
          <p:cNvSpPr/>
          <p:nvPr/>
        </p:nvSpPr>
        <p:spPr>
          <a:xfrm>
            <a:off x="457200" y="4160520"/>
            <a:ext cx="11274552" cy="1965960"/>
          </a:xfrm>
          <a:prstGeom prst="roundRect">
            <a:avLst>
              <a:gd name="adj" fmla="val 3721"/>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6" name="Ribbon title"/>
          <p:cNvSpPr txBox="1"/>
          <p:nvPr/>
        </p:nvSpPr>
        <p:spPr>
          <a:xfrm>
            <a:off x="640080" y="4224528"/>
            <a:ext cx="10881360" cy="274320"/>
          </a:xfrm>
          <a:prstGeom prst="rect">
            <a:avLst/>
          </a:prstGeom>
          <a:noFill/>
          <a:ln/>
        </p:spPr>
        <p:txBody>
          <a:bodyPr wrap="square" lIns="0" tIns="0" rIns="0" bIns="0" rtlCol="0" anchor="t"/>
          <a:lstStyle/>
          <a:p>
            <a:pPr indent="0" marL="0">
              <a:buNone/>
            </a:pPr>
            <a:r>
              <a:rPr lang="en-US" sz="1400" b="1" dirty="0">
                <a:solidFill>
                  <a:schemeClr val="tx1"/>
                </a:solidFill>
              </a:rPr>
              <a:t>Credibility by stage in 2030. Letter = evidence grade; shaded amber = scale not yet demonstrated</a:t>
            </a:r>
            <a:endParaRPr lang="en-US" sz="1400" dirty="0"/>
          </a:p>
        </p:txBody>
      </p:sp>
      <p:graphicFrame>
        <p:nvGraphicFramePr>
          <p:cNvPr id="3" name="Ribbon table"/>
          <p:cNvGraphicFramePr>
            <a:graphicFrameLocks noGrp="1"/>
          </p:cNvGraphicFramePr>
          <p:nvPr>
            <p:extLst>
              <p:ext uri="{D42A27DB-BD31-4B8C-83A1-F6EECF244321}">
                <p14:modId xmlns:p14="http://schemas.microsoft.com/office/powerpoint/2010/main" val="1579011935"/>
              </p:ext>
            </p:extLst>
          </p:nvPr>
        </p:nvGraphicFramePr>
        <p:xfrm>
          <a:off x="640080" y="4553712"/>
          <a:ext cx="10908792" cy="914400"/>
        </p:xfrm>
        <a:graphic>
          <a:graphicData uri="http://schemas.openxmlformats.org/drawingml/2006/table">
            <a:tbl>
              <a:tblPr/>
              <a:tblGrid>
                <a:gridCol w="822960"/>
                <a:gridCol w="2011680"/>
                <a:gridCol w="2011680"/>
                <a:gridCol w="2011680"/>
                <a:gridCol w="2011680"/>
                <a:gridCol w="2039112"/>
              </a:tblGrid>
              <a:tr h="292608">
                <a:tc>
                  <a:txBody>
                    <a:bodyPr/>
                    <a:lstStyle/>
                    <a:p>
                      <a:pPr indent="0" marL="0">
                        <a:buNone/>
                      </a:pPr>
                      <a:endParaRPr lang="en-US" sz="1200" dirty="0"/>
                    </a:p>
                  </a:txBody>
                  <a:tcPr marL="73152" marR="73152" marT="27432" marB="2743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5563"/>
                    </a:solidFill>
                  </a:tcPr>
                </a:tc>
                <a:tc>
                  <a:txBody>
                    <a:bodyPr/>
                    <a:lstStyle/>
                    <a:p>
                      <a:pPr algn="ctr" indent="0" marL="0">
                        <a:buNone/>
                      </a:pPr>
                      <a:r>
                        <a:rPr lang="en-US" sz="1200" b="1" dirty="0">
                          <a:solidFill>
                            <a:schemeClr val="bg1"/>
                          </a:solidFill>
                        </a:rPr>
                        <a:t>Conversion</a:t>
                      </a:r>
                      <a:endParaRPr lang="en-US" sz="12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5563"/>
                    </a:solidFill>
                  </a:tcPr>
                </a:tc>
                <a:tc>
                  <a:txBody>
                    <a:bodyPr/>
                    <a:lstStyle/>
                    <a:p>
                      <a:pPr algn="ctr" indent="0" marL="0">
                        <a:buNone/>
                      </a:pPr>
                      <a:r>
                        <a:rPr lang="en-US" sz="1200" b="1" dirty="0">
                          <a:solidFill>
                            <a:schemeClr val="bg1"/>
                          </a:solidFill>
                        </a:rPr>
                        <a:t>Export storage</a:t>
                      </a:r>
                      <a:endParaRPr lang="en-US" sz="12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5563"/>
                    </a:solidFill>
                  </a:tcPr>
                </a:tc>
                <a:tc>
                  <a:txBody>
                    <a:bodyPr/>
                    <a:lstStyle/>
                    <a:p>
                      <a:pPr algn="ctr" indent="0" marL="0">
                        <a:buNone/>
                      </a:pPr>
                      <a:r>
                        <a:rPr lang="en-US" sz="1200" b="1" dirty="0">
                          <a:solidFill>
                            <a:schemeClr val="bg1"/>
                          </a:solidFill>
                        </a:rPr>
                        <a:t>Shipping</a:t>
                      </a:r>
                      <a:endParaRPr lang="en-US" sz="12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5563"/>
                    </a:solidFill>
                  </a:tcPr>
                </a:tc>
                <a:tc>
                  <a:txBody>
                    <a:bodyPr/>
                    <a:lstStyle/>
                    <a:p>
                      <a:pPr algn="ctr" indent="0" marL="0">
                        <a:buNone/>
                      </a:pPr>
                      <a:r>
                        <a:rPr lang="en-US" sz="1200" b="1" dirty="0">
                          <a:solidFill>
                            <a:schemeClr val="bg1"/>
                          </a:solidFill>
                        </a:rPr>
                        <a:t>Import storage</a:t>
                      </a:r>
                      <a:endParaRPr lang="en-US" sz="12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5563"/>
                    </a:solidFill>
                  </a:tcPr>
                </a:tc>
                <a:tc>
                  <a:txBody>
                    <a:bodyPr/>
                    <a:lstStyle/>
                    <a:p>
                      <a:pPr algn="ctr" indent="0" marL="0">
                        <a:buNone/>
                      </a:pPr>
                      <a:r>
                        <a:rPr lang="en-US" sz="1200" b="1" dirty="0">
                          <a:solidFill>
                            <a:schemeClr val="bg1"/>
                          </a:solidFill>
                        </a:rPr>
                        <a:t>Reconversion</a:t>
                      </a:r>
                      <a:endParaRPr lang="en-US" sz="12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B5563"/>
                    </a:solidFill>
                  </a:tcPr>
                </a:tc>
              </a:tr>
              <a:tr h="566928">
                <a:tc>
                  <a:txBody>
                    <a:bodyPr/>
                    <a:lstStyle/>
                    <a:p>
                      <a:pPr indent="0" marL="0">
                        <a:buNone/>
                      </a:pPr>
                      <a:r>
                        <a:rPr lang="en-US" sz="1300" b="1" dirty="0">
                          <a:solidFill>
                            <a:schemeClr val="tx1"/>
                          </a:solidFill>
                        </a:rPr>
                        <a:t>LH₂</a:t>
                      </a:r>
                      <a:endParaRPr lang="en-US" sz="13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D  Scale-up 1.7×</a:t>
                      </a:r>
                      <a:endParaRPr lang="en-US" sz="1100" dirty="0"/>
                    </a:p>
                    <a:p>
                      <a:pPr indent="0" marL="0">
                        <a:buNone/>
                      </a:pPr>
                      <a:r>
                        <a:rPr lang="en-US" sz="1100" dirty="0">
                          <a:solidFill>
                            <a:schemeClr val="tx1"/>
                          </a:solidFill>
                        </a:rPr>
                        <a:t>30 → 50 t/d</a:t>
                      </a:r>
                      <a:endParaRPr lang="en-US" sz="11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8C8"/>
                    </a:solidFill>
                  </a:tcPr>
                </a:tc>
                <a:tc>
                  <a:txBody>
                    <a:bodyPr/>
                    <a:lstStyle/>
                    <a:p>
                      <a:pPr indent="0" marL="0">
                        <a:buNone/>
                      </a:pPr>
                      <a:r>
                        <a:rPr lang="en-US" sz="1100" dirty="0">
                          <a:solidFill>
                            <a:schemeClr val="tx1"/>
                          </a:solidFill>
                        </a:rPr>
                        <a:t>D  Scale-up 13×</a:t>
                      </a:r>
                      <a:endParaRPr lang="en-US" sz="1100" dirty="0"/>
                    </a:p>
                    <a:p>
                      <a:pPr indent="0" marL="0">
                        <a:buNone/>
                      </a:pPr>
                      <a:r>
                        <a:rPr lang="en-US" sz="1100" dirty="0">
                          <a:solidFill>
                            <a:schemeClr val="tx1"/>
                          </a:solidFill>
                        </a:rPr>
                        <a:t>3,200 → 43,100 m³</a:t>
                      </a:r>
                      <a:endParaRPr lang="en-US" sz="11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8C8"/>
                    </a:solidFill>
                  </a:tcPr>
                </a:tc>
                <a:tc>
                  <a:txBody>
                    <a:bodyPr/>
                    <a:lstStyle/>
                    <a:p>
                      <a:pPr indent="0" marL="0">
                        <a:buNone/>
                      </a:pPr>
                      <a:r>
                        <a:rPr lang="en-US" sz="1100" dirty="0">
                          <a:solidFill>
                            <a:schemeClr val="tx1"/>
                          </a:solidFill>
                        </a:rPr>
                        <a:t>D  Scale-up 36×</a:t>
                      </a:r>
                      <a:endParaRPr lang="en-US" sz="1100" dirty="0"/>
                    </a:p>
                    <a:p>
                      <a:pPr indent="0" marL="0">
                        <a:buNone/>
                      </a:pPr>
                      <a:r>
                        <a:rPr lang="en-US" sz="1100" dirty="0">
                          <a:solidFill>
                            <a:schemeClr val="tx1"/>
                          </a:solidFill>
                        </a:rPr>
                        <a:t>75 → 2,700 t H₂</a:t>
                      </a:r>
                      <a:endParaRPr lang="en-US" sz="11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8C8"/>
                    </a:solidFill>
                  </a:tcPr>
                </a:tc>
                <a:tc>
                  <a:txBody>
                    <a:bodyPr/>
                    <a:lstStyle/>
                    <a:p>
                      <a:pPr indent="0" marL="0">
                        <a:buNone/>
                      </a:pPr>
                      <a:r>
                        <a:rPr lang="en-US" sz="1100" dirty="0">
                          <a:solidFill>
                            <a:schemeClr val="tx1"/>
                          </a:solidFill>
                        </a:rPr>
                        <a:t>D  Scale-up 15×</a:t>
                      </a:r>
                      <a:endParaRPr lang="en-US" sz="1100" dirty="0"/>
                    </a:p>
                    <a:p>
                      <a:pPr indent="0" marL="0">
                        <a:buNone/>
                      </a:pPr>
                      <a:r>
                        <a:rPr lang="en-US" sz="1100" dirty="0">
                          <a:solidFill>
                            <a:schemeClr val="tx1"/>
                          </a:solidFill>
                        </a:rPr>
                        <a:t>3,200 → 47,700 m³</a:t>
                      </a:r>
                      <a:endParaRPr lang="en-US" sz="11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8C8"/>
                    </a:solidFill>
                  </a:tcPr>
                </a:tc>
                <a:tc>
                  <a:txBody>
                    <a:bodyPr/>
                    <a:lstStyle/>
                    <a:p>
                      <a:pPr indent="0" marL="0">
                        <a:buNone/>
                      </a:pPr>
                      <a:r>
                        <a:rPr lang="en-US" sz="1100" dirty="0">
                          <a:solidFill>
                            <a:schemeClr val="tx1"/>
                          </a:solidFill>
                        </a:rPr>
                        <a:t>C  Not assessed</a:t>
                      </a:r>
                      <a:endParaRPr lang="en-US" sz="11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3"/>
                    </a:solidFill>
                  </a:tcPr>
                </a:tc>
              </a:tr>
              <a:tr h="566928">
                <a:tc>
                  <a:txBody>
                    <a:bodyPr/>
                    <a:lstStyle/>
                    <a:p>
                      <a:pPr indent="0" marL="0">
                        <a:buNone/>
                      </a:pPr>
                      <a:r>
                        <a:rPr lang="en-US" sz="1300" b="1" dirty="0">
                          <a:solidFill>
                            <a:schemeClr val="tx1"/>
                          </a:solidFill>
                        </a:rPr>
                        <a:t>NH₃</a:t>
                      </a:r>
                      <a:endParaRPr lang="en-US" sz="13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rPr>
                        <a:t>A  Established</a:t>
                      </a:r>
                      <a:endParaRPr lang="en-US" sz="11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EFE0"/>
                    </a:solidFill>
                  </a:tcPr>
                </a:tc>
                <a:tc>
                  <a:txBody>
                    <a:bodyPr/>
                    <a:lstStyle/>
                    <a:p>
                      <a:pPr indent="0" marL="0">
                        <a:buNone/>
                      </a:pPr>
                      <a:r>
                        <a:rPr lang="en-US" sz="1100" dirty="0">
                          <a:solidFill>
                            <a:schemeClr val="tx1"/>
                          </a:solidFill>
                        </a:rPr>
                        <a:t>A  Established</a:t>
                      </a:r>
                      <a:endParaRPr lang="en-US" sz="11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EFE0"/>
                    </a:solidFill>
                  </a:tcPr>
                </a:tc>
                <a:tc>
                  <a:txBody>
                    <a:bodyPr/>
                    <a:lstStyle/>
                    <a:p>
                      <a:pPr indent="0" marL="0">
                        <a:buNone/>
                      </a:pPr>
                      <a:r>
                        <a:rPr lang="en-US" sz="1100" dirty="0">
                          <a:solidFill>
                            <a:schemeClr val="tx1"/>
                          </a:solidFill>
                        </a:rPr>
                        <a:t>B  Established</a:t>
                      </a:r>
                      <a:endParaRPr lang="en-US" sz="1100" dirty="0"/>
                    </a:p>
                    <a:p>
                      <a:pPr indent="0" marL="0">
                        <a:buNone/>
                      </a:pPr>
                      <a:r>
                        <a:rPr lang="en-US" sz="1100" dirty="0">
                          <a:solidFill>
                            <a:schemeClr val="tx1"/>
                          </a:solidFill>
                        </a:rPr>
                        <a:t>63,200 → 63,200 t NH₃</a:t>
                      </a:r>
                      <a:endParaRPr lang="en-US" sz="11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EFE0"/>
                    </a:solidFill>
                  </a:tcPr>
                </a:tc>
                <a:tc>
                  <a:txBody>
                    <a:bodyPr/>
                    <a:lstStyle/>
                    <a:p>
                      <a:pPr indent="0" marL="0">
                        <a:buNone/>
                      </a:pPr>
                      <a:r>
                        <a:rPr lang="en-US" sz="1100" dirty="0">
                          <a:solidFill>
                            <a:schemeClr val="tx1"/>
                          </a:solidFill>
                        </a:rPr>
                        <a:t>A  Established</a:t>
                      </a:r>
                      <a:endParaRPr lang="en-US" sz="11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EFE0"/>
                    </a:solidFill>
                  </a:tcPr>
                </a:tc>
                <a:tc>
                  <a:txBody>
                    <a:bodyPr/>
                    <a:lstStyle/>
                    <a:p>
                      <a:pPr indent="0" marL="0">
                        <a:buNone/>
                      </a:pPr>
                      <a:r>
                        <a:rPr lang="en-US" sz="1100" dirty="0">
                          <a:solidFill>
                            <a:schemeClr val="tx1"/>
                          </a:solidFill>
                        </a:rPr>
                        <a:t>D  Scale-up 40×</a:t>
                      </a:r>
                      <a:endParaRPr lang="en-US" sz="1100" dirty="0"/>
                    </a:p>
                    <a:p>
                      <a:pPr indent="0" marL="0">
                        <a:buNone/>
                      </a:pPr>
                      <a:r>
                        <a:rPr lang="en-US" sz="1100" dirty="0">
                          <a:solidFill>
                            <a:schemeClr val="tx1"/>
                          </a:solidFill>
                        </a:rPr>
                        <a:t>30 → 1,200 t NH₃/d</a:t>
                      </a:r>
                      <a:endParaRPr lang="en-US" sz="1100" dirty="0"/>
                    </a:p>
                  </a:txBody>
                  <a:tcPr marL="73152" marR="73152"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8C8"/>
                    </a:solidFill>
                  </a:tcPr>
                </a:tc>
              </a:tr>
            </a:tbl>
          </a:graphicData>
        </a:graphic>
      </p:graphicFrame>
      <p:sp>
        <p:nvSpPr>
          <p:cNvPr id="8" name="Source line"/>
          <p:cNvSpPr txBox="1"/>
          <p:nvPr/>
        </p:nvSpPr>
        <p:spPr>
          <a:xfrm>
            <a:off x="457200" y="6199632"/>
            <a:ext cx="11274552" cy="256032"/>
          </a:xfrm>
          <a:prstGeom prst="rect">
            <a:avLst/>
          </a:prstGeom>
          <a:noFill/>
          <a:ln/>
        </p:spPr>
        <p:txBody>
          <a:bodyPr wrap="square" lIns="0" tIns="0" rIns="0" bIns="0" rtlCol="0" anchor="ctr"/>
          <a:lstStyle/>
          <a:p>
            <a:pPr indent="0" marL="0">
              <a:buNone/>
            </a:pPr>
            <a:r>
              <a:rPr lang="en-US" sz="1000" dirty="0">
                <a:solidFill>
                  <a:schemeClr val="accent4"/>
                </a:solidFill>
              </a:rPr>
              <a:t>Scale-up is the size needed divided by the largest size demonstrated. Sources: Incheon/Korea.net, HySTRA, DOE/NASA, Air Liquide, KHI, ADNOC L&amp;S, IEA GHR 2026. Grades never rise because a date arrives.</a:t>
            </a:r>
            <a:endParaRPr lang="en-US" sz="1000" dirty="0"/>
          </a:p>
        </p:txBody>
      </p:sp>
      <p:sp>
        <p:nvSpPr>
          <p:cNvPr id="25" name="Slide Number Placeholder 0"/>
          <p:cNvSpPr>
            <a:spLocks noGrp="1"/>
          </p:cNvSpPr>
          <p:nvPr>
            <p:ph type="sldNum" sz="quarter" idx="4294967295"/>
          </p:nvPr>
        </p:nvSpPr>
        <p:spPr>
          <a:xfrm>
            <a:off x="11183112"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74552" cy="914400"/>
          </a:xfrm>
          <a:prstGeom prst="rect">
            <a:avLst/>
          </a:prstGeom>
          <a:noFill/>
          <a:ln/>
        </p:spPr>
        <p:txBody>
          <a:bodyPr wrap="square" lIns="0" tIns="0" rIns="0" bIns="0" rtlCol="0" anchor="t"/>
          <a:lstStyle/>
          <a:p>
            <a:pPr algn="l" indent="0" marL="0">
              <a:buNone/>
            </a:pPr>
            <a:r>
              <a:rPr lang="en-US" sz="2800" b="1" dirty="0">
                <a:solidFill>
                  <a:schemeClr val="tx1"/>
                </a:solidFill>
              </a:rPr>
              <a:t>Parity is conditional: about 2039 against flat NH₃, and not reached by 2045 in the other three cases</a:t>
            </a:r>
            <a:endParaRPr lang="en-US" sz="2800" dirty="0"/>
          </a:p>
        </p:txBody>
      </p:sp>
      <p:sp>
        <p:nvSpPr>
          <p:cNvPr id="3" name="Gap card"/>
          <p:cNvSpPr/>
          <p:nvPr/>
        </p:nvSpPr>
        <p:spPr>
          <a:xfrm>
            <a:off x="457200" y="1325880"/>
            <a:ext cx="7040880" cy="4754880"/>
          </a:xfrm>
          <a:prstGeom prst="roundRect">
            <a:avLst>
              <a:gd name="adj" fmla="val 1538"/>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4" name="Chart title"/>
          <p:cNvSpPr txBox="1"/>
          <p:nvPr/>
        </p:nvSpPr>
        <p:spPr>
          <a:xfrm>
            <a:off x="640080" y="1435608"/>
            <a:ext cx="6675120" cy="274320"/>
          </a:xfrm>
          <a:prstGeom prst="rect">
            <a:avLst/>
          </a:prstGeom>
          <a:noFill/>
          <a:ln/>
        </p:spPr>
        <p:txBody>
          <a:bodyPr wrap="square" lIns="0" tIns="0" rIns="0" bIns="0" rtlCol="0" anchor="t"/>
          <a:lstStyle/>
          <a:p>
            <a:pPr indent="0" marL="0">
              <a:buNone/>
            </a:pPr>
            <a:r>
              <a:rPr lang="en-US" sz="1600" b="1" dirty="0">
                <a:solidFill>
                  <a:schemeClr val="tx1"/>
                </a:solidFill>
              </a:rPr>
              <a:t>Gap, LH₂ minus NH₃, USD per kg (below zero = LH₂ cheaper)</a:t>
            </a:r>
            <a:endParaRPr lang="en-US" sz="1600" dirty="0"/>
          </a:p>
        </p:txBody>
      </p:sp>
      <p:graphicFrame>
        <p:nvGraphicFramePr>
          <p:cNvPr id="5" name="Chart 0" descr=""/>
          <p:cNvGraphicFramePr/>
          <p:nvPr/>
        </p:nvGraphicFramePr>
        <p:xfrm>
          <a:off x="548640" y="1783080"/>
          <a:ext cx="6858000" cy="4206240"/>
        </p:xfrm>
        <a:graphic xmlns:a="http://schemas.openxmlformats.org/drawingml/2006/main">
          <a:graphicData uri="http://schemas.openxmlformats.org/drawingml/2006/chart">
            <c:chart xmlns:c="http://schemas.openxmlformats.org/drawingml/2006/chart" r:id="rId1"/>
          </a:graphicData>
        </a:graphic>
      </p:graphicFrame>
      <p:sp>
        <p:nvSpPr>
          <p:cNvPr id="6" name="Parity card"/>
          <p:cNvSpPr/>
          <p:nvPr/>
        </p:nvSpPr>
        <p:spPr>
          <a:xfrm>
            <a:off x="7726680" y="1325880"/>
            <a:ext cx="4005072" cy="4754880"/>
          </a:xfrm>
          <a:prstGeom prst="roundRect">
            <a:avLst>
              <a:gd name="adj" fmla="val 1826"/>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7" name="Parity title"/>
          <p:cNvSpPr txBox="1"/>
          <p:nvPr/>
        </p:nvSpPr>
        <p:spPr>
          <a:xfrm>
            <a:off x="7909560" y="1435608"/>
            <a:ext cx="3657600" cy="274320"/>
          </a:xfrm>
          <a:prstGeom prst="rect">
            <a:avLst/>
          </a:prstGeom>
          <a:noFill/>
          <a:ln/>
        </p:spPr>
        <p:txBody>
          <a:bodyPr wrap="square" lIns="0" tIns="0" rIns="0" bIns="0" rtlCol="0" anchor="t"/>
          <a:lstStyle/>
          <a:p>
            <a:pPr indent="0" marL="0">
              <a:buNone/>
            </a:pPr>
            <a:r>
              <a:rPr lang="en-US" sz="1600" b="1" dirty="0">
                <a:solidFill>
                  <a:schemeClr val="tx1"/>
                </a:solidFill>
              </a:rPr>
              <a:t>Parity year by path</a:t>
            </a:r>
            <a:endParaRPr lang="en-US" sz="1600" dirty="0"/>
          </a:p>
        </p:txBody>
      </p:sp>
      <p:sp>
        <p:nvSpPr>
          <p:cNvPr id="8" name="Parity label 1"/>
          <p:cNvSpPr txBox="1"/>
          <p:nvPr/>
        </p:nvSpPr>
        <p:spPr>
          <a:xfrm>
            <a:off x="7909560" y="1874520"/>
            <a:ext cx="3657600" cy="228600"/>
          </a:xfrm>
          <a:prstGeom prst="rect">
            <a:avLst/>
          </a:prstGeom>
          <a:noFill/>
          <a:ln/>
        </p:spPr>
        <p:txBody>
          <a:bodyPr wrap="square" lIns="0" tIns="0" rIns="0" bIns="0" rtlCol="0" anchor="t"/>
          <a:lstStyle/>
          <a:p>
            <a:pPr indent="0" marL="0">
              <a:buNone/>
            </a:pPr>
            <a:r>
              <a:rPr lang="en-US" sz="1200" dirty="0">
                <a:solidFill>
                  <a:schemeClr val="accent4"/>
                </a:solidFill>
              </a:rPr>
              <a:t>Targets met vs NH₃ flat</a:t>
            </a:r>
            <a:endParaRPr lang="en-US" sz="1200" dirty="0"/>
          </a:p>
        </p:txBody>
      </p:sp>
      <p:sp>
        <p:nvSpPr>
          <p:cNvPr id="9" name="Parity value 1"/>
          <p:cNvSpPr txBox="1"/>
          <p:nvPr/>
        </p:nvSpPr>
        <p:spPr>
          <a:xfrm>
            <a:off x="7909560" y="2121408"/>
            <a:ext cx="3657600" cy="365760"/>
          </a:xfrm>
          <a:prstGeom prst="rect">
            <a:avLst/>
          </a:prstGeom>
          <a:noFill/>
          <a:ln/>
        </p:spPr>
        <p:txBody>
          <a:bodyPr wrap="square" lIns="0" tIns="0" rIns="0" bIns="0" rtlCol="0" anchor="t"/>
          <a:lstStyle/>
          <a:p>
            <a:pPr indent="0" marL="0">
              <a:buNone/>
            </a:pPr>
            <a:r>
              <a:rPr lang="en-US" sz="2400" b="1" dirty="0">
                <a:solidFill>
                  <a:schemeClr val="tx1"/>
                </a:solidFill>
              </a:rPr>
              <a:t>About 2039</a:t>
            </a:r>
            <a:endParaRPr lang="en-US" sz="2400" dirty="0"/>
          </a:p>
        </p:txBody>
      </p:sp>
      <p:sp>
        <p:nvSpPr>
          <p:cNvPr id="10" name="Parity note 1"/>
          <p:cNvSpPr txBox="1"/>
          <p:nvPr/>
        </p:nvSpPr>
        <p:spPr>
          <a:xfrm>
            <a:off x="7909560" y="2514600"/>
            <a:ext cx="3657600" cy="228600"/>
          </a:xfrm>
          <a:prstGeom prst="rect">
            <a:avLst/>
          </a:prstGeom>
          <a:noFill/>
          <a:ln/>
        </p:spPr>
        <p:txBody>
          <a:bodyPr wrap="square" lIns="0" tIns="0" rIns="0" bIns="0" rtlCol="0" anchor="t"/>
          <a:lstStyle/>
          <a:p>
            <a:pPr indent="0" marL="0">
              <a:buNone/>
            </a:pPr>
            <a:r>
              <a:rPr lang="en-US" sz="1100" dirty="0">
                <a:solidFill>
                  <a:schemeClr val="accent4"/>
                </a:solidFill>
              </a:rPr>
              <a:t>Gap in 2040 −$0.17, in 2045 −$0.23</a:t>
            </a:r>
            <a:endParaRPr lang="en-US" sz="1100" dirty="0"/>
          </a:p>
        </p:txBody>
      </p:sp>
      <p:sp>
        <p:nvSpPr>
          <p:cNvPr id="11" name="Parity label 2"/>
          <p:cNvSpPr txBox="1"/>
          <p:nvPr/>
        </p:nvSpPr>
        <p:spPr>
          <a:xfrm>
            <a:off x="7909560" y="2898648"/>
            <a:ext cx="3657600" cy="228600"/>
          </a:xfrm>
          <a:prstGeom prst="rect">
            <a:avLst/>
          </a:prstGeom>
          <a:noFill/>
          <a:ln/>
        </p:spPr>
        <p:txBody>
          <a:bodyPr wrap="square" lIns="0" tIns="0" rIns="0" bIns="0" rtlCol="0" anchor="t"/>
          <a:lstStyle/>
          <a:p>
            <a:pPr indent="0" marL="0">
              <a:buNone/>
            </a:pPr>
            <a:r>
              <a:rPr lang="en-US" sz="1200" dirty="0">
                <a:solidFill>
                  <a:schemeClr val="accent4"/>
                </a:solidFill>
              </a:rPr>
              <a:t>Targets met vs NH₃ improving</a:t>
            </a:r>
            <a:endParaRPr lang="en-US" sz="1200" dirty="0"/>
          </a:p>
        </p:txBody>
      </p:sp>
      <p:sp>
        <p:nvSpPr>
          <p:cNvPr id="12" name="Parity value 2"/>
          <p:cNvSpPr txBox="1"/>
          <p:nvPr/>
        </p:nvSpPr>
        <p:spPr>
          <a:xfrm>
            <a:off x="7909560" y="3145536"/>
            <a:ext cx="3657600" cy="365760"/>
          </a:xfrm>
          <a:prstGeom prst="rect">
            <a:avLst/>
          </a:prstGeom>
          <a:noFill/>
          <a:ln/>
        </p:spPr>
        <p:txBody>
          <a:bodyPr wrap="square" lIns="0" tIns="0" rIns="0" bIns="0" rtlCol="0" anchor="t"/>
          <a:lstStyle/>
          <a:p>
            <a:pPr indent="0" marL="0">
              <a:buNone/>
            </a:pPr>
            <a:r>
              <a:rPr lang="en-US" sz="2400" b="1" dirty="0">
                <a:solidFill>
                  <a:schemeClr val="tx1"/>
                </a:solidFill>
              </a:rPr>
              <a:t>Not by 2045</a:t>
            </a:r>
            <a:endParaRPr lang="en-US" sz="2400" dirty="0"/>
          </a:p>
        </p:txBody>
      </p:sp>
      <p:sp>
        <p:nvSpPr>
          <p:cNvPr id="13" name="Parity note 2"/>
          <p:cNvSpPr txBox="1"/>
          <p:nvPr/>
        </p:nvSpPr>
        <p:spPr>
          <a:xfrm>
            <a:off x="7909560" y="3538728"/>
            <a:ext cx="3657600" cy="228600"/>
          </a:xfrm>
          <a:prstGeom prst="rect">
            <a:avLst/>
          </a:prstGeom>
          <a:noFill/>
          <a:ln/>
        </p:spPr>
        <p:txBody>
          <a:bodyPr wrap="square" lIns="0" tIns="0" rIns="0" bIns="0" rtlCol="0" anchor="t"/>
          <a:lstStyle/>
          <a:p>
            <a:pPr indent="0" marL="0">
              <a:buNone/>
            </a:pPr>
            <a:r>
              <a:rPr lang="en-US" sz="1100" dirty="0">
                <a:solidFill>
                  <a:schemeClr val="accent4"/>
                </a:solidFill>
              </a:rPr>
              <a:t>Gap in 2040 $0.11, in 2045 $0.10</a:t>
            </a:r>
            <a:endParaRPr lang="en-US" sz="1100" dirty="0"/>
          </a:p>
        </p:txBody>
      </p:sp>
      <p:sp>
        <p:nvSpPr>
          <p:cNvPr id="14" name="Parity label 3"/>
          <p:cNvSpPr txBox="1"/>
          <p:nvPr/>
        </p:nvSpPr>
        <p:spPr>
          <a:xfrm>
            <a:off x="7909560" y="3922776"/>
            <a:ext cx="3657600" cy="228600"/>
          </a:xfrm>
          <a:prstGeom prst="rect">
            <a:avLst/>
          </a:prstGeom>
          <a:noFill/>
          <a:ln/>
        </p:spPr>
        <p:txBody>
          <a:bodyPr wrap="square" lIns="0" tIns="0" rIns="0" bIns="0" rtlCol="0" anchor="t"/>
          <a:lstStyle/>
          <a:p>
            <a:pPr indent="0" marL="0">
              <a:buNone/>
            </a:pPr>
            <a:r>
              <a:rPr lang="en-US" sz="1200" dirty="0">
                <a:solidFill>
                  <a:schemeClr val="accent4"/>
                </a:solidFill>
              </a:rPr>
              <a:t>Conservative vs NH₃ flat</a:t>
            </a:r>
            <a:endParaRPr lang="en-US" sz="1200" dirty="0"/>
          </a:p>
        </p:txBody>
      </p:sp>
      <p:sp>
        <p:nvSpPr>
          <p:cNvPr id="15" name="Parity value 3"/>
          <p:cNvSpPr txBox="1"/>
          <p:nvPr/>
        </p:nvSpPr>
        <p:spPr>
          <a:xfrm>
            <a:off x="7909560" y="4169664"/>
            <a:ext cx="3657600" cy="365760"/>
          </a:xfrm>
          <a:prstGeom prst="rect">
            <a:avLst/>
          </a:prstGeom>
          <a:noFill/>
          <a:ln/>
        </p:spPr>
        <p:txBody>
          <a:bodyPr wrap="square" lIns="0" tIns="0" rIns="0" bIns="0" rtlCol="0" anchor="t"/>
          <a:lstStyle/>
          <a:p>
            <a:pPr indent="0" marL="0">
              <a:buNone/>
            </a:pPr>
            <a:r>
              <a:rPr lang="en-US" sz="2400" b="1" dirty="0">
                <a:solidFill>
                  <a:schemeClr val="tx1"/>
                </a:solidFill>
              </a:rPr>
              <a:t>Not by 2045</a:t>
            </a:r>
            <a:endParaRPr lang="en-US" sz="2400" dirty="0"/>
          </a:p>
        </p:txBody>
      </p:sp>
      <p:sp>
        <p:nvSpPr>
          <p:cNvPr id="16" name="Parity note 3"/>
          <p:cNvSpPr txBox="1"/>
          <p:nvPr/>
        </p:nvSpPr>
        <p:spPr>
          <a:xfrm>
            <a:off x="7909560" y="4562856"/>
            <a:ext cx="3657600" cy="228600"/>
          </a:xfrm>
          <a:prstGeom prst="rect">
            <a:avLst/>
          </a:prstGeom>
          <a:noFill/>
          <a:ln/>
        </p:spPr>
        <p:txBody>
          <a:bodyPr wrap="square" lIns="0" tIns="0" rIns="0" bIns="0" rtlCol="0" anchor="t"/>
          <a:lstStyle/>
          <a:p>
            <a:pPr indent="0" marL="0">
              <a:buNone/>
            </a:pPr>
            <a:r>
              <a:rPr lang="en-US" sz="1100" dirty="0">
                <a:solidFill>
                  <a:schemeClr val="accent4"/>
                </a:solidFill>
              </a:rPr>
              <a:t>Gap in 2040 $0.77, in 2045 $0.67</a:t>
            </a:r>
            <a:endParaRPr lang="en-US" sz="1100" dirty="0"/>
          </a:p>
        </p:txBody>
      </p:sp>
      <p:sp>
        <p:nvSpPr>
          <p:cNvPr id="17" name="Parity label 4"/>
          <p:cNvSpPr txBox="1"/>
          <p:nvPr/>
        </p:nvSpPr>
        <p:spPr>
          <a:xfrm>
            <a:off x="7909560" y="4946904"/>
            <a:ext cx="3657600" cy="228600"/>
          </a:xfrm>
          <a:prstGeom prst="rect">
            <a:avLst/>
          </a:prstGeom>
          <a:noFill/>
          <a:ln/>
        </p:spPr>
        <p:txBody>
          <a:bodyPr wrap="square" lIns="0" tIns="0" rIns="0" bIns="0" rtlCol="0" anchor="t"/>
          <a:lstStyle/>
          <a:p>
            <a:pPr indent="0" marL="0">
              <a:buNone/>
            </a:pPr>
            <a:r>
              <a:rPr lang="en-US" sz="1200" dirty="0">
                <a:solidFill>
                  <a:schemeClr val="accent4"/>
                </a:solidFill>
              </a:rPr>
              <a:t>Conservative vs NH₃ improving</a:t>
            </a:r>
            <a:endParaRPr lang="en-US" sz="1200" dirty="0"/>
          </a:p>
        </p:txBody>
      </p:sp>
      <p:sp>
        <p:nvSpPr>
          <p:cNvPr id="18" name="Parity value 4"/>
          <p:cNvSpPr txBox="1"/>
          <p:nvPr/>
        </p:nvSpPr>
        <p:spPr>
          <a:xfrm>
            <a:off x="7909560" y="5193792"/>
            <a:ext cx="3657600" cy="365760"/>
          </a:xfrm>
          <a:prstGeom prst="rect">
            <a:avLst/>
          </a:prstGeom>
          <a:noFill/>
          <a:ln/>
        </p:spPr>
        <p:txBody>
          <a:bodyPr wrap="square" lIns="0" tIns="0" rIns="0" bIns="0" rtlCol="0" anchor="t"/>
          <a:lstStyle/>
          <a:p>
            <a:pPr indent="0" marL="0">
              <a:buNone/>
            </a:pPr>
            <a:r>
              <a:rPr lang="en-US" sz="2400" b="1" dirty="0">
                <a:solidFill>
                  <a:schemeClr val="tx1"/>
                </a:solidFill>
              </a:rPr>
              <a:t>Not by 2045</a:t>
            </a:r>
            <a:endParaRPr lang="en-US" sz="2400" dirty="0"/>
          </a:p>
        </p:txBody>
      </p:sp>
      <p:sp>
        <p:nvSpPr>
          <p:cNvPr id="19" name="Parity note 4"/>
          <p:cNvSpPr txBox="1"/>
          <p:nvPr/>
        </p:nvSpPr>
        <p:spPr>
          <a:xfrm>
            <a:off x="7909560" y="5586984"/>
            <a:ext cx="3657600" cy="228600"/>
          </a:xfrm>
          <a:prstGeom prst="rect">
            <a:avLst/>
          </a:prstGeom>
          <a:noFill/>
          <a:ln/>
        </p:spPr>
        <p:txBody>
          <a:bodyPr wrap="square" lIns="0" tIns="0" rIns="0" bIns="0" rtlCol="0" anchor="t"/>
          <a:lstStyle/>
          <a:p>
            <a:pPr indent="0" marL="0">
              <a:buNone/>
            </a:pPr>
            <a:r>
              <a:rPr lang="en-US" sz="1100" dirty="0">
                <a:solidFill>
                  <a:schemeClr val="accent4"/>
                </a:solidFill>
              </a:rPr>
              <a:t>Gap in 2040 $1.05, in 2045 $0.99</a:t>
            </a:r>
            <a:endParaRPr lang="en-US" sz="1100" dirty="0"/>
          </a:p>
        </p:txBody>
      </p:sp>
      <p:sp>
        <p:nvSpPr>
          <p:cNvPr id="20" name="Source line"/>
          <p:cNvSpPr txBox="1"/>
          <p:nvPr/>
        </p:nvSpPr>
        <p:spPr>
          <a:xfrm>
            <a:off x="457200" y="6199632"/>
            <a:ext cx="11274552" cy="256032"/>
          </a:xfrm>
          <a:prstGeom prst="rect">
            <a:avLst/>
          </a:prstGeom>
          <a:noFill/>
          <a:ln/>
        </p:spPr>
        <p:txBody>
          <a:bodyPr wrap="square" lIns="0" tIns="0" rIns="0" bIns="0" rtlCol="0" anchor="ctr"/>
          <a:lstStyle/>
          <a:p>
            <a:pPr indent="0" marL="0">
              <a:buNone/>
            </a:pPr>
            <a:r>
              <a:rPr lang="en-US" sz="1000" dirty="0">
                <a:solidFill>
                  <a:schemeClr val="accent4"/>
                </a:solidFill>
              </a:rPr>
              <a:t>Paths after 2026 apply published developer targets on a stated schedule; they are scenarios, not forecasts. Independent studies (KBR/CATF, arXiv 2025) find no parity before 2040.</a:t>
            </a:r>
            <a:endParaRPr lang="en-US" sz="1000" dirty="0"/>
          </a:p>
        </p:txBody>
      </p:sp>
      <p:sp>
        <p:nvSpPr>
          <p:cNvPr id="25" name="Slide Number Placeholder 0"/>
          <p:cNvSpPr>
            <a:spLocks noGrp="1"/>
          </p:cNvSpPr>
          <p:nvPr>
            <p:ph type="sldNum" sz="quarter" idx="4294967295"/>
          </p:nvPr>
        </p:nvSpPr>
        <p:spPr>
          <a:xfrm>
            <a:off x="11183112"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74552" cy="914400"/>
          </a:xfrm>
          <a:prstGeom prst="rect">
            <a:avLst/>
          </a:prstGeom>
          <a:noFill/>
          <a:ln/>
        </p:spPr>
        <p:txBody>
          <a:bodyPr wrap="square" lIns="0" tIns="0" rIns="0" bIns="0" rtlCol="0" anchor="t"/>
          <a:lstStyle/>
          <a:p>
            <a:pPr algn="l" indent="0" marL="0">
              <a:buNone/>
            </a:pPr>
            <a:r>
              <a:rPr lang="en-US" sz="2800" b="1" dirty="0">
                <a:solidFill>
                  <a:schemeClr val="tx1"/>
                </a:solidFill>
              </a:rPr>
              <a:t>Every dollar of LH₂ improvement rests on a claim, a plan or an assumption, and none is yet operating evidence</a:t>
            </a:r>
            <a:endParaRPr lang="en-US" sz="2800" dirty="0"/>
          </a:p>
        </p:txBody>
      </p:sp>
      <p:sp>
        <p:nvSpPr>
          <p:cNvPr id="3" name="Lever card"/>
          <p:cNvSpPr/>
          <p:nvPr/>
        </p:nvSpPr>
        <p:spPr>
          <a:xfrm>
            <a:off x="457200" y="1325880"/>
            <a:ext cx="6400800" cy="4754880"/>
          </a:xfrm>
          <a:prstGeom prst="roundRect">
            <a:avLst>
              <a:gd name="adj" fmla="val 1538"/>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4" name="Chart title"/>
          <p:cNvSpPr txBox="1"/>
          <p:nvPr/>
        </p:nvSpPr>
        <p:spPr>
          <a:xfrm>
            <a:off x="640080" y="1435608"/>
            <a:ext cx="6035040" cy="274320"/>
          </a:xfrm>
          <a:prstGeom prst="rect">
            <a:avLst/>
          </a:prstGeom>
          <a:noFill/>
          <a:ln/>
        </p:spPr>
        <p:txBody>
          <a:bodyPr wrap="square" lIns="0" tIns="0" rIns="0" bIns="0" rtlCol="0" anchor="t"/>
          <a:lstStyle/>
          <a:p>
            <a:pPr indent="0" marL="0">
              <a:buNone/>
            </a:pPr>
            <a:r>
              <a:rPr lang="en-US" sz="1600" b="1" dirty="0">
                <a:solidFill>
                  <a:schemeClr val="tx1"/>
                </a:solidFill>
              </a:rPr>
              <a:t>Effect on the 2040 gap of each input, USD per kg</a:t>
            </a:r>
            <a:endParaRPr lang="en-US" sz="1600" dirty="0"/>
          </a:p>
        </p:txBody>
      </p:sp>
      <p:graphicFrame>
        <p:nvGraphicFramePr>
          <p:cNvPr id="5" name="Chart 0" descr=""/>
          <p:cNvGraphicFramePr/>
          <p:nvPr/>
        </p:nvGraphicFramePr>
        <p:xfrm>
          <a:off x="548640" y="173736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6" name="Lever note"/>
          <p:cNvSpPr txBox="1"/>
          <p:nvPr/>
        </p:nvSpPr>
        <p:spPr>
          <a:xfrm>
            <a:off x="640080" y="5742432"/>
            <a:ext cx="6035040" cy="274320"/>
          </a:xfrm>
          <a:prstGeom prst="rect">
            <a:avLst/>
          </a:prstGeom>
          <a:noFill/>
          <a:ln/>
        </p:spPr>
        <p:txBody>
          <a:bodyPr wrap="square" lIns="0" tIns="0" rIns="0" bIns="0" rtlCol="0" anchor="t"/>
          <a:lstStyle/>
          <a:p>
            <a:pPr indent="0" marL="0">
              <a:buNone/>
            </a:pPr>
            <a:r>
              <a:rPr lang="en-US" sz="1100" dirty="0">
                <a:solidFill>
                  <a:schemeClr val="accent4"/>
                </a:solidFill>
              </a:rPr>
              <a:t>Teal closes the gap (LH₂). Amber widens it (NH₃ improvements).</a:t>
            </a:r>
            <a:endParaRPr lang="en-US" sz="1100" dirty="0"/>
          </a:p>
        </p:txBody>
      </p:sp>
      <p:sp>
        <p:nvSpPr>
          <p:cNvPr id="7" name="Risk card 1"/>
          <p:cNvSpPr/>
          <p:nvPr/>
        </p:nvSpPr>
        <p:spPr>
          <a:xfrm>
            <a:off x="7086600" y="1325880"/>
            <a:ext cx="4645152" cy="1371600"/>
          </a:xfrm>
          <a:prstGeom prst="roundRect">
            <a:avLst>
              <a:gd name="adj" fmla="val 5333"/>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8" name="Risk value 1"/>
          <p:cNvSpPr txBox="1"/>
          <p:nvPr/>
        </p:nvSpPr>
        <p:spPr>
          <a:xfrm>
            <a:off x="7269480" y="1417320"/>
            <a:ext cx="4297680" cy="502920"/>
          </a:xfrm>
          <a:prstGeom prst="rect">
            <a:avLst/>
          </a:prstGeom>
          <a:noFill/>
          <a:ln/>
        </p:spPr>
        <p:txBody>
          <a:bodyPr wrap="square" lIns="0" tIns="0" rIns="0" bIns="0" rtlCol="0" anchor="ctr"/>
          <a:lstStyle/>
          <a:p>
            <a:pPr indent="0" marL="0">
              <a:buNone/>
            </a:pPr>
            <a:r>
              <a:rPr lang="en-US" sz="3000" b="1" dirty="0">
                <a:solidFill>
                  <a:schemeClr val="tx1"/>
                </a:solidFill>
              </a:rPr>
              <a:t>$2.08</a:t>
            </a:r>
            <a:endParaRPr lang="en-US" sz="3000" dirty="0"/>
          </a:p>
        </p:txBody>
      </p:sp>
      <p:sp>
        <p:nvSpPr>
          <p:cNvPr id="9" name="Risk text 1"/>
          <p:cNvSpPr txBox="1"/>
          <p:nvPr/>
        </p:nvSpPr>
        <p:spPr>
          <a:xfrm>
            <a:off x="7269480" y="1965960"/>
            <a:ext cx="4297680" cy="640080"/>
          </a:xfrm>
          <a:prstGeom prst="rect">
            <a:avLst/>
          </a:prstGeom>
          <a:noFill/>
          <a:ln/>
        </p:spPr>
        <p:txBody>
          <a:bodyPr wrap="square" lIns="0" tIns="0" rIns="0" bIns="0" rtlCol="0" anchor="t"/>
          <a:lstStyle/>
          <a:p>
            <a:pPr indent="0" marL="0">
              <a:buNone/>
            </a:pPr>
            <a:r>
              <a:rPr lang="en-US" sz="1200" dirty="0">
                <a:solidFill>
                  <a:schemeClr val="accent4"/>
                </a:solidFill>
              </a:rPr>
              <a:t>per kg that technology inputs take off the LH₂ cost, 2026 to 2040 (one lever at a time)</a:t>
            </a:r>
            <a:endParaRPr lang="en-US" sz="1200" dirty="0"/>
          </a:p>
        </p:txBody>
      </p:sp>
      <p:sp>
        <p:nvSpPr>
          <p:cNvPr id="10" name="Risk card 2"/>
          <p:cNvSpPr/>
          <p:nvPr/>
        </p:nvSpPr>
        <p:spPr>
          <a:xfrm>
            <a:off x="7086600" y="2834640"/>
            <a:ext cx="4645152" cy="1371600"/>
          </a:xfrm>
          <a:prstGeom prst="roundRect">
            <a:avLst>
              <a:gd name="adj" fmla="val 5333"/>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11" name="Risk value 2"/>
          <p:cNvSpPr txBox="1"/>
          <p:nvPr/>
        </p:nvSpPr>
        <p:spPr>
          <a:xfrm>
            <a:off x="7269480" y="2926080"/>
            <a:ext cx="4297680" cy="502920"/>
          </a:xfrm>
          <a:prstGeom prst="rect">
            <a:avLst/>
          </a:prstGeom>
          <a:noFill/>
          <a:ln/>
        </p:spPr>
        <p:txBody>
          <a:bodyPr wrap="square" lIns="0" tIns="0" rIns="0" bIns="0" rtlCol="0" anchor="ctr"/>
          <a:lstStyle/>
          <a:p>
            <a:pPr indent="0" marL="0">
              <a:buNone/>
            </a:pPr>
            <a:r>
              <a:rPr lang="en-US" sz="3000" b="1" dirty="0">
                <a:solidFill>
                  <a:schemeClr val="tx1"/>
                </a:solidFill>
              </a:rPr>
              <a:t>0%</a:t>
            </a:r>
            <a:endParaRPr lang="en-US" sz="3000" dirty="0"/>
          </a:p>
        </p:txBody>
      </p:sp>
      <p:sp>
        <p:nvSpPr>
          <p:cNvPr id="12" name="Risk text 2"/>
          <p:cNvSpPr txBox="1"/>
          <p:nvPr/>
        </p:nvSpPr>
        <p:spPr>
          <a:xfrm>
            <a:off x="7269480" y="3474720"/>
            <a:ext cx="4297680" cy="640080"/>
          </a:xfrm>
          <a:prstGeom prst="rect">
            <a:avLst/>
          </a:prstGeom>
          <a:noFill/>
          <a:ln/>
        </p:spPr>
        <p:txBody>
          <a:bodyPr wrap="square" lIns="0" tIns="0" rIns="0" bIns="0" rtlCol="0" anchor="t"/>
          <a:lstStyle/>
          <a:p>
            <a:pPr indent="0" marL="0">
              <a:buNone/>
            </a:pPr>
            <a:r>
              <a:rPr lang="en-US" sz="1200" dirty="0">
                <a:solidFill>
                  <a:schemeClr val="accent4"/>
                </a:solidFill>
              </a:rPr>
              <a:t>of it supported by operating evidence (grades A to C). The rest is grade D or E.</a:t>
            </a:r>
            <a:endParaRPr lang="en-US" sz="1200" dirty="0"/>
          </a:p>
        </p:txBody>
      </p:sp>
      <p:sp>
        <p:nvSpPr>
          <p:cNvPr id="13" name="Risk card 3"/>
          <p:cNvSpPr/>
          <p:nvPr/>
        </p:nvSpPr>
        <p:spPr>
          <a:xfrm>
            <a:off x="7086600" y="4343400"/>
            <a:ext cx="4645152" cy="1737360"/>
          </a:xfrm>
          <a:prstGeom prst="roundRect">
            <a:avLst>
              <a:gd name="adj" fmla="val 4211"/>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14" name="Verify title"/>
          <p:cNvSpPr txBox="1"/>
          <p:nvPr/>
        </p:nvSpPr>
        <p:spPr>
          <a:xfrm>
            <a:off x="7269480" y="4434840"/>
            <a:ext cx="4297680" cy="274320"/>
          </a:xfrm>
          <a:prstGeom prst="rect">
            <a:avLst/>
          </a:prstGeom>
          <a:noFill/>
          <a:ln/>
        </p:spPr>
        <p:txBody>
          <a:bodyPr wrap="square" lIns="0" tIns="0" rIns="0" bIns="0" rtlCol="0" anchor="t"/>
          <a:lstStyle/>
          <a:p>
            <a:pPr indent="0" marL="0">
              <a:buNone/>
            </a:pPr>
            <a:r>
              <a:rPr lang="en-US" sz="1400" b="1" dirty="0">
                <a:solidFill>
                  <a:schemeClr val="tx1"/>
                </a:solidFill>
              </a:rPr>
              <a:t>What would turn a claim into evidence</a:t>
            </a:r>
            <a:endParaRPr lang="en-US" sz="1400" dirty="0"/>
          </a:p>
        </p:txBody>
      </p:sp>
      <p:sp>
        <p:nvSpPr>
          <p:cNvPr id="15" name="Verify list"/>
          <p:cNvSpPr txBox="1"/>
          <p:nvPr/>
        </p:nvSpPr>
        <p:spPr>
          <a:xfrm>
            <a:off x="7269480" y="4754880"/>
            <a:ext cx="4297680" cy="12344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Measured energy of the KHI 50 t/d liquefier</a:t>
            </a:r>
            <a:endParaRPr lang="en-US" sz="1200" dirty="0"/>
          </a:p>
          <a:p>
            <a:pPr marL="342900" indent="-342900">
              <a:spcAft>
                <a:spcPts val="400"/>
              </a:spcAft>
              <a:buSzPct val="100000"/>
              <a:buChar char="•"/>
            </a:pPr>
            <a:r>
              <a:rPr lang="en-US" sz="1200" dirty="0">
                <a:solidFill>
                  <a:schemeClr val="tx1"/>
                </a:solidFill>
              </a:rPr>
              <a:t>KHI 50,000 m³ tank cost and boil-off</a:t>
            </a:r>
            <a:endParaRPr lang="en-US" sz="1200" dirty="0"/>
          </a:p>
          <a:p>
            <a:pPr marL="342900" indent="-342900">
              <a:spcAft>
                <a:spcPts val="400"/>
              </a:spcAft>
              <a:buSzPct val="100000"/>
              <a:buChar char="•"/>
            </a:pPr>
            <a:r>
              <a:rPr lang="en-US" sz="1200" dirty="0">
                <a:solidFill>
                  <a:schemeClr val="tx1"/>
                </a:solidFill>
              </a:rPr>
              <a:t>Published price and voyage data, 40,000 m³ carrier</a:t>
            </a:r>
            <a:endParaRPr lang="en-US" sz="1200" dirty="0"/>
          </a:p>
        </p:txBody>
      </p:sp>
      <p:sp>
        <p:nvSpPr>
          <p:cNvPr id="16" name="Source line"/>
          <p:cNvSpPr txBox="1"/>
          <p:nvPr/>
        </p:nvSpPr>
        <p:spPr>
          <a:xfrm>
            <a:off x="457200" y="6199632"/>
            <a:ext cx="11274552" cy="256032"/>
          </a:xfrm>
          <a:prstGeom prst="rect">
            <a:avLst/>
          </a:prstGeom>
          <a:noFill/>
          <a:ln/>
        </p:spPr>
        <p:txBody>
          <a:bodyPr wrap="square" lIns="0" tIns="0" rIns="0" bIns="0" rtlCol="0" anchor="ctr"/>
          <a:lstStyle/>
          <a:p>
            <a:pPr indent="0" marL="0">
              <a:buNone/>
            </a:pPr>
            <a:r>
              <a:rPr lang="en-US" sz="1000" dirty="0">
                <a:solidFill>
                  <a:schemeClr val="accent4"/>
                </a:solidFill>
              </a:rPr>
              <a:t>Effects are one input at a time and do not add exactly. Grades: D vendor claim or plan, E study or assumption. Sources: KHI/NEDO, DOE AMR 2024, HySTRA, Maritime Optima, IEA GHR 2026.</a:t>
            </a:r>
            <a:endParaRPr lang="en-US" sz="1000" dirty="0"/>
          </a:p>
        </p:txBody>
      </p:sp>
      <p:sp>
        <p:nvSpPr>
          <p:cNvPr id="25" name="Slide Number Placeholder 0"/>
          <p:cNvSpPr>
            <a:spLocks noGrp="1"/>
          </p:cNvSpPr>
          <p:nvPr>
            <p:ph type="sldNum" sz="quarter" idx="4294967295"/>
          </p:nvPr>
        </p:nvSpPr>
        <p:spPr>
          <a:xfrm>
            <a:off x="11183112"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74552" cy="914400"/>
          </a:xfrm>
          <a:prstGeom prst="rect">
            <a:avLst/>
          </a:prstGeom>
          <a:noFill/>
          <a:ln/>
        </p:spPr>
        <p:txBody>
          <a:bodyPr wrap="square" lIns="0" tIns="0" rIns="0" bIns="0" rtlCol="0" anchor="t"/>
          <a:lstStyle/>
          <a:p>
            <a:pPr algn="l" indent="0" marL="0">
              <a:buNone/>
            </a:pPr>
            <a:r>
              <a:rPr lang="en-US" sz="2800" b="1" dirty="0">
                <a:solidFill>
                  <a:schemeClr val="tx1"/>
                </a:solidFill>
              </a:rPr>
              <a:t>LH₂ tank cost alone moves the 2040 delivered cost by about $6 per kg, more than any other input</a:t>
            </a:r>
            <a:endParaRPr lang="en-US" sz="2800" dirty="0"/>
          </a:p>
        </p:txBody>
      </p:sp>
      <p:sp>
        <p:nvSpPr>
          <p:cNvPr id="3" name="Tank card"/>
          <p:cNvSpPr/>
          <p:nvPr/>
        </p:nvSpPr>
        <p:spPr>
          <a:xfrm>
            <a:off x="457200" y="1325880"/>
            <a:ext cx="5669280" cy="4754880"/>
          </a:xfrm>
          <a:prstGeom prst="roundRect">
            <a:avLst>
              <a:gd name="adj" fmla="val 1538"/>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4" name="Chart title"/>
          <p:cNvSpPr txBox="1"/>
          <p:nvPr/>
        </p:nvSpPr>
        <p:spPr>
          <a:xfrm>
            <a:off x="640080" y="1435608"/>
            <a:ext cx="5303520" cy="274320"/>
          </a:xfrm>
          <a:prstGeom prst="rect">
            <a:avLst/>
          </a:prstGeom>
          <a:noFill/>
          <a:ln/>
        </p:spPr>
        <p:txBody>
          <a:bodyPr wrap="square" lIns="0" tIns="0" rIns="0" bIns="0" rtlCol="0" anchor="t"/>
          <a:lstStyle/>
          <a:p>
            <a:pPr indent="0" marL="0">
              <a:buNone/>
            </a:pPr>
            <a:r>
              <a:rPr lang="en-US" sz="1600" b="1" dirty="0">
                <a:solidFill>
                  <a:schemeClr val="tx1"/>
                </a:solidFill>
              </a:rPr>
              <a:t>Delivered cost in 2040 by LH₂ tank cost, USD per kg</a:t>
            </a:r>
            <a:endParaRPr lang="en-US" sz="1600" dirty="0"/>
          </a:p>
        </p:txBody>
      </p:sp>
      <p:graphicFrame>
        <p:nvGraphicFramePr>
          <p:cNvPr id="5" name="Chart 0" descr=""/>
          <p:cNvGraphicFramePr/>
          <p:nvPr/>
        </p:nvGraphicFramePr>
        <p:xfrm>
          <a:off x="548640" y="1737360"/>
          <a:ext cx="5486400" cy="3840480"/>
        </p:xfrm>
        <a:graphic xmlns:a="http://schemas.openxmlformats.org/drawingml/2006/main">
          <a:graphicData uri="http://schemas.openxmlformats.org/drawingml/2006/chart">
            <c:chart xmlns:c="http://schemas.openxmlformats.org/drawingml/2006/chart" r:id="rId1"/>
          </a:graphicData>
        </a:graphic>
      </p:graphicFrame>
      <p:sp>
        <p:nvSpPr>
          <p:cNvPr id="6" name="Tank note"/>
          <p:cNvSpPr txBox="1"/>
          <p:nvPr/>
        </p:nvSpPr>
        <p:spPr>
          <a:xfrm>
            <a:off x="640080" y="5623560"/>
            <a:ext cx="5303520" cy="411480"/>
          </a:xfrm>
          <a:prstGeom prst="rect">
            <a:avLst/>
          </a:prstGeom>
          <a:noFill/>
          <a:ln/>
        </p:spPr>
        <p:txBody>
          <a:bodyPr wrap="square" lIns="0" tIns="0" rIns="0" bIns="0" rtlCol="0" anchor="t"/>
          <a:lstStyle/>
          <a:p>
            <a:pPr indent="0" marL="0">
              <a:buNone/>
            </a:pPr>
            <a:r>
              <a:rPr lang="en-US" sz="1100" dirty="0">
                <a:solidFill>
                  <a:schemeClr val="accent4"/>
                </a:solidFill>
              </a:rPr>
              <a:t>KHI's 50,000 m³ Ogishima tank is the data point that would settle this. Its cost is unpublished.</a:t>
            </a:r>
            <a:endParaRPr lang="en-US" sz="1100" dirty="0"/>
          </a:p>
        </p:txBody>
      </p:sp>
      <p:sp>
        <p:nvSpPr>
          <p:cNvPr id="7" name="Sens card"/>
          <p:cNvSpPr/>
          <p:nvPr/>
        </p:nvSpPr>
        <p:spPr>
          <a:xfrm>
            <a:off x="6355080" y="1325880"/>
            <a:ext cx="5376672" cy="4754880"/>
          </a:xfrm>
          <a:prstGeom prst="roundRect">
            <a:avLst>
              <a:gd name="adj" fmla="val 1538"/>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graphicFrame>
        <p:nvGraphicFramePr>
          <p:cNvPr id="6" name="Sensitivity table"/>
          <p:cNvGraphicFramePr>
            <a:graphicFrameLocks noGrp="1"/>
          </p:cNvGraphicFramePr>
          <p:nvPr>
            <p:extLst>
              <p:ext uri="{D42A27DB-BD31-4B8C-83A1-F6EECF244321}">
                <p14:modId xmlns:p14="http://schemas.microsoft.com/office/powerpoint/2010/main" val="1579011935"/>
              </p:ext>
            </p:extLst>
          </p:nvPr>
        </p:nvGraphicFramePr>
        <p:xfrm>
          <a:off x="6492240" y="1463040"/>
          <a:ext cx="5102352" cy="914400"/>
        </p:xfrm>
        <a:graphic>
          <a:graphicData uri="http://schemas.openxmlformats.org/drawingml/2006/table">
            <a:tbl>
              <a:tblPr/>
              <a:tblGrid>
                <a:gridCol w="2743200"/>
                <a:gridCol w="786384"/>
                <a:gridCol w="786384"/>
                <a:gridCol w="786384"/>
              </a:tblGrid>
              <a:tr h="310896">
                <a:tc>
                  <a:txBody>
                    <a:bodyPr/>
                    <a:lstStyle/>
                    <a:p>
                      <a:pPr algn="l" indent="0" marL="0">
                        <a:buNone/>
                      </a:pPr>
                      <a:r>
                        <a:rPr lang="en-US" sz="1200" b="1" dirty="0">
                          <a:solidFill>
                            <a:schemeClr val="bg1"/>
                          </a:solidFill>
                        </a:rPr>
                        <a:t>One input changed, 2040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B5563"/>
                    </a:solidFill>
                  </a:tcPr>
                </a:tc>
                <a:tc>
                  <a:txBody>
                    <a:bodyPr/>
                    <a:lstStyle/>
                    <a:p>
                      <a:pPr algn="r" indent="0" marL="0">
                        <a:buNone/>
                      </a:pPr>
                      <a:r>
                        <a:rPr lang="en-US" sz="1200" b="1" dirty="0">
                          <a:solidFill>
                            <a:schemeClr val="bg1"/>
                          </a:solidFill>
                        </a:rPr>
                        <a:t>LH₂</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B5563"/>
                    </a:solidFill>
                  </a:tcPr>
                </a:tc>
                <a:tc>
                  <a:txBody>
                    <a:bodyPr/>
                    <a:lstStyle/>
                    <a:p>
                      <a:pPr algn="r" indent="0" marL="0">
                        <a:buNone/>
                      </a:pPr>
                      <a:r>
                        <a:rPr lang="en-US" sz="1200" b="1" dirty="0">
                          <a:solidFill>
                            <a:schemeClr val="bg1"/>
                          </a:solidFill>
                        </a:rPr>
                        <a:t>NH₃</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B5563"/>
                    </a:solidFill>
                  </a:tcPr>
                </a:tc>
                <a:tc>
                  <a:txBody>
                    <a:bodyPr/>
                    <a:lstStyle/>
                    <a:p>
                      <a:pPr algn="r" indent="0" marL="0">
                        <a:buNone/>
                      </a:pPr>
                      <a:r>
                        <a:rPr lang="en-US" sz="1200" b="1" dirty="0">
                          <a:solidFill>
                            <a:schemeClr val="bg1"/>
                          </a:solidFill>
                        </a:rPr>
                        <a:t>Gap</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B5563"/>
                    </a:solidFill>
                  </a:tcPr>
                </a:tc>
              </a:tr>
              <a:tr h="365760">
                <a:tc>
                  <a:txBody>
                    <a:bodyPr/>
                    <a:lstStyle/>
                    <a:p>
                      <a:pPr algn="l" indent="0" marL="0">
                        <a:buNone/>
                      </a:pPr>
                      <a:r>
                        <a:rPr lang="en-US" sz="1200" b="1" dirty="0">
                          <a:solidFill>
                            <a:schemeClr val="tx1"/>
                          </a:solidFill>
                        </a:rPr>
                        <a:t>Base case</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b="1" dirty="0">
                          <a:solidFill>
                            <a:schemeClr val="tx1"/>
                          </a:solidFill>
                        </a:rPr>
                        <a:t>$4.91</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b="1" dirty="0">
                          <a:solidFill>
                            <a:schemeClr val="tx1"/>
                          </a:solidFill>
                        </a:rPr>
                        <a:t>$4.80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b="1" dirty="0">
                          <a:solidFill>
                            <a:schemeClr val="tx1"/>
                          </a:solidFill>
                        </a:rPr>
                        <a:t>$0.11</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chemeClr val="tx1"/>
                          </a:solidFill>
                        </a:rPr>
                        <a:t>Liquefaction energy stays at the 2026 value</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$5.08</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$4.80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$0.27</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chemeClr val="tx1"/>
                          </a:solidFill>
                        </a:rPr>
                        <a:t>Liquefaction energy 6 kWh/kg</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$4.91</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$4.80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$0.11</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chemeClr val="tx1"/>
                          </a:solidFill>
                        </a:rPr>
                        <a:t>Liquefier CAPEX −25%</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$4.65</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$4.80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−$0.15</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chemeClr val="tx1"/>
                          </a:solidFill>
                        </a:rPr>
                        <a:t>Liquefier CAPEX +50%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$5.43</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$4.80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$0.63</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chemeClr val="tx1"/>
                          </a:solidFill>
                        </a:rPr>
                        <a:t>LH₂ carrier CAPEX −30%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$4.82</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$4.80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$0.02</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chemeClr val="tx1"/>
                          </a:solidFill>
                        </a:rPr>
                        <a:t>Cracker CAPEX $1,900/t H₂/yr (study)</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$4.91</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$4.82</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$0.09</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chemeClr val="tx1"/>
                          </a:solidFill>
                        </a:rPr>
                        <a:t>Cracker heat 6.4 kWh/kg (KBR/CATF)</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$4.91</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$4.75</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$0.16</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chemeClr val="tx1"/>
                          </a:solidFill>
                        </a:rPr>
                        <a:t>Power price 60 USD/MWh</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$5.04</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$4.91</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$0.14</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chemeClr val="tx1"/>
                          </a:solidFill>
                        </a:rPr>
                        <a:t>Discount rate 10%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$5.15</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$5.00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$0.15</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chemeClr val="tx1"/>
                          </a:solidFill>
                        </a:rPr>
                        <a:t>Distance 12,000 km</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$5.07</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$4.86</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$0.20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bl>
          </a:graphicData>
        </a:graphic>
      </p:graphicFrame>
      <p:sp>
        <p:nvSpPr>
          <p:cNvPr id="9" name="Source line"/>
          <p:cNvSpPr txBox="1"/>
          <p:nvPr/>
        </p:nvSpPr>
        <p:spPr>
          <a:xfrm>
            <a:off x="457200" y="6199632"/>
            <a:ext cx="11274552" cy="256032"/>
          </a:xfrm>
          <a:prstGeom prst="rect">
            <a:avLst/>
          </a:prstGeom>
          <a:noFill/>
          <a:ln/>
        </p:spPr>
        <p:txBody>
          <a:bodyPr wrap="square" lIns="0" tIns="0" rIns="0" bIns="0" rtlCol="0" anchor="ctr"/>
          <a:lstStyle/>
          <a:p>
            <a:pPr indent="0" marL="0">
              <a:buNone/>
            </a:pPr>
            <a:r>
              <a:rPr lang="en-US" sz="1000" dirty="0">
                <a:solidFill>
                  <a:schemeClr val="accent4"/>
                </a:solidFill>
              </a:rPr>
              <a:t>LH₂ targets met vs NH₃ improving. Tank anchors: IEA GHR 2026 annex, DOE/Shell/CB&amp;I concept (DOE AMR 2024), KBR/CATF 2022. Cracker heat: IEA base 10.2 kWh/kg, KBR 6.4.</a:t>
            </a:r>
            <a:endParaRPr lang="en-US" sz="1000" dirty="0"/>
          </a:p>
        </p:txBody>
      </p:sp>
      <p:sp>
        <p:nvSpPr>
          <p:cNvPr id="25" name="Slide Number Placeholder 0"/>
          <p:cNvSpPr>
            <a:spLocks noGrp="1"/>
          </p:cNvSpPr>
          <p:nvPr>
            <p:ph type="sldNum" sz="quarter" idx="4294967295"/>
          </p:nvPr>
        </p:nvSpPr>
        <p:spPr>
          <a:xfrm>
            <a:off x="11183112"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74552" cy="914400"/>
          </a:xfrm>
          <a:prstGeom prst="rect">
            <a:avLst/>
          </a:prstGeom>
          <a:noFill/>
          <a:ln/>
        </p:spPr>
        <p:txBody>
          <a:bodyPr wrap="square" lIns="0" tIns="0" rIns="0" bIns="0" rtlCol="0" anchor="t"/>
          <a:lstStyle/>
          <a:p>
            <a:pPr algn="l" indent="0" marL="0">
              <a:buNone/>
            </a:pPr>
            <a:r>
              <a:rPr lang="en-US" sz="2800" b="1" dirty="0">
                <a:solidFill>
                  <a:schemeClr val="tx1"/>
                </a:solidFill>
              </a:rPr>
              <a:t>The evidence that would change the picture arrives between late 2026 and about 2038, and we can ask for it now</a:t>
            </a:r>
            <a:endParaRPr lang="en-US" sz="2800" dirty="0"/>
          </a:p>
        </p:txBody>
      </p:sp>
      <p:sp>
        <p:nvSpPr>
          <p:cNvPr id="3" name="Due card"/>
          <p:cNvSpPr/>
          <p:nvPr/>
        </p:nvSpPr>
        <p:spPr>
          <a:xfrm>
            <a:off x="457200" y="1325880"/>
            <a:ext cx="7498080" cy="4754880"/>
          </a:xfrm>
          <a:prstGeom prst="roundRect">
            <a:avLst>
              <a:gd name="adj" fmla="val 1538"/>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graphicFrame>
        <p:nvGraphicFramePr>
          <p:cNvPr id="7" name="Milestone table"/>
          <p:cNvGraphicFramePr>
            <a:graphicFrameLocks noGrp="1"/>
          </p:cNvGraphicFramePr>
          <p:nvPr>
            <p:extLst>
              <p:ext uri="{D42A27DB-BD31-4B8C-83A1-F6EECF244321}">
                <p14:modId xmlns:p14="http://schemas.microsoft.com/office/powerpoint/2010/main" val="1579011935"/>
              </p:ext>
            </p:extLst>
          </p:nvPr>
        </p:nvGraphicFramePr>
        <p:xfrm>
          <a:off x="594360" y="1463040"/>
          <a:ext cx="7223760" cy="914400"/>
        </p:xfrm>
        <a:graphic>
          <a:graphicData uri="http://schemas.openxmlformats.org/drawingml/2006/table">
            <a:tbl>
              <a:tblPr/>
              <a:tblGrid>
                <a:gridCol w="640080"/>
                <a:gridCol w="3200400"/>
                <a:gridCol w="1188720"/>
                <a:gridCol w="2194560"/>
              </a:tblGrid>
              <a:tr h="310896">
                <a:tc>
                  <a:txBody>
                    <a:bodyPr/>
                    <a:lstStyle/>
                    <a:p>
                      <a:pPr algn="l" indent="0" marL="0">
                        <a:buNone/>
                      </a:pPr>
                      <a:r>
                        <a:rPr lang="en-US" sz="1200" b="1" dirty="0">
                          <a:solidFill>
                            <a:schemeClr val="bg1"/>
                          </a:solidFill>
                        </a:rPr>
                        <a:t>Route</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B5563"/>
                    </a:solidFill>
                  </a:tcPr>
                </a:tc>
                <a:tc>
                  <a:txBody>
                    <a:bodyPr/>
                    <a:lstStyle/>
                    <a:p>
                      <a:pPr algn="l" indent="0" marL="0">
                        <a:buNone/>
                      </a:pPr>
                      <a:r>
                        <a:rPr lang="en-US" sz="1200" b="1" dirty="0">
                          <a:solidFill>
                            <a:schemeClr val="bg1"/>
                          </a:solidFill>
                        </a:rPr>
                        <a:t>Milestone</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B5563"/>
                    </a:solidFill>
                  </a:tcPr>
                </a:tc>
                <a:tc>
                  <a:txBody>
                    <a:bodyPr/>
                    <a:lstStyle/>
                    <a:p>
                      <a:pPr algn="l" indent="0" marL="0">
                        <a:buNone/>
                      </a:pPr>
                      <a:r>
                        <a:rPr lang="en-US" sz="1200" b="1" dirty="0">
                          <a:solidFill>
                            <a:schemeClr val="bg1"/>
                          </a:solidFill>
                        </a:rPr>
                        <a:t>Date or target</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B5563"/>
                    </a:solidFill>
                  </a:tcPr>
                </a:tc>
                <a:tc>
                  <a:txBody>
                    <a:bodyPr/>
                    <a:lstStyle/>
                    <a:p>
                      <a:pPr algn="l" indent="0" marL="0">
                        <a:buNone/>
                      </a:pPr>
                      <a:r>
                        <a:rPr lang="en-US" sz="1200" b="1" dirty="0">
                          <a:solidFill>
                            <a:schemeClr val="bg1"/>
                          </a:solidFill>
                        </a:rPr>
                        <a:t>Evidence to ask for</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B5563"/>
                    </a:solidFill>
                  </a:tcPr>
                </a:tc>
              </a:tr>
              <a:tr h="457200">
                <a:tc>
                  <a:txBody>
                    <a:bodyPr/>
                    <a:lstStyle/>
                    <a:p>
                      <a:pPr algn="l" indent="0" marL="0">
                        <a:buNone/>
                      </a:pPr>
                      <a:r>
                        <a:rPr lang="en-US" sz="1200" b="1" dirty="0">
                          <a:solidFill>
                            <a:schemeClr val="tx1"/>
                          </a:solidFill>
                        </a:rPr>
                        <a:t>NH₃</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Uniper/Uhde 28 t NH₃/d cracker commissioning</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End 2026</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Confirmed start-up and test results</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chemeClr val="tx1"/>
                          </a:solidFill>
                        </a:rPr>
                        <a:t>LH₂</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KHI 50 t/d liquefier completes</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End 2028</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Measured specific energy at 50 t/d</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chemeClr val="tx1"/>
                          </a:solidFill>
                        </a:rPr>
                        <a:t>LH₂</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Ship-to-base transfer and ocean trials</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FY2030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Boil-off, transfer losses, reliability</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chemeClr val="tx1"/>
                          </a:solidFill>
                        </a:rPr>
                        <a:t>LH₂</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KHI large compressor commercial launch (roadmap)</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About 2031</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Operating compressor in a liquefier</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chemeClr val="tx1"/>
                          </a:solidFill>
                        </a:rPr>
                        <a:t>LH₂</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KHI power-recovery and wet turbines (roadmap)</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About 2035</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Demonstration units operating</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chemeClr val="tx1"/>
                          </a:solidFill>
                        </a:rPr>
                        <a:t>LH₂</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KHI magnetic refrigeration commercial (roadmap)</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About 2038</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Large-scale test</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chemeClr val="tx1"/>
                          </a:solidFill>
                        </a:rPr>
                        <a:t>LH₂</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Korean consortium LH₂ carriers (40,000 and 160,000 m³)</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2032 to 2040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Contract and price</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chemeClr val="tx1"/>
                          </a:solidFill>
                        </a:rPr>
                        <a:t>NH₃</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First 175,000 m³ ammonia carriers (ADNOC L&amp;S)</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2029</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Delivery</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57200">
                <a:tc>
                  <a:txBody>
                    <a:bodyPr/>
                    <a:lstStyle/>
                    <a:p>
                      <a:pPr algn="l" indent="0" marL="0">
                        <a:buNone/>
                      </a:pPr>
                      <a:r>
                        <a:rPr lang="en-US" sz="1200" b="1" dirty="0">
                          <a:solidFill>
                            <a:schemeClr val="tx1"/>
                          </a:solidFill>
                        </a:rPr>
                        <a:t>NH₃</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First cracker above 300 t NH₃/d in operation</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No verified date</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Operating plant with published data</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bl>
          </a:graphicData>
        </a:graphic>
      </p:graphicFrame>
      <p:sp>
        <p:nvSpPr>
          <p:cNvPr id="5" name="Ask KHI"/>
          <p:cNvSpPr/>
          <p:nvPr/>
        </p:nvSpPr>
        <p:spPr>
          <a:xfrm>
            <a:off x="8183880" y="1325880"/>
            <a:ext cx="3547872" cy="2286000"/>
          </a:xfrm>
          <a:prstGeom prst="roundRect">
            <a:avLst>
              <a:gd name="adj" fmla="val 3200"/>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6" name="KHI title"/>
          <p:cNvSpPr txBox="1"/>
          <p:nvPr/>
        </p:nvSpPr>
        <p:spPr>
          <a:xfrm>
            <a:off x="8366760" y="1417320"/>
            <a:ext cx="3200400" cy="274320"/>
          </a:xfrm>
          <a:prstGeom prst="rect">
            <a:avLst/>
          </a:prstGeom>
          <a:noFill/>
          <a:ln/>
        </p:spPr>
        <p:txBody>
          <a:bodyPr wrap="square" lIns="0" tIns="0" rIns="0" bIns="0" rtlCol="0" anchor="t"/>
          <a:lstStyle/>
          <a:p>
            <a:pPr indent="0" marL="0">
              <a:buNone/>
            </a:pPr>
            <a:r>
              <a:rPr lang="en-US" sz="1600" b="1" dirty="0">
                <a:solidFill>
                  <a:schemeClr val="tx1"/>
                </a:solidFill>
              </a:rPr>
              <a:t>Ask KHI</a:t>
            </a:r>
            <a:endParaRPr lang="en-US" sz="1600" dirty="0"/>
          </a:p>
        </p:txBody>
      </p:sp>
      <p:sp>
        <p:nvSpPr>
          <p:cNvPr id="7" name="KHI list"/>
          <p:cNvSpPr txBox="1"/>
          <p:nvPr/>
        </p:nvSpPr>
        <p:spPr>
          <a:xfrm>
            <a:off x="8366760" y="1783080"/>
            <a:ext cx="3200400" cy="17373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Cost and boil-off of the 50,000 m³ tank</a:t>
            </a:r>
            <a:endParaRPr lang="en-US" sz="1300" dirty="0"/>
          </a:p>
          <a:p>
            <a:pPr marL="342900" indent="-342900">
              <a:spcAft>
                <a:spcPts val="500"/>
              </a:spcAft>
              <a:buSzPct val="100000"/>
              <a:buChar char="•"/>
            </a:pPr>
            <a:r>
              <a:rPr lang="en-US" sz="1300" dirty="0">
                <a:solidFill>
                  <a:schemeClr val="tx1"/>
                </a:solidFill>
              </a:rPr>
              <a:t>Price and delivery of the 40,000 m³ carrier</a:t>
            </a:r>
            <a:endParaRPr lang="en-US" sz="1300" dirty="0"/>
          </a:p>
          <a:p>
            <a:pPr marL="342900" indent="-342900">
              <a:spcAft>
                <a:spcPts val="500"/>
              </a:spcAft>
              <a:buSzPct val="100000"/>
              <a:buChar char="•"/>
            </a:pPr>
            <a:r>
              <a:rPr lang="en-US" sz="1300" dirty="0">
                <a:solidFill>
                  <a:schemeClr val="tx1"/>
                </a:solidFill>
              </a:rPr>
              <a:t>Guaranteed energy of the 50 t/d liquefier</a:t>
            </a:r>
            <a:endParaRPr lang="en-US" sz="1300" dirty="0"/>
          </a:p>
        </p:txBody>
      </p:sp>
      <p:sp>
        <p:nvSpPr>
          <p:cNvPr id="8" name="Ask Air Liquide"/>
          <p:cNvSpPr/>
          <p:nvPr/>
        </p:nvSpPr>
        <p:spPr>
          <a:xfrm>
            <a:off x="8183880" y="3749040"/>
            <a:ext cx="3547872" cy="2331720"/>
          </a:xfrm>
          <a:prstGeom prst="roundRect">
            <a:avLst>
              <a:gd name="adj" fmla="val 3137"/>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9" name="AL title"/>
          <p:cNvSpPr txBox="1"/>
          <p:nvPr/>
        </p:nvSpPr>
        <p:spPr>
          <a:xfrm>
            <a:off x="8366760" y="3840480"/>
            <a:ext cx="3200400" cy="274320"/>
          </a:xfrm>
          <a:prstGeom prst="rect">
            <a:avLst/>
          </a:prstGeom>
          <a:noFill/>
          <a:ln/>
        </p:spPr>
        <p:txBody>
          <a:bodyPr wrap="square" lIns="0" tIns="0" rIns="0" bIns="0" rtlCol="0" anchor="t"/>
          <a:lstStyle/>
          <a:p>
            <a:pPr indent="0" marL="0">
              <a:buNone/>
            </a:pPr>
            <a:r>
              <a:rPr lang="en-US" sz="1600" b="1" dirty="0">
                <a:solidFill>
                  <a:schemeClr val="tx1"/>
                </a:solidFill>
              </a:rPr>
              <a:t>Ask Air Liquide</a:t>
            </a:r>
            <a:endParaRPr lang="en-US" sz="1600" dirty="0"/>
          </a:p>
        </p:txBody>
      </p:sp>
      <p:sp>
        <p:nvSpPr>
          <p:cNvPr id="10" name="AL list"/>
          <p:cNvSpPr txBox="1"/>
          <p:nvPr/>
        </p:nvSpPr>
        <p:spPr>
          <a:xfrm>
            <a:off x="8366760" y="4206240"/>
            <a:ext cx="3200400" cy="178308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Guaranteed energy and CAPEX for a 60 to 150 t/d train</a:t>
            </a:r>
            <a:endParaRPr lang="en-US" sz="1300" dirty="0"/>
          </a:p>
          <a:p>
            <a:pPr marL="342900" indent="-342900">
              <a:spcAft>
                <a:spcPts val="500"/>
              </a:spcAft>
              <a:buSzPct val="100000"/>
              <a:buChar char="•"/>
            </a:pPr>
            <a:r>
              <a:rPr lang="en-US" sz="1300" dirty="0">
                <a:solidFill>
                  <a:schemeClr val="tx1"/>
                </a:solidFill>
              </a:rPr>
              <a:t>Performance data from the 30 t NH₃/d cracker pilot</a:t>
            </a:r>
            <a:endParaRPr lang="en-US" sz="1300" dirty="0"/>
          </a:p>
          <a:p>
            <a:pPr marL="342900" indent="-342900">
              <a:spcAft>
                <a:spcPts val="500"/>
              </a:spcAft>
              <a:buSzPct val="100000"/>
              <a:buChar char="•"/>
            </a:pPr>
            <a:r>
              <a:rPr lang="en-US" sz="1300" dirty="0">
                <a:solidFill>
                  <a:schemeClr val="tx1"/>
                </a:solidFill>
              </a:rPr>
              <a:t>Reference plants above 30 t/d single train</a:t>
            </a:r>
            <a:endParaRPr lang="en-US" sz="1300" dirty="0"/>
          </a:p>
        </p:txBody>
      </p:sp>
      <p:sp>
        <p:nvSpPr>
          <p:cNvPr id="11" name="Source line"/>
          <p:cNvSpPr txBox="1"/>
          <p:nvPr/>
        </p:nvSpPr>
        <p:spPr>
          <a:xfrm>
            <a:off x="457200" y="6199632"/>
            <a:ext cx="11274552" cy="256032"/>
          </a:xfrm>
          <a:prstGeom prst="rect">
            <a:avLst/>
          </a:prstGeom>
          <a:noFill/>
          <a:ln/>
        </p:spPr>
        <p:txBody>
          <a:bodyPr wrap="square" lIns="0" tIns="0" rIns="0" bIns="0" rtlCol="0" anchor="ctr"/>
          <a:lstStyle/>
          <a:p>
            <a:pPr indent="0" marL="0">
              <a:buNone/>
            </a:pPr>
            <a:r>
              <a:rPr lang="en-US" sz="1000" dirty="0">
                <a:solidFill>
                  <a:schemeClr val="accent4"/>
                </a:solidFill>
              </a:rPr>
              <a:t>Developer targets, not commitments; several have slipped before. Sources: KHI (19 Oct 2026), KHI/NEDO roadmap, Kawasaki/JSE, Uniper/thyssenkrupp Uhde, ADNOC L&amp;S, Baird Maritime.</a:t>
            </a:r>
            <a:endParaRPr lang="en-US" sz="1000" dirty="0"/>
          </a:p>
        </p:txBody>
      </p:sp>
      <p:sp>
        <p:nvSpPr>
          <p:cNvPr id="25" name="Slide Number Placeholder 0"/>
          <p:cNvSpPr>
            <a:spLocks noGrp="1"/>
          </p:cNvSpPr>
          <p:nvPr>
            <p:ph type="sldNum" sz="quarter" idx="4294967295"/>
          </p:nvPr>
        </p:nvSpPr>
        <p:spPr>
          <a:xfrm>
            <a:off x="11183112"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11274552" cy="914400"/>
          </a:xfrm>
          <a:prstGeom prst="rect">
            <a:avLst/>
          </a:prstGeom>
          <a:noFill/>
          <a:ln/>
        </p:spPr>
        <p:txBody>
          <a:bodyPr wrap="square" lIns="0" tIns="0" rIns="0" bIns="0" rtlCol="0" anchor="t"/>
          <a:lstStyle/>
          <a:p>
            <a:pPr algn="l" indent="0" marL="0">
              <a:buNone/>
            </a:pPr>
            <a:r>
              <a:rPr lang="en-US" sz="2800" b="1" dirty="0">
                <a:solidFill>
                  <a:schemeClr val="tx1"/>
                </a:solidFill>
              </a:rPr>
              <a:t>Independent studies agree LH₂ costs more, and the evidence base is mostly plans and assumptions</a:t>
            </a:r>
            <a:endParaRPr lang="en-US" sz="2800" dirty="0"/>
          </a:p>
        </p:txBody>
      </p:sp>
      <p:sp>
        <p:nvSpPr>
          <p:cNvPr id="3" name="Grade card"/>
          <p:cNvSpPr/>
          <p:nvPr/>
        </p:nvSpPr>
        <p:spPr>
          <a:xfrm>
            <a:off x="457200" y="1325880"/>
            <a:ext cx="4480560" cy="4754880"/>
          </a:xfrm>
          <a:prstGeom prst="roundRect">
            <a:avLst>
              <a:gd name="adj" fmla="val 1633"/>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4" name="Grade title"/>
          <p:cNvSpPr txBox="1"/>
          <p:nvPr/>
        </p:nvSpPr>
        <p:spPr>
          <a:xfrm>
            <a:off x="640080" y="1435608"/>
            <a:ext cx="4114800" cy="274320"/>
          </a:xfrm>
          <a:prstGeom prst="rect">
            <a:avLst/>
          </a:prstGeom>
          <a:noFill/>
          <a:ln/>
        </p:spPr>
        <p:txBody>
          <a:bodyPr wrap="square" lIns="0" tIns="0" rIns="0" bIns="0" rtlCol="0" anchor="t"/>
          <a:lstStyle/>
          <a:p>
            <a:pPr indent="0" marL="0">
              <a:buNone/>
            </a:pPr>
            <a:r>
              <a:rPr lang="en-US" sz="1600" b="1" dirty="0">
                <a:solidFill>
                  <a:schemeClr val="tx1"/>
                </a:solidFill>
              </a:rPr>
              <a:t>Register entries by grade</a:t>
            </a:r>
            <a:endParaRPr lang="en-US" sz="1600" dirty="0"/>
          </a:p>
        </p:txBody>
      </p:sp>
      <p:graphicFrame>
        <p:nvGraphicFramePr>
          <p:cNvPr id="5" name="Chart 0" descr=""/>
          <p:cNvGraphicFramePr/>
          <p:nvPr/>
        </p:nvGraphicFramePr>
        <p:xfrm>
          <a:off x="594360" y="1783080"/>
          <a:ext cx="2377440" cy="2377440"/>
        </p:xfrm>
        <a:graphic xmlns:a="http://schemas.openxmlformats.org/drawingml/2006/main">
          <a:graphicData uri="http://schemas.openxmlformats.org/drawingml/2006/chart">
            <c:chart xmlns:c="http://schemas.openxmlformats.org/drawingml/2006/chart" r:id="rId1"/>
          </a:graphicData>
        </a:graphic>
      </p:graphicFrame>
      <p:sp>
        <p:nvSpPr>
          <p:cNvPr id="6" name="Donut centre"/>
          <p:cNvSpPr txBox="1"/>
          <p:nvPr/>
        </p:nvSpPr>
        <p:spPr>
          <a:xfrm>
            <a:off x="1261872" y="2606040"/>
            <a:ext cx="1097280" cy="731520"/>
          </a:xfrm>
          <a:prstGeom prst="rect">
            <a:avLst/>
          </a:prstGeom>
          <a:noFill/>
          <a:ln/>
        </p:spPr>
        <p:txBody>
          <a:bodyPr wrap="square" lIns="0" tIns="0" rIns="0" bIns="0" rtlCol="0" anchor="ctr"/>
          <a:lstStyle/>
          <a:p>
            <a:pPr algn="ctr" indent="0" marL="0">
              <a:buNone/>
            </a:pPr>
            <a:r>
              <a:rPr lang="en-US" sz="2800" b="1" dirty="0">
                <a:solidFill>
                  <a:schemeClr val="tx1"/>
                </a:solidFill>
              </a:rPr>
              <a:t>32</a:t>
            </a:r>
            <a:endParaRPr lang="en-US" sz="2800" dirty="0"/>
          </a:p>
          <a:p>
            <a:pPr algn="ctr" indent="0" marL="0">
              <a:buNone/>
            </a:pPr>
            <a:r>
              <a:rPr lang="en-US" sz="1200" dirty="0">
                <a:solidFill>
                  <a:schemeClr val="accent4"/>
                </a:solidFill>
              </a:rPr>
              <a:t>entries</a:t>
            </a:r>
            <a:endParaRPr lang="en-US" sz="2800" dirty="0"/>
          </a:p>
        </p:txBody>
      </p:sp>
      <p:sp>
        <p:nvSpPr>
          <p:cNvPr id="7" name="Grade swatch A"/>
          <p:cNvSpPr/>
          <p:nvPr/>
        </p:nvSpPr>
        <p:spPr>
          <a:xfrm>
            <a:off x="3108960" y="1929384"/>
            <a:ext cx="146304" cy="146304"/>
          </a:xfrm>
          <a:prstGeom prst="ellipse">
            <a:avLst/>
          </a:prstGeom>
          <a:solidFill>
            <a:srgbClr val="2F8F5B"/>
          </a:solidFill>
          <a:ln w="6350">
            <a:solidFill>
              <a:srgbClr val="2F8F5B"/>
            </a:solidFill>
            <a:prstDash val="solid"/>
          </a:ln>
        </p:spPr>
      </p:sp>
      <p:sp>
        <p:nvSpPr>
          <p:cNvPr id="8" name="Grade legend A"/>
          <p:cNvSpPr txBox="1"/>
          <p:nvPr/>
        </p:nvSpPr>
        <p:spPr>
          <a:xfrm>
            <a:off x="3310128" y="1874520"/>
            <a:ext cx="1554480" cy="411480"/>
          </a:xfrm>
          <a:prstGeom prst="rect">
            <a:avLst/>
          </a:prstGeom>
          <a:noFill/>
          <a:ln/>
        </p:spPr>
        <p:txBody>
          <a:bodyPr wrap="square" lIns="0" tIns="0" rIns="0" bIns="0" rtlCol="0" anchor="t"/>
          <a:lstStyle/>
          <a:p>
            <a:pPr indent="0" marL="0">
              <a:buNone/>
            </a:pPr>
            <a:r>
              <a:rPr lang="en-US" sz="1000" dirty="0">
                <a:solidFill>
                  <a:schemeClr val="tx1"/>
                </a:solidFill>
              </a:rPr>
              <a:t>A  Independent operating data (0)</a:t>
            </a:r>
            <a:endParaRPr lang="en-US" sz="1000" dirty="0"/>
          </a:p>
        </p:txBody>
      </p:sp>
      <p:sp>
        <p:nvSpPr>
          <p:cNvPr id="9" name="Grade swatch B"/>
          <p:cNvSpPr/>
          <p:nvPr/>
        </p:nvSpPr>
        <p:spPr>
          <a:xfrm>
            <a:off x="3108960" y="2386584"/>
            <a:ext cx="146304" cy="146304"/>
          </a:xfrm>
          <a:prstGeom prst="ellipse">
            <a:avLst/>
          </a:prstGeom>
          <a:solidFill>
            <a:srgbClr val="0E7C86"/>
          </a:solidFill>
          <a:ln w="6350">
            <a:solidFill>
              <a:srgbClr val="0E7C86"/>
            </a:solidFill>
            <a:prstDash val="solid"/>
          </a:ln>
        </p:spPr>
      </p:sp>
      <p:sp>
        <p:nvSpPr>
          <p:cNvPr id="10" name="Grade legend B"/>
          <p:cNvSpPr txBox="1"/>
          <p:nvPr/>
        </p:nvSpPr>
        <p:spPr>
          <a:xfrm>
            <a:off x="3310128" y="2331720"/>
            <a:ext cx="1554480" cy="411480"/>
          </a:xfrm>
          <a:prstGeom prst="rect">
            <a:avLst/>
          </a:prstGeom>
          <a:noFill/>
          <a:ln/>
        </p:spPr>
        <p:txBody>
          <a:bodyPr wrap="square" lIns="0" tIns="0" rIns="0" bIns="0" rtlCol="0" anchor="t"/>
          <a:lstStyle/>
          <a:p>
            <a:pPr indent="0" marL="0">
              <a:buNone/>
            </a:pPr>
            <a:r>
              <a:rPr lang="en-US" sz="1000" dirty="0">
                <a:solidFill>
                  <a:schemeClr val="tx1"/>
                </a:solidFill>
              </a:rPr>
              <a:t>B  Company-reported operating data (11)</a:t>
            </a:r>
            <a:endParaRPr lang="en-US" sz="1000" dirty="0"/>
          </a:p>
        </p:txBody>
      </p:sp>
      <p:sp>
        <p:nvSpPr>
          <p:cNvPr id="11" name="Grade swatch C"/>
          <p:cNvSpPr/>
          <p:nvPr/>
        </p:nvSpPr>
        <p:spPr>
          <a:xfrm>
            <a:off x="3108960" y="2843784"/>
            <a:ext cx="146304" cy="146304"/>
          </a:xfrm>
          <a:prstGeom prst="ellipse">
            <a:avLst/>
          </a:prstGeom>
          <a:solidFill>
            <a:srgbClr val="0B5563"/>
          </a:solidFill>
          <a:ln w="6350">
            <a:solidFill>
              <a:srgbClr val="0B5563"/>
            </a:solidFill>
            <a:prstDash val="solid"/>
          </a:ln>
        </p:spPr>
      </p:sp>
      <p:sp>
        <p:nvSpPr>
          <p:cNvPr id="12" name="Grade legend C"/>
          <p:cNvSpPr txBox="1"/>
          <p:nvPr/>
        </p:nvSpPr>
        <p:spPr>
          <a:xfrm>
            <a:off x="3310128" y="2788920"/>
            <a:ext cx="1554480" cy="411480"/>
          </a:xfrm>
          <a:prstGeom prst="rect">
            <a:avLst/>
          </a:prstGeom>
          <a:noFill/>
          <a:ln/>
        </p:spPr>
        <p:txBody>
          <a:bodyPr wrap="square" lIns="0" tIns="0" rIns="0" bIns="0" rtlCol="0" anchor="t"/>
          <a:lstStyle/>
          <a:p>
            <a:pPr indent="0" marL="0">
              <a:buNone/>
            </a:pPr>
            <a:r>
              <a:rPr lang="en-US" sz="1000" dirty="0">
                <a:solidFill>
                  <a:schemeClr val="tx1"/>
                </a:solidFill>
              </a:rPr>
              <a:t>C  Contractual guarantee (0)</a:t>
            </a:r>
            <a:endParaRPr lang="en-US" sz="1000" dirty="0"/>
          </a:p>
        </p:txBody>
      </p:sp>
      <p:sp>
        <p:nvSpPr>
          <p:cNvPr id="13" name="Grade swatch D"/>
          <p:cNvSpPr/>
          <p:nvPr/>
        </p:nvSpPr>
        <p:spPr>
          <a:xfrm>
            <a:off x="3108960" y="3300984"/>
            <a:ext cx="146304" cy="146304"/>
          </a:xfrm>
          <a:prstGeom prst="ellipse">
            <a:avLst/>
          </a:prstGeom>
          <a:solidFill>
            <a:srgbClr val="E08A1E"/>
          </a:solidFill>
          <a:ln w="6350">
            <a:solidFill>
              <a:srgbClr val="E08A1E"/>
            </a:solidFill>
            <a:prstDash val="solid"/>
          </a:ln>
        </p:spPr>
      </p:sp>
      <p:sp>
        <p:nvSpPr>
          <p:cNvPr id="14" name="Grade legend D"/>
          <p:cNvSpPr txBox="1"/>
          <p:nvPr/>
        </p:nvSpPr>
        <p:spPr>
          <a:xfrm>
            <a:off x="3310128" y="3246120"/>
            <a:ext cx="1554480" cy="411480"/>
          </a:xfrm>
          <a:prstGeom prst="rect">
            <a:avLst/>
          </a:prstGeom>
          <a:noFill/>
          <a:ln/>
        </p:spPr>
        <p:txBody>
          <a:bodyPr wrap="square" lIns="0" tIns="0" rIns="0" bIns="0" rtlCol="0" anchor="t"/>
          <a:lstStyle/>
          <a:p>
            <a:pPr indent="0" marL="0">
              <a:buNone/>
            </a:pPr>
            <a:r>
              <a:rPr lang="en-US" sz="1000" dirty="0">
                <a:solidFill>
                  <a:schemeClr val="tx1"/>
                </a:solidFill>
              </a:rPr>
              <a:t>D  Vendor claim or plan (12)</a:t>
            </a:r>
            <a:endParaRPr lang="en-US" sz="1000" dirty="0"/>
          </a:p>
        </p:txBody>
      </p:sp>
      <p:sp>
        <p:nvSpPr>
          <p:cNvPr id="15" name="Grade swatch E"/>
          <p:cNvSpPr/>
          <p:nvPr/>
        </p:nvSpPr>
        <p:spPr>
          <a:xfrm>
            <a:off x="3108960" y="3758184"/>
            <a:ext cx="146304" cy="146304"/>
          </a:xfrm>
          <a:prstGeom prst="ellipse">
            <a:avLst/>
          </a:prstGeom>
          <a:solidFill>
            <a:srgbClr val="5B6E75"/>
          </a:solidFill>
          <a:ln w="6350">
            <a:solidFill>
              <a:srgbClr val="5B6E75"/>
            </a:solidFill>
            <a:prstDash val="solid"/>
          </a:ln>
        </p:spPr>
      </p:sp>
      <p:sp>
        <p:nvSpPr>
          <p:cNvPr id="16" name="Grade legend E"/>
          <p:cNvSpPr txBox="1"/>
          <p:nvPr/>
        </p:nvSpPr>
        <p:spPr>
          <a:xfrm>
            <a:off x="3310128" y="3703320"/>
            <a:ext cx="1554480" cy="411480"/>
          </a:xfrm>
          <a:prstGeom prst="rect">
            <a:avLst/>
          </a:prstGeom>
          <a:noFill/>
          <a:ln/>
        </p:spPr>
        <p:txBody>
          <a:bodyPr wrap="square" lIns="0" tIns="0" rIns="0" bIns="0" rtlCol="0" anchor="t"/>
          <a:lstStyle/>
          <a:p>
            <a:pPr indent="0" marL="0">
              <a:buNone/>
            </a:pPr>
            <a:r>
              <a:rPr lang="en-US" sz="1000" dirty="0">
                <a:solidFill>
                  <a:schemeClr val="tx1"/>
                </a:solidFill>
              </a:rPr>
              <a:t>E  Study or assumption (9)</a:t>
            </a:r>
            <a:endParaRPr lang="en-US" sz="1000" dirty="0"/>
          </a:p>
        </p:txBody>
      </p:sp>
      <p:sp>
        <p:nvSpPr>
          <p:cNvPr id="17" name="Grade message"/>
          <p:cNvSpPr txBox="1"/>
          <p:nvPr/>
        </p:nvSpPr>
        <p:spPr>
          <a:xfrm>
            <a:off x="640080" y="4343400"/>
            <a:ext cx="4114800" cy="457200"/>
          </a:xfrm>
          <a:prstGeom prst="rect">
            <a:avLst/>
          </a:prstGeom>
          <a:noFill/>
          <a:ln/>
        </p:spPr>
        <p:txBody>
          <a:bodyPr wrap="square" lIns="0" tIns="0" rIns="0" bIns="0" rtlCol="0" anchor="t"/>
          <a:lstStyle/>
          <a:p>
            <a:pPr indent="0" marL="0">
              <a:buNone/>
            </a:pPr>
            <a:r>
              <a:rPr lang="en-US" sz="1300" b="1" dirty="0">
                <a:solidFill>
                  <a:schemeClr val="tx1"/>
                </a:solidFill>
              </a:rPr>
              <a:t>No entry is independent operating data (grade A).</a:t>
            </a:r>
            <a:endParaRPr lang="en-US" sz="1300" dirty="0"/>
          </a:p>
        </p:txBody>
      </p:sp>
      <p:sp>
        <p:nvSpPr>
          <p:cNvPr id="18" name="Grade note"/>
          <p:cNvSpPr txBox="1"/>
          <p:nvPr/>
        </p:nvSpPr>
        <p:spPr>
          <a:xfrm>
            <a:off x="640080" y="4892040"/>
            <a:ext cx="4114800" cy="548640"/>
          </a:xfrm>
          <a:prstGeom prst="rect">
            <a:avLst/>
          </a:prstGeom>
          <a:noFill/>
          <a:ln/>
        </p:spPr>
        <p:txBody>
          <a:bodyPr wrap="square" lIns="0" tIns="0" rIns="0" bIns="0" rtlCol="0" anchor="t"/>
          <a:lstStyle/>
          <a:p>
            <a:pPr indent="0" marL="0">
              <a:buNone/>
            </a:pPr>
            <a:r>
              <a:rPr lang="en-US" sz="1200" dirty="0">
                <a:solidFill>
                  <a:schemeClr val="accent4"/>
                </a:solidFill>
              </a:rPr>
              <a:t>Postures, paths and scale targets are analyst judgements for panel validation.</a:t>
            </a:r>
            <a:endParaRPr lang="en-US" sz="1200" dirty="0"/>
          </a:p>
        </p:txBody>
      </p:sp>
      <p:sp>
        <p:nvSpPr>
          <p:cNvPr id="19" name="Bench card"/>
          <p:cNvSpPr/>
          <p:nvPr/>
        </p:nvSpPr>
        <p:spPr>
          <a:xfrm>
            <a:off x="5166360" y="1325880"/>
            <a:ext cx="6565392" cy="3154680"/>
          </a:xfrm>
          <a:prstGeom prst="roundRect">
            <a:avLst>
              <a:gd name="adj" fmla="val 2319"/>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graphicFrame>
        <p:nvGraphicFramePr>
          <p:cNvPr id="8" name="Benchmark table"/>
          <p:cNvGraphicFramePr>
            <a:graphicFrameLocks noGrp="1"/>
          </p:cNvGraphicFramePr>
          <p:nvPr>
            <p:extLst>
              <p:ext uri="{D42A27DB-BD31-4B8C-83A1-F6EECF244321}">
                <p14:modId xmlns:p14="http://schemas.microsoft.com/office/powerpoint/2010/main" val="1579011935"/>
              </p:ext>
            </p:extLst>
          </p:nvPr>
        </p:nvGraphicFramePr>
        <p:xfrm>
          <a:off x="5303520" y="1463040"/>
          <a:ext cx="6291072" cy="914400"/>
        </p:xfrm>
        <a:graphic>
          <a:graphicData uri="http://schemas.openxmlformats.org/drawingml/2006/table">
            <a:tbl>
              <a:tblPr/>
              <a:tblGrid>
                <a:gridCol w="2286000"/>
                <a:gridCol w="1920240"/>
                <a:gridCol w="1042416"/>
                <a:gridCol w="1042416"/>
              </a:tblGrid>
              <a:tr h="310896">
                <a:tc>
                  <a:txBody>
                    <a:bodyPr/>
                    <a:lstStyle/>
                    <a:p>
                      <a:pPr algn="l" indent="0" marL="0">
                        <a:buNone/>
                      </a:pPr>
                      <a:r>
                        <a:rPr lang="en-US" sz="1200" b="1" dirty="0">
                          <a:solidFill>
                            <a:schemeClr val="bg1"/>
                          </a:solidFill>
                        </a:rPr>
                        <a:t>Independent study</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B5563"/>
                    </a:solidFill>
                  </a:tcPr>
                </a:tc>
                <a:tc>
                  <a:txBody>
                    <a:bodyPr/>
                    <a:lstStyle/>
                    <a:p>
                      <a:pPr algn="l" indent="0" marL="0">
                        <a:buNone/>
                      </a:pPr>
                      <a:r>
                        <a:rPr lang="en-US" sz="1200" b="1" dirty="0">
                          <a:solidFill>
                            <a:schemeClr val="bg1"/>
                          </a:solidFill>
                        </a:rPr>
                        <a:t>Period</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B5563"/>
                    </a:solidFill>
                  </a:tcPr>
                </a:tc>
                <a:tc>
                  <a:txBody>
                    <a:bodyPr/>
                    <a:lstStyle/>
                    <a:p>
                      <a:pPr algn="r" indent="0" marL="0">
                        <a:buNone/>
                      </a:pPr>
                      <a:r>
                        <a:rPr lang="en-US" sz="1200" b="1" dirty="0">
                          <a:solidFill>
                            <a:schemeClr val="bg1"/>
                          </a:solidFill>
                        </a:rPr>
                        <a:t>LH₂</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B5563"/>
                    </a:solidFill>
                  </a:tcPr>
                </a:tc>
                <a:tc>
                  <a:txBody>
                    <a:bodyPr/>
                    <a:lstStyle/>
                    <a:p>
                      <a:pPr algn="r" indent="0" marL="0">
                        <a:buNone/>
                      </a:pPr>
                      <a:r>
                        <a:rPr lang="en-US" sz="1200" b="1" dirty="0">
                          <a:solidFill>
                            <a:schemeClr val="bg1"/>
                          </a:solidFill>
                        </a:rPr>
                        <a:t>NH₃</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0B5563"/>
                    </a:solidFill>
                  </a:tcPr>
                </a:tc>
              </a:tr>
              <a:tr h="420624">
                <a:tc>
                  <a:txBody>
                    <a:bodyPr/>
                    <a:lstStyle/>
                    <a:p>
                      <a:pPr algn="l" indent="0" marL="0">
                        <a:buNone/>
                      </a:pPr>
                      <a:r>
                        <a:rPr lang="en-US" sz="1200" dirty="0">
                          <a:solidFill>
                            <a:schemeClr val="tx1"/>
                          </a:solidFill>
                        </a:rPr>
                        <a:t>KBR for CATF</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250 kt/yr 2030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$6.09</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$3.25</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chemeClr val="tx1"/>
                          </a:solidFill>
                        </a:rPr>
                        <a:t>KBR for CATF</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1,000 kt/yr 2040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$4.64</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$2.57</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chemeClr val="tx1"/>
                          </a:solidFill>
                        </a:rPr>
                        <a:t>KBR for CATF</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10,000 kt/yr 2050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$3.23</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$1.96</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chemeClr val="tx1"/>
                          </a:solidFill>
                        </a:rPr>
                        <a:t>IEA ETP 2023, transport only</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2030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$2.0–3.7</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$1.9–2.2</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chemeClr val="tx1"/>
                          </a:solidFill>
                        </a:rPr>
                        <a:t>arXiv 2507.02412</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2030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16% edge</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chemeClr val="tx1"/>
                          </a:solidFill>
                        </a:rPr>
                        <a:t>arXiv 2507.02412</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2040</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c>
                  <a:txBody>
                    <a:bodyPr/>
                    <a:lstStyle/>
                    <a:p>
                      <a:pPr algn="r" indent="0" marL="0">
                        <a:buNone/>
                      </a:pPr>
                      <a:r>
                        <a:rPr lang="en-US" sz="1200" dirty="0">
                          <a:solidFill>
                            <a:schemeClr val="tx1"/>
                          </a:solidFill>
                        </a:rPr>
                        <a:t>10% edge</a:t>
                      </a:r>
                      <a:endParaRPr lang="en-US" sz="12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rgbClr val="FFFFFF"/>
                    </a:solidFill>
                  </a:tcPr>
                </a:tc>
              </a:tr>
            </a:tbl>
          </a:graphicData>
        </a:graphic>
      </p:graphicFrame>
      <p:sp>
        <p:nvSpPr>
          <p:cNvPr id="21" name="Caveat card"/>
          <p:cNvSpPr/>
          <p:nvPr/>
        </p:nvSpPr>
        <p:spPr>
          <a:xfrm>
            <a:off x="5166360" y="4617720"/>
            <a:ext cx="6565392" cy="1463040"/>
          </a:xfrm>
          <a:prstGeom prst="roundRect">
            <a:avLst>
              <a:gd name="adj" fmla="val 5000"/>
            </a:avLst>
          </a:prstGeom>
          <a:solidFill>
            <a:schemeClr val="bg1"/>
          </a:solidFill>
          <a:ln w="9525">
            <a:solidFill>
              <a:srgbClr val="D5DEE0"/>
            </a:solidFill>
            <a:prstDash val="solid"/>
          </a:ln>
          <a:effectLst>
            <a:outerShdw sx="100000" sy="100000" kx="0" ky="0" algn="bl" rotWithShape="0" blurRad="76200" dist="25400" dir="5400000">
              <a:srgbClr val="000000">
                <a:alpha val="12000"/>
              </a:srgbClr>
            </a:outerShdw>
          </a:effectLst>
        </p:spPr>
      </p:sp>
      <p:sp>
        <p:nvSpPr>
          <p:cNvPr id="22" name="Caveat title"/>
          <p:cNvSpPr txBox="1"/>
          <p:nvPr/>
        </p:nvSpPr>
        <p:spPr>
          <a:xfrm>
            <a:off x="5349240" y="4690872"/>
            <a:ext cx="6217920" cy="274320"/>
          </a:xfrm>
          <a:prstGeom prst="rect">
            <a:avLst/>
          </a:prstGeom>
          <a:noFill/>
          <a:ln/>
        </p:spPr>
        <p:txBody>
          <a:bodyPr wrap="square" lIns="0" tIns="0" rIns="0" bIns="0" rtlCol="0" anchor="t"/>
          <a:lstStyle/>
          <a:p>
            <a:pPr indent="0" marL="0">
              <a:buNone/>
            </a:pPr>
            <a:r>
              <a:rPr lang="en-US" sz="1400" b="1" dirty="0">
                <a:solidFill>
                  <a:schemeClr val="tx1"/>
                </a:solidFill>
              </a:rPr>
              <a:t>Caveats to resolve before external use</a:t>
            </a:r>
            <a:endParaRPr lang="en-US" sz="1400" dirty="0"/>
          </a:p>
        </p:txBody>
      </p:sp>
      <p:sp>
        <p:nvSpPr>
          <p:cNvPr id="23" name="Caveat list"/>
          <p:cNvSpPr txBox="1"/>
          <p:nvPr/>
        </p:nvSpPr>
        <p:spPr>
          <a:xfrm>
            <a:off x="5349240" y="5010912"/>
            <a:ext cx="6217920" cy="105156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1"/>
                </a:solidFill>
              </a:rPr>
              <a:t>KBR figures include blue-hydrogen production and are volume scenarios, not calendar years</a:t>
            </a:r>
            <a:endParaRPr lang="en-US" sz="1100" dirty="0"/>
          </a:p>
          <a:p>
            <a:pPr marL="342900" indent="-342900">
              <a:spcAft>
                <a:spcPts val="300"/>
              </a:spcAft>
              <a:buSzPct val="100000"/>
              <a:buChar char="•"/>
            </a:pPr>
            <a:r>
              <a:rPr lang="en-US" sz="1100" dirty="0">
                <a:solidFill>
                  <a:schemeClr val="tx1"/>
                </a:solidFill>
              </a:rPr>
              <a:t>Roland Berger "near parity by 2035" could not be verified and is excluded</a:t>
            </a:r>
            <a:endParaRPr lang="en-US" sz="1100" dirty="0"/>
          </a:p>
          <a:p>
            <a:pPr marL="342900" indent="-342900">
              <a:spcAft>
                <a:spcPts val="300"/>
              </a:spcAft>
              <a:buSzPct val="100000"/>
              <a:buChar char="•"/>
            </a:pPr>
            <a:r>
              <a:rPr lang="en-US" sz="1100" dirty="0">
                <a:solidFill>
                  <a:schemeClr val="tx1"/>
                </a:solidFill>
              </a:rPr>
              <a:t>KHI tank cost, carrier price and guaranteed liquefier energy are unpublished</a:t>
            </a:r>
            <a:endParaRPr lang="en-US" sz="1100" dirty="0"/>
          </a:p>
        </p:txBody>
      </p:sp>
      <p:sp>
        <p:nvSpPr>
          <p:cNvPr id="24" name="Source line"/>
          <p:cNvSpPr txBox="1"/>
          <p:nvPr/>
        </p:nvSpPr>
        <p:spPr>
          <a:xfrm>
            <a:off x="457200" y="6199632"/>
            <a:ext cx="11274552" cy="256032"/>
          </a:xfrm>
          <a:prstGeom prst="rect">
            <a:avLst/>
          </a:prstGeom>
          <a:noFill/>
          <a:ln/>
        </p:spPr>
        <p:txBody>
          <a:bodyPr wrap="square" lIns="0" tIns="0" rIns="0" bIns="0" rtlCol="0" anchor="ctr"/>
          <a:lstStyle/>
          <a:p>
            <a:pPr indent="0" marL="0">
              <a:buNone/>
            </a:pPr>
            <a:r>
              <a:rPr lang="en-US" sz="1000" dirty="0">
                <a:solidFill>
                  <a:schemeClr val="accent4"/>
                </a:solidFill>
              </a:rPr>
              <a:t>Sources: KBR/CATF 2022, IEA ETP 2023 (via Hydrogen Insight), arXiv 2507.02412. Full register with grades, caveats and review dates is in the live dashboard.</a:t>
            </a:r>
            <a:endParaRPr lang="en-US" sz="1000" dirty="0"/>
          </a:p>
        </p:txBody>
      </p:sp>
      <p:sp>
        <p:nvSpPr>
          <p:cNvPr id="25" name="Slide Number Placeholder 0"/>
          <p:cNvSpPr>
            <a:spLocks noGrp="1"/>
          </p:cNvSpPr>
          <p:nvPr>
            <p:ph type="sldNum" sz="quarter" idx="4294967295"/>
          </p:nvPr>
        </p:nvSpPr>
        <p:spPr>
          <a:xfrm>
            <a:off x="11183112"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Gentari Hydrogen Technology Monitor">
  <a:themeElements>
    <a:clrScheme name="Gentari Hydrogen Technology Monitor">
      <a:dk1>
        <a:srgbClr val="0F2A33"/>
      </a:dk1>
      <a:lt1>
        <a:srgbClr val="FFFFFF"/>
      </a:lt1>
      <a:dk2>
        <a:srgbClr val="0B5563"/>
      </a:dk2>
      <a:lt2>
        <a:srgbClr val="EEF3F3"/>
      </a:lt2>
      <a:accent1>
        <a:srgbClr val="0E7C86"/>
      </a:accent1>
      <a:accent2>
        <a:srgbClr val="E08A1E"/>
      </a:accent2>
      <a:accent3>
        <a:srgbClr val="F3C77B"/>
      </a:accent3>
      <a:accent4>
        <a:srgbClr val="5B6E75"/>
      </a:accent4>
      <a:accent5>
        <a:srgbClr val="2F8F5B"/>
      </a:accent5>
      <a:accent6>
        <a:srgbClr val="C0443C"/>
      </a:accent6>
      <a:hlink>
        <a:srgbClr val="0E7C86"/>
      </a:hlink>
      <a:folHlink>
        <a:srgbClr val="5B6E75"/>
      </a:folHlink>
    </a:clrScheme>
    <a:fontScheme name="Gentari Hydrogen Technology Moni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LH2 vs NH3 delivered cost and credibility (dashboard mock-up)</dc:title>
  <dc:subject>PptxGenJS Presentation</dc:subject>
  <dc:creator>Gentari Hydrogen</dc:creator>
  <cp:lastModifiedBy>Gentari Hydrogen</cp:lastModifiedBy>
  <cp:revision>1</cp:revision>
  <dcterms:created xsi:type="dcterms:W3CDTF">2026-10-30T02:31:09Z</dcterms:created>
  <dcterms:modified xsi:type="dcterms:W3CDTF">2026-10-30T02:31:09Z</dcterms:modified>
</cp:coreProperties>
</file>