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8.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8bac8abd-6363-54f6-6442-5da2d676d8d3}">
          <p14:sldIdLst>
            <p14:sldId id="256"/>
          </p14:sldIdLst>
        </p14:section>
        <p14:section name="Overview" id="{8ac7c359-ddb4-c94f-122f-f01eff3db5d3}">
          <p14:sldIdLst>
            <p14:sldId id="257"/>
          </p14:sldIdLst>
        </p14:section>
        <p14:section name="Technology" id="{789fd99e-fa8b-e8b9-594e-f15048d46e3c}">
          <p14:sldIdLst>
            <p14:sldId id="258"/>
            <p14:sldId id="259"/>
            <p14:sldId id="260"/>
            <p14:sldId id="261"/>
          </p14:sldIdLst>
        </p14:section>
        <p14:section name="Infrastructure" id="{637b8019-4785-f415-b624-8948e10e45fe}">
          <p14:sldIdLst>
            <p14:sldId id="262"/>
            <p14:sldId id="263"/>
            <p14:sldId id="264"/>
          </p14:sldIdLst>
        </p14:section>
        <p14:section name="Cost" id="{fee1db27-0823-f20d-9354-ab8ec59d2f25}">
          <p14:sldIdLst>
            <p14:sldId id="265"/>
          </p14:sldIdLst>
        </p14:section>
        <p14:section name="Regulation and challenges" id="{0681d1c2-1212-4230-95f4-faebc3ddcd05}">
          <p14:sldIdLst>
            <p14:sldId id="266"/>
            <p14:sldId id="267"/>
          </p14:sldIdLst>
        </p14:section>
        <p14:section name="LH2 vs NH3" id="{6fddbd15-3061-4f7d-245b-024d12c17c3a}">
          <p14:sldIdLst>
            <p14:sldId id="268"/>
            <p14:sldId id="269"/>
            <p14:sldId id="270"/>
            <p14:sldId id="271"/>
            <p14:sldId id="272"/>
            <p14:sldId id="273"/>
            <p14:sldId id="274"/>
            <p14:sldId id="275"/>
            <p14:sldId id="276"/>
            <p14:sldId id="277"/>
          </p14:sldIdLst>
        </p14:section>
        <p14:section name="Close" id="{c41b4640-2ab9-8c02-001d-26a911700304}">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Capacity, t/day</c:v>
                </c:pt>
              </c:strCache>
            </c:strRef>
          </c:tx>
          <c:spPr>
            <a:solidFill>
              <a:srgbClr val="4A3AA7"/>
            </a:solidFill>
            <a:effectLst/>
          </c:spPr>
          <c:invertIfNegative val="0"/>
          <c:dLbls>
            <c:numFmt formatCode="0.#" sourceLinked="0"/>
            <c:txPr>
              <a:bodyPr/>
              <a:lstStyle/>
              <a:p>
                <a:pPr>
                  <a:defRPr b="1" i="0" strike="noStrike" sz="1200" u="none">
                    <a:solidFill>
                      <a:srgbClr val="3A3935"/>
                    </a:solidFill>
                    <a:latin typeface="+mn-lt"/>
                  </a:defRPr>
                </a:pPr>
              </a:p>
            </c:txPr>
            <c:showLegendKey val="0"/>
            <c:showVal val="1"/>
            <c:showCatName val="0"/>
            <c:showSerName val="0"/>
            <c:showPercent val="0"/>
            <c:showBubbleSize val="0"/>
            <c:showLeaderLines val="0"/>
          </c:dLbls>
          <c:dPt>
            <c:idx val="0"/>
            <c:invertIfNegative val="0"/>
            <c:bubble3D val="0"/>
            <c:spPr>
              <a:solidFill>
                <a:srgbClr val="4A3AA7"/>
              </a:solidFill>
              <a:effectLst/>
            </c:spPr>
          </c:dPt>
          <c:dPt>
            <c:idx val="1"/>
            <c:invertIfNegative val="0"/>
            <c:bubble3D val="0"/>
            <c:spPr>
              <a:solidFill>
                <a:srgbClr val="4A3AA7"/>
              </a:solidFill>
              <a:effectLst/>
            </c:spPr>
          </c:dPt>
          <c:dPt>
            <c:idx val="2"/>
            <c:invertIfNegative val="0"/>
            <c:bubble3D val="0"/>
            <c:spPr>
              <a:solidFill>
                <a:srgbClr val="4A3AA7"/>
              </a:solidFill>
              <a:effectLst/>
            </c:spPr>
          </c:dPt>
          <c:dPt>
            <c:idx val="3"/>
            <c:invertIfNegative val="0"/>
            <c:bubble3D val="0"/>
            <c:spPr>
              <a:solidFill>
                <a:srgbClr val="4A3AA7"/>
              </a:solidFill>
              <a:effectLst/>
            </c:spPr>
          </c:dPt>
          <c:dPt>
            <c:idx val="4"/>
            <c:invertIfNegative val="0"/>
            <c:bubble3D val="0"/>
            <c:spPr>
              <a:solidFill>
                <a:srgbClr val="4A3AA7"/>
              </a:solidFill>
              <a:effectLst/>
            </c:spPr>
          </c:dPt>
          <c:dPt>
            <c:idx val="5"/>
            <c:invertIfNegative val="0"/>
            <c:bubble3D val="0"/>
            <c:spPr>
              <a:solidFill>
                <a:srgbClr val="4A3AA7"/>
              </a:solidFill>
              <a:effectLst/>
            </c:spPr>
          </c:dPt>
          <c:dPt>
            <c:idx val="6"/>
            <c:invertIfNegative val="0"/>
            <c:bubble3D val="0"/>
            <c:spPr>
              <a:solidFill>
                <a:srgbClr val="4A3AA7"/>
              </a:solidFill>
              <a:effectLst/>
            </c:spPr>
          </c:dPt>
          <c:dPt>
            <c:idx val="7"/>
            <c:invertIfNegative val="0"/>
            <c:bubble3D val="0"/>
            <c:spPr>
              <a:solidFill>
                <a:srgbClr val="4A3AA7"/>
              </a:solidFill>
              <a:effectLst/>
            </c:spPr>
          </c:dPt>
          <c:dPt>
            <c:idx val="8"/>
            <c:invertIfNegative val="0"/>
            <c:bubble3D val="0"/>
            <c:spPr>
              <a:solidFill>
                <a:srgbClr val="4A3AA7"/>
              </a:solidFill>
              <a:effectLst/>
            </c:spPr>
          </c:dPt>
          <c:dPt>
            <c:idx val="9"/>
            <c:invertIfNegative val="0"/>
            <c:bubble3D val="0"/>
            <c:spPr>
              <a:solidFill>
                <a:srgbClr val="4A3AA7"/>
              </a:solidFill>
              <a:effectLst/>
            </c:spPr>
          </c:dPt>
          <c:dPt>
            <c:idx val="10"/>
            <c:invertIfNegative val="0"/>
            <c:bubble3D val="0"/>
            <c:spPr>
              <a:solidFill>
                <a:srgbClr val="1F2933"/>
              </a:solidFill>
              <a:effectLst/>
            </c:spPr>
          </c:dPt>
          <c:cat>
            <c:multiLvlStrRef>
              <c:f>Sheet1!$A$2:$A$12</c:f>
              <c:multiLvlStrCache>
                <c:ptCount val="11"/>
                <c:lvl>
                  <c:pt idx="0">
                    <c:v>Chiba, JP · Iwatani · 2009</c:v>
                  </c:pt>
                  <c:pt idx="1">
                    <c:v>Akashi, JP · Kawasaki · 2014</c:v>
                  </c:pt>
                  <c:pt idx="2">
                    <c:v>Osaka, JP · Iwatani · 2006</c:v>
                  </c:pt>
                  <c:pt idx="3">
                    <c:v>Yamaguchi, JP · Iwatani, Tokuyama · 2017</c:v>
                  </c:pt>
                  <c:pt idx="4">
                    <c:v>Leuna, DE · Linde · 2021</c:v>
                  </c:pt>
                  <c:pt idx="5">
                    <c:v>Woodbine, US · Plug Power · 2024</c:v>
                  </c:pt>
                  <c:pt idx="6">
                    <c:v>La Porte, US · Air Products &amp; Praxair · 2021</c:v>
                  </c:pt>
                  <c:pt idx="7">
                    <c:v>Las Vegas, US · Air Liquide · 2022</c:v>
                  </c:pt>
                  <c:pt idx="8">
                    <c:v>Ulsan, KR · Hyosung–Linde · 2024</c:v>
                  </c:pt>
                  <c:pt idx="9">
                    <c:v>Incheon, KR · SK E&amp;S, Air Liquide · 2024</c:v>
                  </c:pt>
                  <c:pt idx="10">
                    <c:v>Kawasaki unit train (planned)</c:v>
                  </c:pt>
                </c:lvl>
              </c:multiLvlStrCache>
            </c:multiLvlStrRef>
          </c:cat>
          <c:val>
            <c:numRef>
              <c:f>Sheet1!$B$2:$B$12</c:f>
              <c:numCache>
                <c:formatCode>General</c:formatCode>
                <c:ptCount val="11"/>
                <c:pt idx="0">
                  <c:v>5</c:v>
                </c:pt>
                <c:pt idx="1">
                  <c:v>5</c:v>
                </c:pt>
                <c:pt idx="2">
                  <c:v>10</c:v>
                </c:pt>
                <c:pt idx="3">
                  <c:v>10</c:v>
                </c:pt>
                <c:pt idx="4">
                  <c:v>10</c:v>
                </c:pt>
                <c:pt idx="5">
                  <c:v>17.5</c:v>
                </c:pt>
                <c:pt idx="6">
                  <c:v>27.2</c:v>
                </c:pt>
                <c:pt idx="7">
                  <c:v>27.2</c:v>
                </c:pt>
                <c:pt idx="8">
                  <c:v>35.6</c:v>
                </c:pt>
                <c:pt idx="9">
                  <c:v>90</c:v>
                </c:pt>
                <c:pt idx="10">
                  <c:v>115</c:v>
                </c:pt>
              </c:numCache>
            </c:numRef>
          </c:val>
        </c:ser>
        <c:dLbls>
          <c:numFmt formatCode="0.#" sourceLinked="0"/>
          <c:txPr>
            <a:bodyPr/>
            <a:lstStyle/>
            <a:p>
              <a:pPr>
                <a:defRPr b="1" i="0" strike="noStrike" sz="1200" u="none">
                  <a:solidFill>
                    <a:srgbClr val="3A3935"/>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935"/>
                </a:solidFill>
                <a:latin typeface="+mn-lt"/>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3A3935"/>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Cargo capacity, m³</c:v>
                </c:pt>
              </c:strCache>
            </c:strRef>
          </c:tx>
          <c:spPr>
            <a:solidFill>
              <a:srgbClr val="4A3AA7"/>
            </a:solidFill>
            <a:effectLst/>
          </c:spPr>
          <c:invertIfNegative val="0"/>
          <c:dLbls>
            <c:numFmt formatCode="#,##0" sourceLinked="0"/>
            <c:txPr>
              <a:bodyPr/>
              <a:lstStyle/>
              <a:p>
                <a:pPr>
                  <a:defRPr b="1" i="0" strike="noStrike" sz="1200" u="none">
                    <a:solidFill>
                      <a:srgbClr val="3A3935"/>
                    </a:solidFill>
                    <a:latin typeface="+mn-lt"/>
                  </a:defRPr>
                </a:pPr>
              </a:p>
            </c:txPr>
            <c:showLegendKey val="0"/>
            <c:showVal val="1"/>
            <c:showCatName val="0"/>
            <c:showSerName val="0"/>
            <c:showPercent val="0"/>
            <c:showBubbleSize val="0"/>
            <c:showLeaderLines val="0"/>
          </c:dLbls>
          <c:dPt>
            <c:idx val="0"/>
            <c:invertIfNegative val="0"/>
            <c:bubble3D val="0"/>
            <c:spPr>
              <a:solidFill>
                <a:srgbClr val="4A3AA7"/>
              </a:solidFill>
              <a:effectLst/>
            </c:spPr>
          </c:dPt>
          <c:dPt>
            <c:idx val="1"/>
            <c:invertIfNegative val="0"/>
            <c:bubble3D val="0"/>
            <c:spPr>
              <a:solidFill>
                <a:srgbClr val="4A3AA7"/>
              </a:solidFill>
              <a:effectLst/>
            </c:spPr>
          </c:dPt>
          <c:dPt>
            <c:idx val="2"/>
            <c:invertIfNegative val="0"/>
            <c:bubble3D val="0"/>
            <c:spPr>
              <a:solidFill>
                <a:srgbClr val="1F2933"/>
              </a:solidFill>
              <a:effectLst/>
            </c:spPr>
          </c:dPt>
          <c:cat>
            <c:multiLvlStrRef>
              <c:f>Sheet1!$A$2:$A$4</c:f>
              <c:multiLvlStrCache>
                <c:ptCount val="3"/>
                <c:lvl>
                  <c:pt idx="0">
                    <c:v>Suiso Frontier (sailing)</c:v>
                  </c:pt>
                  <c:pt idx="1">
                    <c:v>KHI–JSE carrier (contracted)</c:v>
                  </c:pt>
                  <c:pt idx="2">
                    <c:v>Commercial design (target)</c:v>
                  </c:pt>
                </c:lvl>
              </c:multiLvlStrCache>
            </c:multiLvlStrRef>
          </c:cat>
          <c:val>
            <c:numRef>
              <c:f>Sheet1!$B$2:$B$4</c:f>
              <c:numCache>
                <c:formatCode>General</c:formatCode>
                <c:ptCount val="3"/>
                <c:pt idx="0">
                  <c:v>1250</c:v>
                </c:pt>
                <c:pt idx="1">
                  <c:v>40000</c:v>
                </c:pt>
                <c:pt idx="2">
                  <c:v>160000</c:v>
                </c:pt>
              </c:numCache>
            </c:numRef>
          </c:val>
        </c:ser>
        <c:dLbls>
          <c:numFmt formatCode="#,##0" sourceLinked="0"/>
          <c:txPr>
            <a:bodyPr/>
            <a:lstStyle/>
            <a:p>
              <a:pPr>
                <a:defRPr b="1" i="0" strike="noStrike" sz="1200" u="none">
                  <a:solidFill>
                    <a:srgbClr val="3A3935"/>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935"/>
                </a:solidFill>
                <a:latin typeface="+mn-lt"/>
              </a:defRPr>
            </a:pPr>
            <a:endParaRPr lang="en-US"/>
          </a:p>
        </c:txPr>
        <c:crossAx val="2094734552"/>
        <c:crosses val="autoZero"/>
        <c:auto val="1"/>
        <c:lblAlgn val="ctr"/>
        <c:noMultiLvlLbl val="1"/>
      </c:catAx>
      <c:valAx>
        <c:axId val="2094734552"/>
        <c:scaling>
          <c:orientation val="minMax"/>
          <c:max val="185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93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kUSD per t/day</c:v>
                </c:pt>
              </c:strCache>
            </c:strRef>
          </c:tx>
          <c:spPr>
            <a:solidFill>
              <a:srgbClr val="4A3AA7"/>
            </a:solidFill>
            <a:effectLst/>
          </c:spPr>
          <c:invertIfNegative val="0"/>
          <c:dLbls>
            <c:numFmt formatCode="#,##0" sourceLinked="0"/>
            <c:txPr>
              <a:bodyPr/>
              <a:lstStyle/>
              <a:p>
                <a:pPr>
                  <a:defRPr b="1" i="0" strike="noStrike" sz="1200" u="none">
                    <a:solidFill>
                      <a:srgbClr val="3A3935"/>
                    </a:solidFill>
                    <a:latin typeface="+mn-lt"/>
                  </a:defRPr>
                </a:pPr>
              </a:p>
            </c:txPr>
            <c:showLegendKey val="0"/>
            <c:showVal val="1"/>
            <c:showCatName val="0"/>
            <c:showSerName val="0"/>
            <c:showPercent val="0"/>
            <c:showBubbleSize val="0"/>
            <c:showLeaderLines val="0"/>
          </c:dLbls>
          <c:cat>
            <c:multiLvlStrRef>
              <c:f>Sheet1!$A$2:$A$6</c:f>
              <c:multiLvlStrCache>
                <c:ptCount val="5"/>
                <c:lvl>
                  <c:pt idx="0">
                    <c:v>30 t/day</c:v>
                  </c:pt>
                  <c:pt idx="1">
                    <c:v>60 t/day</c:v>
                  </c:pt>
                  <c:pt idx="2">
                    <c:v>115 t/day</c:v>
                  </c:pt>
                  <c:pt idx="3">
                    <c:v>200 t/day</c:v>
                  </c:pt>
                  <c:pt idx="4">
                    <c:v>300 t/day</c:v>
                  </c:pt>
                </c:lvl>
              </c:multiLvlStrCache>
            </c:multiLvlStrRef>
          </c:cat>
          <c:val>
            <c:numRef>
              <c:f>Sheet1!$B$2:$B$6</c:f>
              <c:numCache>
                <c:formatCode>General</c:formatCode>
                <c:ptCount val="5"/>
                <c:pt idx="0">
                  <c:v>2250</c:v>
                </c:pt>
                <c:pt idx="1">
                  <c:v>1730</c:v>
                </c:pt>
                <c:pt idx="2">
                  <c:v>1350</c:v>
                </c:pt>
                <c:pt idx="3">
                  <c:v>1090</c:v>
                </c:pt>
                <c:pt idx="4">
                  <c:v>940</c:v>
                </c:pt>
              </c:numCache>
            </c:numRef>
          </c:val>
        </c:ser>
        <c:dLbls>
          <c:numFmt formatCode="#,##0" sourceLinked="0"/>
          <c:txPr>
            <a:bodyPr/>
            <a:lstStyle/>
            <a:p>
              <a:pPr>
                <a:defRPr b="1" i="0" strike="noStrike" sz="1200" u="none">
                  <a:solidFill>
                    <a:srgbClr val="3A3935"/>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935"/>
                </a:solidFill>
                <a:latin typeface="+mn-lt"/>
              </a:defRPr>
            </a:pPr>
            <a:endParaRPr lang="en-US"/>
          </a:p>
        </c:txPr>
        <c:crossAx val="2094734552"/>
        <c:crosses val="autoZero"/>
        <c:auto val="1"/>
        <c:lblAlgn val="ctr"/>
        <c:noMultiLvlLbl val="1"/>
      </c:catAx>
      <c:valAx>
        <c:axId val="2094734552"/>
        <c:scaling>
          <c:orientation val="minMax"/>
          <c:max val="27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93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Liquefaction or Haber-Bosch</c:v>
                </c:pt>
              </c:strCache>
            </c:strRef>
          </c:tx>
          <c:spPr>
            <a:solidFill>
              <a:srgbClr val="4A3AA7"/>
            </a:solidFill>
            <a:effectLst/>
          </c:spPr>
          <c:invertIfNegative val="0"/>
          <c:dLbls>
            <c:numFmt formatCode="[&lt;0.6]&quot;&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NH₃, clean-fuel cracker · 11.66</c:v>
                  </c:pt>
                  <c:pt idx="1">
                    <c:v>NH₃, gas-fired cracker · 11.36</c:v>
                  </c:pt>
                  <c:pt idx="2">
                    <c:v>LH₂ route · 13.27</c:v>
                  </c:pt>
                </c:lvl>
              </c:multiLvlStrCache>
            </c:multiLvlStrRef>
          </c:cat>
          <c:val>
            <c:numRef>
              <c:f>Sheet1!$B$2:$B$4</c:f>
              <c:numCache>
                <c:formatCode>General</c:formatCode>
                <c:ptCount val="3"/>
                <c:pt idx="0">
                  <c:v>1.29</c:v>
                </c:pt>
                <c:pt idx="1">
                  <c:v>1.16</c:v>
                </c:pt>
                <c:pt idx="2">
                  <c:v>9.78</c:v>
                </c:pt>
              </c:numCache>
            </c:numRef>
          </c:val>
        </c:ser>
        <c:ser>
          <c:idx val="1"/>
          <c:order val="1"/>
          <c:tx>
            <c:strRef>
              <c:f>Sheet1!$C$1</c:f>
              <c:strCache>
                <c:ptCount val="1"/>
                <c:pt idx="0">
                  <c:v>Export-tank boil-off</c:v>
                </c:pt>
              </c:strCache>
            </c:strRef>
          </c:tx>
          <c:spPr>
            <a:solidFill>
              <a:srgbClr val="B4AAE6"/>
            </a:solidFill>
            <a:effectLst/>
          </c:spPr>
          <c:invertIfNegative val="0"/>
          <c:dLbls>
            <c:numFmt formatCode="[&lt;0.6]&quot;&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NH₃, clean-fuel cracker · 11.66</c:v>
                  </c:pt>
                  <c:pt idx="1">
                    <c:v>NH₃, gas-fired cracker · 11.36</c:v>
                  </c:pt>
                  <c:pt idx="2">
                    <c:v>LH₂ route · 13.27</c:v>
                  </c:pt>
                </c:lvl>
              </c:multiLvlStrCache>
            </c:multiLvlStrRef>
          </c:cat>
          <c:val>
            <c:numRef>
              <c:f>Sheet1!$C$2:$C$4</c:f>
              <c:numCache>
                <c:formatCode>General</c:formatCode>
                <c:ptCount val="3"/>
                <c:pt idx="0">
                  <c:v>0.01</c:v>
                </c:pt>
                <c:pt idx="1">
                  <c:v>0.01</c:v>
                </c:pt>
                <c:pt idx="2">
                  <c:v>0.03</c:v>
                </c:pt>
              </c:numCache>
            </c:numRef>
          </c:val>
        </c:ser>
        <c:ser>
          <c:idx val="2"/>
          <c:order val="2"/>
          <c:tx>
            <c:strRef>
              <c:f>Sheet1!$D$1</c:f>
              <c:strCache>
                <c:ptCount val="1"/>
                <c:pt idx="0">
                  <c:v>Ship fuel bought</c:v>
                </c:pt>
              </c:strCache>
            </c:strRef>
          </c:tx>
          <c:spPr>
            <a:solidFill>
              <a:srgbClr val="6E6E68"/>
            </a:solidFill>
            <a:effectLst/>
          </c:spPr>
          <c:invertIfNegative val="0"/>
          <c:dLbls>
            <c:numFmt formatCode="[&lt;0.6]&quot;&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NH₃, clean-fuel cracker · 11.66</c:v>
                  </c:pt>
                  <c:pt idx="1">
                    <c:v>NH₃, gas-fired cracker · 11.36</c:v>
                  </c:pt>
                  <c:pt idx="2">
                    <c:v>LH₂ route · 13.27</c:v>
                  </c:pt>
                </c:lvl>
              </c:multiLvlStrCache>
            </c:multiLvlStrRef>
          </c:cat>
          <c:val>
            <c:numRef>
              <c:f>Sheet1!$D$2:$D$4</c:f>
              <c:numCache>
                <c:formatCode>General</c:formatCode>
                <c:ptCount val="3"/>
                <c:pt idx="0">
                  <c:v>1.8</c:v>
                </c:pt>
                <c:pt idx="1">
                  <c:v>1.63</c:v>
                </c:pt>
                <c:pt idx="2">
                  <c:v>0.51</c:v>
                </c:pt>
              </c:numCache>
            </c:numRef>
          </c:val>
        </c:ser>
        <c:ser>
          <c:idx val="3"/>
          <c:order val="3"/>
          <c:tx>
            <c:strRef>
              <c:f>Sheet1!$E$1</c:f>
              <c:strCache>
                <c:ptCount val="1"/>
                <c:pt idx="0">
                  <c:v>Cargo H₂ burned as ship fuel</c:v>
                </c:pt>
              </c:strCache>
            </c:strRef>
          </c:tx>
          <c:spPr>
            <a:solidFill>
              <a:srgbClr val="1F2933"/>
            </a:solidFill>
            <a:effectLst/>
          </c:spPr>
          <c:invertIfNegative val="0"/>
          <c:dLbls>
            <c:numFmt formatCode="[&lt;0.6]&quot;&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NH₃, clean-fuel cracker · 11.66</c:v>
                  </c:pt>
                  <c:pt idx="1">
                    <c:v>NH₃, gas-fired cracker · 11.36</c:v>
                  </c:pt>
                  <c:pt idx="2">
                    <c:v>LH₂ route · 13.27</c:v>
                  </c:pt>
                </c:lvl>
              </c:multiLvlStrCache>
            </c:multiLvlStrRef>
          </c:cat>
          <c:val>
            <c:numRef>
              <c:f>Sheet1!$E$2:$E$4</c:f>
              <c:numCache>
                <c:formatCode>General</c:formatCode>
                <c:ptCount val="3"/>
                <c:pt idx="0">
                  <c:v>0</c:v>
                </c:pt>
                <c:pt idx="1">
                  <c:v>0</c:v>
                </c:pt>
                <c:pt idx="2">
                  <c:v>2.9</c:v>
                </c:pt>
              </c:numCache>
            </c:numRef>
          </c:val>
        </c:ser>
        <c:ser>
          <c:idx val="4"/>
          <c:order val="4"/>
          <c:tx>
            <c:strRef>
              <c:f>Sheet1!$F$1</c:f>
              <c:strCache>
                <c:ptCount val="1"/>
                <c:pt idx="0">
                  <c:v>Regasification or cracking</c:v>
                </c:pt>
              </c:strCache>
            </c:strRef>
          </c:tx>
          <c:spPr>
            <a:solidFill>
              <a:srgbClr val="2977D6"/>
            </a:solidFill>
            <a:effectLst/>
          </c:spPr>
          <c:invertIfNegative val="0"/>
          <c:dLbls>
            <c:numFmt formatCode="[&lt;0.6]&quot;&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NH₃, clean-fuel cracker · 11.66</c:v>
                  </c:pt>
                  <c:pt idx="1">
                    <c:v>NH₃, gas-fired cracker · 11.36</c:v>
                  </c:pt>
                  <c:pt idx="2">
                    <c:v>LH₂ route · 13.27</c:v>
                  </c:pt>
                </c:lvl>
              </c:multiLvlStrCache>
            </c:multiLvlStrRef>
          </c:cat>
          <c:val>
            <c:numRef>
              <c:f>Sheet1!$F$2:$F$4</c:f>
              <c:numCache>
                <c:formatCode>General</c:formatCode>
                <c:ptCount val="3"/>
                <c:pt idx="0">
                  <c:v>8.56</c:v>
                </c:pt>
                <c:pt idx="1">
                  <c:v>8.56</c:v>
                </c:pt>
                <c:pt idx="2">
                  <c:v>0.05</c:v>
                </c:pt>
              </c:numCache>
            </c:numRef>
          </c:val>
        </c:ser>
        <c:dLbls>
          <c:numFmt formatCode="[&lt;0.6]&quot;&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A3935"/>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9525" cap="flat">
              <a:solidFill>
                <a:srgbClr val="E8E8E4"/>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3A3935"/>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200">
              <a:solidFill>
                <a:srgbClr val="3A393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LH2 minus NH3</c:v>
                </c:pt>
              </c:strCache>
            </c:strRef>
          </c:tx>
          <c:spPr>
            <a:solidFill>
              <a:srgbClr val="4A3AA7"/>
            </a:solidFill>
            <a:effectLst/>
          </c:spPr>
          <c:invertIfNegative val="0"/>
          <c:dLbls>
            <c:numFmt formatCode="+0.0;-0.0;0" sourceLinked="0"/>
            <c:txPr>
              <a:bodyPr/>
              <a:lstStyle/>
              <a:p>
                <a:pPr>
                  <a:defRPr b="1" i="0" strike="noStrike" sz="1200" u="none">
                    <a:solidFill>
                      <a:srgbClr val="3A3935"/>
                    </a:solidFill>
                    <a:latin typeface="+mn-lt"/>
                  </a:defRPr>
                </a:pPr>
              </a:p>
            </c:txPr>
            <c:showLegendKey val="0"/>
            <c:showVal val="1"/>
            <c:showCatName val="0"/>
            <c:showSerName val="0"/>
            <c:showPercent val="0"/>
            <c:showBubbleSize val="0"/>
            <c:showLeaderLines val="0"/>
          </c:dLbls>
          <c:dPt>
            <c:idx val="0"/>
            <c:invertIfNegative val="0"/>
            <c:bubble3D val="0"/>
            <c:spPr>
              <a:solidFill>
                <a:srgbClr val="4A3AA7"/>
              </a:solidFill>
              <a:effectLst/>
            </c:spPr>
          </c:dPt>
          <c:dPt>
            <c:idx val="1"/>
            <c:invertIfNegative val="0"/>
            <c:bubble3D val="0"/>
            <c:spPr>
              <a:solidFill>
                <a:srgbClr val="4A3AA7"/>
              </a:solidFill>
              <a:effectLst/>
            </c:spPr>
          </c:dPt>
          <c:dPt>
            <c:idx val="2"/>
            <c:invertIfNegative val="0"/>
            <c:bubble3D val="0"/>
            <c:spPr>
              <a:solidFill>
                <a:srgbClr val="2977D6"/>
              </a:solidFill>
              <a:effectLst/>
            </c:spPr>
          </c:dPt>
          <c:dPt>
            <c:idx val="3"/>
            <c:invertIfNegative val="0"/>
            <c:bubble3D val="0"/>
            <c:spPr>
              <a:solidFill>
                <a:srgbClr val="1F2933"/>
              </a:solidFill>
              <a:effectLst/>
            </c:spPr>
          </c:dPt>
          <c:cat>
            <c:multiLvlStrRef>
              <c:f>Sheet1!$A$2:$A$5</c:f>
              <c:multiLvlStrCache>
                <c:ptCount val="4"/>
                <c:lvl>
                  <c:pt idx="0">
                    <c:v>Upstream</c:v>
                  </c:pt>
                  <c:pt idx="1">
                    <c:v>At sea</c:v>
                  </c:pt>
                  <c:pt idx="2">
                    <c:v>Downstream</c:v>
                  </c:pt>
                  <c:pt idx="3">
                    <c:v>Full chain</c:v>
                  </c:pt>
                </c:lvl>
              </c:multiLvlStrCache>
            </c:multiLvlStrRef>
          </c:cat>
          <c:val>
            <c:numRef>
              <c:f>Sheet1!$B$2:$B$5</c:f>
              <c:numCache>
                <c:formatCode>General</c:formatCode>
                <c:ptCount val="4"/>
                <c:pt idx="0">
                  <c:v>8.6</c:v>
                </c:pt>
                <c:pt idx="1">
                  <c:v>1.8</c:v>
                </c:pt>
                <c:pt idx="2">
                  <c:v>-8.5</c:v>
                </c:pt>
                <c:pt idx="3">
                  <c:v>1.9</c:v>
                </c:pt>
              </c:numCache>
            </c:numRef>
          </c:val>
        </c:ser>
        <c:dLbls>
          <c:numFmt formatCode="+0.0;-0.0;0" sourceLinked="0"/>
          <c:txPr>
            <a:bodyPr/>
            <a:lstStyle/>
            <a:p>
              <a:pPr>
                <a:defRPr b="1" i="0" strike="noStrike" sz="1200" u="none">
                  <a:solidFill>
                    <a:srgbClr val="3A3935"/>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A3935"/>
                </a:solidFill>
                <a:latin typeface="+mn-lt"/>
              </a:defRPr>
            </a:pPr>
            <a:endParaRPr lang="en-US"/>
          </a:p>
        </c:txPr>
        <c:crossAx val="2094734552"/>
        <c:crosses val="autoZero"/>
        <c:auto val="1"/>
        <c:lblAlgn val="ctr"/>
        <c:noMultiLvlLbl val="1"/>
      </c:catAx>
      <c:valAx>
        <c:axId val="2094734552"/>
        <c:scaling>
          <c:orientation val="minMax"/>
          <c:max val="10"/>
          <c:min val="-10"/>
        </c:scaling>
        <c:delete val="0"/>
        <c:axPos val="l"/>
        <c:majorGridlines>
          <c:spPr>
            <a:ln w="9525" cap="flat">
              <a:solidFill>
                <a:srgbClr val="E8E8E4"/>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935"/>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Electrolysis of the hydrogen consumed</c:v>
                </c:pt>
              </c:strCache>
            </c:strRef>
          </c:tx>
          <c:spPr>
            <a:solidFill>
              <a:srgbClr val="4A3AA7"/>
            </a:solidFill>
            <a:effectLst/>
          </c:spPr>
          <c:invertIfNegative val="0"/>
          <c:dLbls>
            <c:numFmt formatCode="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NH₃, clean-fuel cracker · 88.80</c:v>
                  </c:pt>
                  <c:pt idx="1">
                    <c:v>NH₃, gas-fired cracker · 81.00</c:v>
                  </c:pt>
                  <c:pt idx="2">
                    <c:v>LH₂ route · 78.49</c:v>
                  </c:pt>
                </c:lvl>
              </c:multiLvlStrCache>
            </c:multiLvlStrRef>
          </c:cat>
          <c:val>
            <c:numRef>
              <c:f>Sheet1!$B$2:$B$4</c:f>
              <c:numCache>
                <c:formatCode>General</c:formatCode>
                <c:ptCount val="3"/>
                <c:pt idx="0">
                  <c:v>77.14</c:v>
                </c:pt>
                <c:pt idx="1">
                  <c:v>69.64</c:v>
                </c:pt>
                <c:pt idx="2">
                  <c:v>65.22</c:v>
                </c:pt>
              </c:numCache>
            </c:numRef>
          </c:val>
        </c:ser>
        <c:ser>
          <c:idx val="1"/>
          <c:order val="1"/>
          <c:tx>
            <c:strRef>
              <c:f>Sheet1!$C$1</c:f>
              <c:strCache>
                <c:ptCount val="1"/>
                <c:pt idx="0">
                  <c:v>Rest of the chain (Section 13.6)</c:v>
                </c:pt>
              </c:strCache>
            </c:strRef>
          </c:tx>
          <c:spPr>
            <a:solidFill>
              <a:srgbClr val="2977D6"/>
            </a:solidFill>
            <a:effectLst/>
          </c:spPr>
          <c:invertIfNegative val="0"/>
          <c:dLbls>
            <c:numFmt formatCode="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NH₃, clean-fuel cracker · 88.80</c:v>
                  </c:pt>
                  <c:pt idx="1">
                    <c:v>NH₃, gas-fired cracker · 81.00</c:v>
                  </c:pt>
                  <c:pt idx="2">
                    <c:v>LH₂ route · 78.49</c:v>
                  </c:pt>
                </c:lvl>
              </c:multiLvlStrCache>
            </c:multiLvlStrRef>
          </c:cat>
          <c:val>
            <c:numRef>
              <c:f>Sheet1!$C$2:$C$4</c:f>
              <c:numCache>
                <c:formatCode>General</c:formatCode>
                <c:ptCount val="3"/>
                <c:pt idx="0">
                  <c:v>11.66</c:v>
                </c:pt>
                <c:pt idx="1">
                  <c:v>11.36</c:v>
                </c:pt>
                <c:pt idx="2">
                  <c:v>13.27</c:v>
                </c:pt>
              </c:numCache>
            </c:numRef>
          </c:val>
        </c:ser>
        <c:dLbls>
          <c:numFmt formatCode="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A393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8E8E4"/>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3A3935"/>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200">
              <a:solidFill>
                <a:srgbClr val="3A393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Gas-fired NH₃, overlap removed</c:v>
                </c:pt>
              </c:strCache>
            </c:strRef>
          </c:tx>
          <c:spPr>
            <a:solidFill>
              <a:srgbClr val="2977D6"/>
            </a:solidFill>
            <a:ln w="38100" cap="flat">
              <a:solidFill>
                <a:srgbClr val="2977D6"/>
              </a:solidFill>
              <a:prstDash val="solid"/>
              <a:round/>
            </a:ln>
            <a:effectLst/>
          </c:spPr>
          <c:invertIfNegative val="0"/>
          <c:dLbls>
            <c:numFmt formatCode="#,##0" sourceLinked="0"/>
            <c:txPr>
              <a:bodyPr/>
              <a:lstStyle/>
              <a:p>
                <a:pPr>
                  <a:defRPr b="0" i="0" strike="noStrike" sz="1200" u="none">
                    <a:solidFill>
                      <a:srgbClr val="3A3935"/>
                    </a:solidFill>
                    <a:latin typeface="+mn-lt"/>
                  </a:defRPr>
                </a:pPr>
              </a:p>
            </c:txPr>
            <c:showLegendKey val="0"/>
            <c:showVal val="0"/>
            <c:showCatName val="0"/>
            <c:showSerName val="0"/>
            <c:showPercent val="0"/>
            <c:showBubbleSize val="0"/>
            <c:showLeaderLines val="0"/>
          </c:dLbls>
          <c:marker>
            <c:symbol val="none"/>
            <c:size val="6"/>
            <c:spPr>
              <a:solidFill>
                <a:srgbClr val="2977D6"/>
              </a:solidFill>
              <a:ln w="9525" cap="flat">
                <a:solidFill>
                  <a:srgbClr val="2977D6"/>
                </a:solidFill>
                <a:prstDash val="solid"/>
                <a:round/>
              </a:ln>
              <a:effectLst/>
            </c:spPr>
          </c:marker>
          <c:cat>
            <c:multiLvlStrRef>
              <c:f>Sheet1!$A$2:$A$12</c:f>
              <c:multiLvlStrCache>
                <c:ptCount val="11"/>
                <c:lvl>
                  <c:pt idx="0">
                    <c:v>20</c:v>
                  </c:pt>
                  <c:pt idx="1">
                    <c:v>25</c:v>
                  </c:pt>
                  <c:pt idx="2">
                    <c:v>30</c:v>
                  </c:pt>
                  <c:pt idx="3">
                    <c:v>35</c:v>
                  </c:pt>
                  <c:pt idx="4">
                    <c:v>40</c:v>
                  </c:pt>
                  <c:pt idx="5">
                    <c:v>45</c:v>
                  </c:pt>
                  <c:pt idx="6">
                    <c:v>50</c:v>
                  </c:pt>
                  <c:pt idx="7">
                    <c:v>55</c:v>
                  </c:pt>
                  <c:pt idx="8">
                    <c:v>60</c:v>
                  </c:pt>
                  <c:pt idx="9">
                    <c:v>65</c:v>
                  </c:pt>
                  <c:pt idx="10">
                    <c:v>70</c:v>
                  </c:pt>
                </c:lvl>
              </c:multiLvlStrCache>
            </c:multiLvlStrRef>
          </c:cat>
          <c:val>
            <c:numRef>
              <c:f>Sheet1!$B$2:$B$12</c:f>
              <c:numCache>
                <c:formatCode>General</c:formatCode>
                <c:ptCount val="11"/>
                <c:pt idx="0">
                  <c:v>-2.2</c:v>
                </c:pt>
                <c:pt idx="1">
                  <c:v>-1.83</c:v>
                </c:pt>
                <c:pt idx="2">
                  <c:v>-1.46</c:v>
                </c:pt>
                <c:pt idx="3">
                  <c:v>-1.09</c:v>
                </c:pt>
                <c:pt idx="4">
                  <c:v>-0.72</c:v>
                </c:pt>
                <c:pt idx="5">
                  <c:v>-0.35</c:v>
                </c:pt>
                <c:pt idx="6">
                  <c:v>0.02</c:v>
                </c:pt>
                <c:pt idx="7">
                  <c:v>0.39</c:v>
                </c:pt>
                <c:pt idx="8">
                  <c:v>0.76</c:v>
                </c:pt>
                <c:pt idx="9">
                  <c:v>1.12</c:v>
                </c:pt>
                <c:pt idx="10">
                  <c:v>1.49</c:v>
                </c:pt>
              </c:numCache>
            </c:numRef>
          </c:val>
          <c:smooth val="0"/>
        </c:ser>
        <c:ser>
          <c:idx val="1"/>
          <c:order val="1"/>
          <c:tx>
            <c:strRef>
              <c:f>Sheet1!$C$1</c:f>
              <c:strCache>
                <c:ptCount val="1"/>
                <c:pt idx="0">
                  <c:v>Gas-fired NH₃, as computed</c:v>
                </c:pt>
              </c:strCache>
            </c:strRef>
          </c:tx>
          <c:spPr>
            <a:solidFill>
              <a:srgbClr val="9DBFEA"/>
            </a:solidFill>
            <a:ln w="38100" cap="flat">
              <a:solidFill>
                <a:srgbClr val="9DBFEA"/>
              </a:solidFill>
              <a:prstDash val="solid"/>
              <a:round/>
            </a:ln>
            <a:effectLst/>
          </c:spPr>
          <c:invertIfNegative val="0"/>
          <c:dLbls>
            <c:numFmt formatCode="#,##0" sourceLinked="0"/>
            <c:txPr>
              <a:bodyPr/>
              <a:lstStyle/>
              <a:p>
                <a:pPr>
                  <a:defRPr b="0" i="0" strike="noStrike" sz="1200" u="none">
                    <a:solidFill>
                      <a:srgbClr val="3A3935"/>
                    </a:solidFill>
                    <a:latin typeface="+mn-lt"/>
                  </a:defRPr>
                </a:pPr>
              </a:p>
            </c:txPr>
            <c:showLegendKey val="0"/>
            <c:showVal val="0"/>
            <c:showCatName val="0"/>
            <c:showSerName val="0"/>
            <c:showPercent val="0"/>
            <c:showBubbleSize val="0"/>
            <c:showLeaderLines val="0"/>
          </c:dLbls>
          <c:marker>
            <c:symbol val="none"/>
            <c:size val="6"/>
            <c:spPr>
              <a:solidFill>
                <a:srgbClr val="9DBFEA"/>
              </a:solidFill>
              <a:ln w="9525" cap="flat">
                <a:solidFill>
                  <a:srgbClr val="9DBFEA"/>
                </a:solidFill>
                <a:prstDash val="solid"/>
                <a:round/>
              </a:ln>
              <a:effectLst/>
            </c:spPr>
          </c:marker>
          <c:cat>
            <c:multiLvlStrRef>
              <c:f>Sheet1!$A$2:$A$12</c:f>
              <c:multiLvlStrCache>
                <c:ptCount val="11"/>
                <c:lvl>
                  <c:pt idx="0">
                    <c:v>20</c:v>
                  </c:pt>
                  <c:pt idx="1">
                    <c:v>25</c:v>
                  </c:pt>
                  <c:pt idx="2">
                    <c:v>30</c:v>
                  </c:pt>
                  <c:pt idx="3">
                    <c:v>35</c:v>
                  </c:pt>
                  <c:pt idx="4">
                    <c:v>40</c:v>
                  </c:pt>
                  <c:pt idx="5">
                    <c:v>45</c:v>
                  </c:pt>
                  <c:pt idx="6">
                    <c:v>50</c:v>
                  </c:pt>
                  <c:pt idx="7">
                    <c:v>55</c:v>
                  </c:pt>
                  <c:pt idx="8">
                    <c:v>60</c:v>
                  </c:pt>
                  <c:pt idx="9">
                    <c:v>65</c:v>
                  </c:pt>
                  <c:pt idx="10">
                    <c:v>70</c:v>
                  </c:pt>
                </c:lvl>
              </c:multiLvlStrCache>
            </c:multiLvlStrRef>
          </c:cat>
          <c:val>
            <c:numRef>
              <c:f>Sheet1!$C$2:$C$12</c:f>
              <c:numCache>
                <c:formatCode>General</c:formatCode>
                <c:ptCount val="11"/>
                <c:pt idx="0">
                  <c:v>-0.44</c:v>
                </c:pt>
                <c:pt idx="1">
                  <c:v>-0.07</c:v>
                </c:pt>
                <c:pt idx="2">
                  <c:v>0.29</c:v>
                </c:pt>
                <c:pt idx="3">
                  <c:v>0.66</c:v>
                </c:pt>
                <c:pt idx="4">
                  <c:v>1.03</c:v>
                </c:pt>
                <c:pt idx="5">
                  <c:v>1.4</c:v>
                </c:pt>
                <c:pt idx="6">
                  <c:v>1.77</c:v>
                </c:pt>
                <c:pt idx="7">
                  <c:v>2.14</c:v>
                </c:pt>
                <c:pt idx="8">
                  <c:v>2.51</c:v>
                </c:pt>
                <c:pt idx="9">
                  <c:v>2.88</c:v>
                </c:pt>
                <c:pt idx="10">
                  <c:v>3.24</c:v>
                </c:pt>
              </c:numCache>
            </c:numRef>
          </c:val>
          <c:smooth val="0"/>
        </c:ser>
        <c:ser>
          <c:idx val="2"/>
          <c:order val="2"/>
          <c:tx>
            <c:strRef>
              <c:f>Sheet1!$D$1</c:f>
              <c:strCache>
                <c:ptCount val="1"/>
                <c:pt idx="0">
                  <c:v>Clean-fuel NH₃, overlap removed</c:v>
                </c:pt>
              </c:strCache>
            </c:strRef>
          </c:tx>
          <c:spPr>
            <a:solidFill>
              <a:srgbClr val="1F2933"/>
            </a:solidFill>
            <a:ln w="38100" cap="flat">
              <a:solidFill>
                <a:srgbClr val="1F2933"/>
              </a:solidFill>
              <a:prstDash val="solid"/>
              <a:round/>
            </a:ln>
            <a:effectLst/>
          </c:spPr>
          <c:invertIfNegative val="0"/>
          <c:dLbls>
            <c:numFmt formatCode="#,##0" sourceLinked="0"/>
            <c:txPr>
              <a:bodyPr/>
              <a:lstStyle/>
              <a:p>
                <a:pPr>
                  <a:defRPr b="0" i="0" strike="noStrike" sz="1200" u="none">
                    <a:solidFill>
                      <a:srgbClr val="3A3935"/>
                    </a:solidFill>
                    <a:latin typeface="+mn-lt"/>
                  </a:defRPr>
                </a:pPr>
              </a:p>
            </c:txPr>
            <c:showLegendKey val="0"/>
            <c:showVal val="0"/>
            <c:showCatName val="0"/>
            <c:showSerName val="0"/>
            <c:showPercent val="0"/>
            <c:showBubbleSize val="0"/>
            <c:showLeaderLines val="0"/>
          </c:dLbls>
          <c:marker>
            <c:symbol val="none"/>
            <c:size val="6"/>
            <c:spPr>
              <a:solidFill>
                <a:srgbClr val="1F2933"/>
              </a:solidFill>
              <a:ln w="9525" cap="flat">
                <a:solidFill>
                  <a:srgbClr val="1F2933"/>
                </a:solidFill>
                <a:prstDash val="solid"/>
                <a:round/>
              </a:ln>
              <a:effectLst/>
            </c:spPr>
          </c:marker>
          <c:cat>
            <c:multiLvlStrRef>
              <c:f>Sheet1!$A$2:$A$12</c:f>
              <c:multiLvlStrCache>
                <c:ptCount val="11"/>
                <c:lvl>
                  <c:pt idx="0">
                    <c:v>20</c:v>
                  </c:pt>
                  <c:pt idx="1">
                    <c:v>25</c:v>
                  </c:pt>
                  <c:pt idx="2">
                    <c:v>30</c:v>
                  </c:pt>
                  <c:pt idx="3">
                    <c:v>35</c:v>
                  </c:pt>
                  <c:pt idx="4">
                    <c:v>40</c:v>
                  </c:pt>
                  <c:pt idx="5">
                    <c:v>45</c:v>
                  </c:pt>
                  <c:pt idx="6">
                    <c:v>50</c:v>
                  </c:pt>
                  <c:pt idx="7">
                    <c:v>55</c:v>
                  </c:pt>
                  <c:pt idx="8">
                    <c:v>60</c:v>
                  </c:pt>
                  <c:pt idx="9">
                    <c:v>65</c:v>
                  </c:pt>
                  <c:pt idx="10">
                    <c:v>70</c:v>
                  </c:pt>
                </c:lvl>
              </c:multiLvlStrCache>
            </c:multiLvlStrRef>
          </c:cat>
          <c:val>
            <c:numRef>
              <c:f>Sheet1!$D$2:$D$12</c:f>
              <c:numCache>
                <c:formatCode>General</c:formatCode>
                <c:ptCount val="11"/>
                <c:pt idx="0">
                  <c:v>-3.01</c:v>
                </c:pt>
                <c:pt idx="1">
                  <c:v>-2.02</c:v>
                </c:pt>
                <c:pt idx="2">
                  <c:v>-1.02</c:v>
                </c:pt>
                <c:pt idx="3">
                  <c:v>-0.03</c:v>
                </c:pt>
                <c:pt idx="4">
                  <c:v>0.97</c:v>
                </c:pt>
                <c:pt idx="5">
                  <c:v>1.96</c:v>
                </c:pt>
                <c:pt idx="6">
                  <c:v>2.95</c:v>
                </c:pt>
                <c:pt idx="7">
                  <c:v>3.95</c:v>
                </c:pt>
                <c:pt idx="8">
                  <c:v>4.94</c:v>
                </c:pt>
                <c:pt idx="9">
                  <c:v>5.93</c:v>
                </c:pt>
                <c:pt idx="10">
                  <c:v>6.93</c:v>
                </c:pt>
              </c:numCache>
            </c:numRef>
          </c:val>
          <c:smooth val="0"/>
        </c:ser>
        <c:dLbls>
          <c:numFmt formatCode="#,##0" sourceLinked="0"/>
          <c:txPr>
            <a:bodyPr/>
            <a:lstStyle/>
            <a:p>
              <a:pPr>
                <a:defRPr b="0" i="0" strike="noStrike" sz="1200" u="none">
                  <a:solidFill>
                    <a:srgbClr val="3A3935"/>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3A3935"/>
                    </a:solidFill>
                    <a:latin typeface="+mn-lt"/>
                  </a:defRPr>
                </a:pPr>
                <a:r>
                  <a:rPr sz="1200" b="0" i="0" u="none" strike="noStrike">
                    <a:solidFill>
                      <a:srgbClr val="3A3935"/>
                    </a:solidFill>
                    <a:latin typeface="+mn-lt"/>
                  </a:rPr>
                  <a:t>Electrolyser energy, kWh per kg H₂ produced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935"/>
                </a:solidFill>
                <a:latin typeface="+mn-lt"/>
              </a:defRPr>
            </a:pPr>
            <a:endParaRPr lang="en-US"/>
          </a:p>
        </c:txPr>
        <c:crossAx val="2094734552"/>
        <c:crosses val="autoZero"/>
        <c:auto val="1"/>
        <c:lblAlgn val="ctr"/>
        <c:noMultiLvlLbl val="1"/>
      </c:catAx>
      <c:valAx>
        <c:axId val="2094734552"/>
        <c:scaling>
          <c:orientation val="minMax"/>
          <c:max val="8"/>
          <c:min val="-4"/>
        </c:scaling>
        <c:delete val="0"/>
        <c:axPos val="l"/>
        <c:majorGridlines>
          <c:spPr>
            <a:ln w="9525" cap="flat">
              <a:solidFill>
                <a:srgbClr val="E8E8E4"/>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935"/>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200">
              <a:solidFill>
                <a:srgbClr val="3A393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Export plant electricity</c:v>
                </c:pt>
              </c:strCache>
            </c:strRef>
          </c:tx>
          <c:spPr>
            <a:solidFill>
              <a:srgbClr val="4A3AA7"/>
            </a:solidFill>
            <a:effectLst/>
          </c:spPr>
          <c:invertIfNegative val="0"/>
          <c:dLbls>
            <c:numFmt formatCode="[&lt;0.1]&quot;&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NH₃, clean-fuel cracker · 1.579</c:v>
                  </c:pt>
                  <c:pt idx="1">
                    <c:v>NH₃, gas-fired cracker · 1.208</c:v>
                  </c:pt>
                  <c:pt idx="2">
                    <c:v>LH₂ route · 1.754</c:v>
                  </c:pt>
                </c:lvl>
              </c:multiLvlStrCache>
            </c:multiLvlStrRef>
          </c:cat>
          <c:val>
            <c:numRef>
              <c:f>Sheet1!$B$2:$B$4</c:f>
              <c:numCache>
                <c:formatCode>General</c:formatCode>
                <c:ptCount val="3"/>
                <c:pt idx="0">
                  <c:v>0.181</c:v>
                </c:pt>
                <c:pt idx="1">
                  <c:v>0.163</c:v>
                </c:pt>
                <c:pt idx="2">
                  <c:v>1.374</c:v>
                </c:pt>
              </c:numCache>
            </c:numRef>
          </c:val>
        </c:ser>
        <c:ser>
          <c:idx val="1"/>
          <c:order val="1"/>
          <c:tx>
            <c:strRef>
              <c:f>Sheet1!$C$1</c:f>
              <c:strCache>
                <c:ptCount val="1"/>
                <c:pt idx="0">
                  <c:v>Marine fuel oil</c:v>
                </c:pt>
              </c:strCache>
            </c:strRef>
          </c:tx>
          <c:spPr>
            <a:solidFill>
              <a:srgbClr val="6E6E68"/>
            </a:solidFill>
            <a:effectLst/>
          </c:spPr>
          <c:invertIfNegative val="0"/>
          <c:dLbls>
            <c:numFmt formatCode="[&lt;0.1]&quot;&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NH₃, clean-fuel cracker · 1.579</c:v>
                  </c:pt>
                  <c:pt idx="1">
                    <c:v>NH₃, gas-fired cracker · 1.208</c:v>
                  </c:pt>
                  <c:pt idx="2">
                    <c:v>LH₂ route · 1.754</c:v>
                  </c:pt>
                </c:lvl>
              </c:multiLvlStrCache>
            </c:multiLvlStrRef>
          </c:cat>
          <c:val>
            <c:numRef>
              <c:f>Sheet1!$C$2:$C$4</c:f>
              <c:numCache>
                <c:formatCode>General</c:formatCode>
                <c:ptCount val="3"/>
                <c:pt idx="0">
                  <c:v>0.004</c:v>
                </c:pt>
                <c:pt idx="1">
                  <c:v>0.004</c:v>
                </c:pt>
                <c:pt idx="2">
                  <c:v>0.025</c:v>
                </c:pt>
              </c:numCache>
            </c:numRef>
          </c:val>
        </c:ser>
        <c:ser>
          <c:idx val="2"/>
          <c:order val="2"/>
          <c:tx>
            <c:strRef>
              <c:f>Sheet1!$D$1</c:f>
              <c:strCache>
                <c:ptCount val="1"/>
                <c:pt idx="0">
                  <c:v>Ammonia fuel</c:v>
                </c:pt>
              </c:strCache>
            </c:strRef>
          </c:tx>
          <c:spPr>
            <a:solidFill>
              <a:srgbClr val="2977D6"/>
            </a:solidFill>
            <a:effectLst/>
          </c:spPr>
          <c:invertIfNegative val="0"/>
          <c:dLbls>
            <c:numFmt formatCode="[&lt;0.1]&quot;&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NH₃, clean-fuel cracker · 1.579</c:v>
                  </c:pt>
                  <c:pt idx="1">
                    <c:v>NH₃, gas-fired cracker · 1.208</c:v>
                  </c:pt>
                  <c:pt idx="2">
                    <c:v>LH₂ route · 1.754</c:v>
                  </c:pt>
                </c:lvl>
              </c:multiLvlStrCache>
            </c:multiLvlStrRef>
          </c:cat>
          <c:val>
            <c:numRef>
              <c:f>Sheet1!$D$2:$D$4</c:f>
              <c:numCache>
                <c:formatCode>General</c:formatCode>
                <c:ptCount val="3"/>
                <c:pt idx="0">
                  <c:v>1.352</c:v>
                </c:pt>
                <c:pt idx="1">
                  <c:v>0.84</c:v>
                </c:pt>
                <c:pt idx="2">
                  <c:v>0</c:v>
                </c:pt>
              </c:numCache>
            </c:numRef>
          </c:val>
        </c:ser>
        <c:ser>
          <c:idx val="3"/>
          <c:order val="3"/>
          <c:tx>
            <c:strRef>
              <c:f>Sheet1!$E$1</c:f>
              <c:strCache>
                <c:ptCount val="1"/>
                <c:pt idx="0">
                  <c:v>Natural gas</c:v>
                </c:pt>
              </c:strCache>
            </c:strRef>
          </c:tx>
          <c:spPr>
            <a:solidFill>
              <a:srgbClr val="0B7FA8"/>
            </a:solidFill>
            <a:effectLst/>
          </c:spPr>
          <c:invertIfNegative val="0"/>
          <c:dLbls>
            <c:numFmt formatCode="[&lt;0.1]&quot;&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NH₃, clean-fuel cracker · 1.579</c:v>
                  </c:pt>
                  <c:pt idx="1">
                    <c:v>NH₃, gas-fired cracker · 1.208</c:v>
                  </c:pt>
                  <c:pt idx="2">
                    <c:v>LH₂ route · 1.754</c:v>
                  </c:pt>
                </c:lvl>
              </c:multiLvlStrCache>
            </c:multiLvlStrRef>
          </c:cat>
          <c:val>
            <c:numRef>
              <c:f>Sheet1!$E$2:$E$4</c:f>
              <c:numCache>
                <c:formatCode>General</c:formatCode>
                <c:ptCount val="3"/>
                <c:pt idx="0">
                  <c:v>0</c:v>
                </c:pt>
                <c:pt idx="1">
                  <c:v>0.16</c:v>
                </c:pt>
                <c:pt idx="2">
                  <c:v>0</c:v>
                </c:pt>
              </c:numCache>
            </c:numRef>
          </c:val>
        </c:ser>
        <c:ser>
          <c:idx val="4"/>
          <c:order val="4"/>
          <c:tx>
            <c:strRef>
              <c:f>Sheet1!$F$1</c:f>
              <c:strCache>
                <c:ptCount val="1"/>
                <c:pt idx="0">
                  <c:v>Import terminal electricity</c:v>
                </c:pt>
              </c:strCache>
            </c:strRef>
          </c:tx>
          <c:spPr>
            <a:solidFill>
              <a:srgbClr val="B4AAE6"/>
            </a:solidFill>
            <a:effectLst/>
          </c:spPr>
          <c:invertIfNegative val="0"/>
          <c:dLbls>
            <c:numFmt formatCode="[&lt;0.1]&quot;&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NH₃, clean-fuel cracker · 1.579</c:v>
                  </c:pt>
                  <c:pt idx="1">
                    <c:v>NH₃, gas-fired cracker · 1.208</c:v>
                  </c:pt>
                  <c:pt idx="2">
                    <c:v>LH₂ route · 1.754</c:v>
                  </c:pt>
                </c:lvl>
              </c:multiLvlStrCache>
            </c:multiLvlStrRef>
          </c:cat>
          <c:val>
            <c:numRef>
              <c:f>Sheet1!$F$2:$F$4</c:f>
              <c:numCache>
                <c:formatCode>General</c:formatCode>
                <c:ptCount val="3"/>
                <c:pt idx="0">
                  <c:v>0.041</c:v>
                </c:pt>
                <c:pt idx="1">
                  <c:v>0.041</c:v>
                </c:pt>
                <c:pt idx="2">
                  <c:v>0.007</c:v>
                </c:pt>
              </c:numCache>
            </c:numRef>
          </c:val>
        </c:ser>
        <c:ser>
          <c:idx val="5"/>
          <c:order val="5"/>
          <c:tx>
            <c:strRef>
              <c:f>Sheet1!$G$1</c:f>
              <c:strCache>
                <c:ptCount val="1"/>
                <c:pt idx="0">
                  <c:v>Cargo H₂ burned as ship fuel</c:v>
                </c:pt>
              </c:strCache>
            </c:strRef>
          </c:tx>
          <c:spPr>
            <a:solidFill>
              <a:srgbClr val="1F2933"/>
            </a:solidFill>
            <a:effectLst/>
          </c:spPr>
          <c:invertIfNegative val="0"/>
          <c:dLbls>
            <c:numFmt formatCode="[&lt;0.1]&quot;&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NH₃, clean-fuel cracker · 1.579</c:v>
                  </c:pt>
                  <c:pt idx="1">
                    <c:v>NH₃, gas-fired cracker · 1.208</c:v>
                  </c:pt>
                  <c:pt idx="2">
                    <c:v>LH₂ route · 1.754</c:v>
                  </c:pt>
                </c:lvl>
              </c:multiLvlStrCache>
            </c:multiLvlStrRef>
          </c:cat>
          <c:val>
            <c:numRef>
              <c:f>Sheet1!$G$2:$G$4</c:f>
              <c:numCache>
                <c:formatCode>General</c:formatCode>
                <c:ptCount val="3"/>
                <c:pt idx="0">
                  <c:v>0</c:v>
                </c:pt>
                <c:pt idx="1">
                  <c:v>0</c:v>
                </c:pt>
                <c:pt idx="2">
                  <c:v>0.348</c:v>
                </c:pt>
              </c:numCache>
            </c:numRef>
          </c:val>
        </c:ser>
        <c:dLbls>
          <c:numFmt formatCode="[&lt;0.1]&quot;&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A3935"/>
                </a:solidFill>
                <a:latin typeface="+mn-lt"/>
              </a:defRPr>
            </a:pPr>
            <a:endParaRPr lang="en-US"/>
          </a:p>
        </c:txPr>
        <c:crossAx val="2094734552"/>
        <c:crosses val="autoZero"/>
        <c:auto val="1"/>
        <c:lblAlgn val="ctr"/>
        <c:noMultiLvlLbl val="1"/>
      </c:catAx>
      <c:valAx>
        <c:axId val="2094734552"/>
        <c:scaling>
          <c:orientation val="minMax"/>
          <c:max val="2"/>
          <c:min val="0"/>
        </c:scaling>
        <c:delete val="0"/>
        <c:axPos val="b"/>
        <c:majorGridlines>
          <c:spPr>
            <a:ln w="9525" cap="flat">
              <a:solidFill>
                <a:srgbClr val="E8E8E4"/>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3A3935"/>
                </a:solidFill>
                <a:latin typeface="+mn-lt"/>
              </a:defRPr>
            </a:pPr>
            <a:endParaRPr lang="en-US"/>
          </a:p>
        </c:txPr>
        <c:crossAx val="2094734554"/>
        <c:crosses val="autoZero"/>
        <c:crossBetween val="between"/>
        <c:majorUnit val="0.5"/>
      </c:valAx>
      <c:spPr>
        <a:noFill/>
        <a:ln>
          <a:noFill/>
        </a:ln>
        <a:effectLst/>
      </c:spPr>
    </c:plotArea>
    <c:legend>
      <c:legendPos val="t"/>
      <c:overlay val="0"/>
      <c:txPr>
        <a:bodyPr/>
        <a:lstStyle/>
        <a:p>
          <a:pPr>
            <a:defRPr sz="1200">
              <a:solidFill>
                <a:srgbClr val="3A393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walk all departments through the LH2 Value Chain Technology Database, Rev 0 (18 Sep 2026): what it covers, the key numbers, and what is still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document, four links in the chain plus four cross-cutting sections. Hydrogen production itself is outside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to remember. The ortho-para point explains why liquefiers include catalysts and why boil-off is never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Linde-Hampson is simple but energy hungry; Claude adds expansion turbines; Brayton is used for pre-cooling. Most commercial plants run modified Claude cycles. The shaded zone cannot be reached by any liquefier.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Linde and Air Liquide build the largest liquefiers; Chart supplies equipment; Plug Power integrates electrolysis and liquefaction; Kawasaki covers liquefaction, ships and terminals.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plants built in the last 20 years are 5 to 35 t/day. Incheon (SK E&amp;S, Air Liquide equipment) is three 30 t/day trains. The dark bar is Kawasaki's design train, not a built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Bigger tanks lose less per tonne because of their smaller surface-to-volume ratio. 0.1 %/day is the planning value used across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Suiso Frontier proved the concept in 2022. The 40,000 m3 carrier was contracted in January 2026 with an ocean-going demonstration targeted by FY2030. 128x is 160,000 divided by 1,250.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values the rest of the database and Section 13 build on. The ship's dual-fuel engine is still in development, so the 0.2 %/day burned as fuel is not yet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LH2 export terminal has been built at this scale, hence the wide range. The chart applies the database's own scaling rule to show why bigger liquefiers are cheaper per tonne.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Regulation is an open item for any LH2 project outside Japan. Each gap below is something we would need to resolve before committing to a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 MW is liquefaction only, at 8-9 kWh/kg; producing the hydrogen is extra. The 3.4 %/day figure comes from small-scale Suiso Frontier studies and is a reference value, not project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ship size, same distance, same end product. The NH3 cargo carries 1.72 times more hydrogen, but has to be cracked back at the far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LH2's energy sits upstream in the liquefier; ammonia's sits downstream in the cracker. LH2 delivers more of the hydrogen it starts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the liquefier is LH2's big cost, the cracker is ammonia's. Net, LH2 uses 1.9 kWh/kg more on these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the ammonia route fixed and sweep the liquefier's energy use. The LH2 line rises with the liquefier energy; the NH3 lines are flat. They would cross at 3.27 kWh/kg with the placeholder Haber-Bosch demand and at 0.94 kWh/kg with the team's 1 kWh/kg H2. Both points sit inside the shaded region, below the minimum work to liquefy hydrogen, so no liquefier can reach them. Even at the top of the placeholder range, 0.7 kWh/kg NH3, the crossing is 3.83 kWh/kg, just below 3.9. Liquefaction cannot be engineered into a win on upstream electricity; it could only win if the ammonia plant drew far more than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Haber-Bosch energy is the swing input: the team value of 1 kWh/kg H2 may exclude the air separation unit. The placeholder range with air separation, 2.8-3.9 kWh/kg H2, is above the break-even.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both routes started from the same hydrogen gas. In practice each route consumes a different amount of hydrogen for the same delivery: 2,832 t per LH2 cargo and 4,871 t per NH3 cargo. Adding the electrolysis of that hydrogen on top of the earlier chain makes electrolysis 83-87 % of the energy. The NH3 routes pay more for it because they lose more hydrogen, which outweighs what they save in the rest of the chain. One point needs care: the earlier chain counts hydrogen burned on the ship and ammonia burned in the cracker as energy used, and once electrolysis is added those are already paid for, so counting them again overstates the totals. The corrected totals are 75.59, 76.35 and 80.53 kWh/kg, and LH2 is still lowest but by only about 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Plotted is the energy of each NH3 route minus the LH2 route as the electrolyser energy changes; above zero means NH3 uses more. As computed, gas-fired NH3 and LH2 tie at about 26 kWh/kg, below the 33.3 kWh/kg that the hydrogen itself contains, so LH2 would lead for any electrolyser above that. With the overlap removed they tie at about 50 kWh/kg, and the clean-fuel route at about 35. So the electrolyser energy needs a sourced value before the ranking can be settled. On cost, charging the hydrogen feed through the electrolysis electricity at USD 140/MWh makes the feed by far the largest cost, and the gap between the routes shrinks from USD 0.545 to USD 0.21 per kg. Gas-fired NH3 stays cheapest because part of its energy is natural gas, about USD 44/MWh against USD 140/MWh for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energy is priced: no capital, charter, port, carbon or hydrogen-feed cost. The hydrogen price only affects LH2, through the cargo it burns.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screening view of energy and energy cost. The capital-cost and shipping-economics comparison still needs feasibility-study cost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inputs to firm up next. The first two matter most for the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320040" y="2377440"/>
            <a:ext cx="6309360" cy="1874520"/>
          </a:xfrm>
          <a:prstGeom prst="rect">
            <a:avLst/>
          </a:prstGeom>
          <a:noFill/>
          <a:ln/>
        </p:spPr>
        <p:txBody>
          <a:bodyPr wrap="square" rtlCol="0"/>
          <a:lstStyle>
            <a:lvl1pPr algn="l" indent="0" marL="0">
              <a:buNone/>
              <a:defRPr lang="en-US" sz="3200" b="1" dirty="0">
                <a:solidFill>
                  <a:schemeClr val="bg1"/>
                </a:solidFill>
                <a:latin typeface="Verdana" pitchFamily="34" charset="0"/>
                <a:ea typeface="Verdana" pitchFamily="34" charset="-122"/>
                <a:cs typeface="Verdana" pitchFamily="34" charset="-120"/>
              </a:defRPr>
            </a:lvl1pPr>
          </a:lstStyle>
          <a:p>
            <a:pPr algn="l" indent="0" marL="0">
              <a:buNone/>
            </a:pPr>
            <a:endParaRPr lang="en-US" sz="3200" dirty="0"/>
          </a:p>
        </p:txBody>
      </p:sp>
      <p:sp>
        <p:nvSpPr>
          <p:cNvPr id="3" name="Text 0"/>
          <p:cNvSpPr/>
          <p:nvPr>
            <p:ph idx="101" type="body" hasCustomPrompt="1"/>
          </p:nvPr>
        </p:nvSpPr>
        <p:spPr>
          <a:xfrm>
            <a:off x="320040" y="4370832"/>
            <a:ext cx="6309360" cy="457200"/>
          </a:xfrm>
          <a:prstGeom prst="rect">
            <a:avLst/>
          </a:prstGeom>
          <a:noFill/>
          <a:ln/>
        </p:spPr>
        <p:txBody>
          <a:bodyPr wrap="square" rtlCol="0"/>
          <a:lstStyle>
            <a:lvl1pPr algn="l" indent="0" marL="0">
              <a:buNone/>
              <a:defRPr lang="en-US" sz="1800" dirty="0">
                <a:solidFill>
                  <a:schemeClr val="bg1"/>
                </a:solidFill>
                <a:latin typeface="Verdana" pitchFamily="34" charset="0"/>
                <a:ea typeface="Verdana" pitchFamily="34" charset="-122"/>
                <a:cs typeface="Verdana"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ADIN">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813048" y="45720"/>
            <a:ext cx="4572000" cy="228600"/>
          </a:xfrm>
          <a:prstGeom prst="rect">
            <a:avLst/>
          </a:prstGeom>
          <a:noFill/>
          <a:ln/>
        </p:spPr>
        <p:txBody>
          <a:bodyPr wrap="square" lIns="0" tIns="0" rIns="0" bIns="0" rtlCol="0" anchor="ctr"/>
          <a:lstStyle/>
          <a:p>
            <a:pPr algn="ctr" indent="0" marL="0">
              <a:buNone/>
            </a:pPr>
            <a:r>
              <a:rPr lang="en-US" sz="1000" dirty="0">
                <a:solidFill>
                  <a:schemeClr val="accent5"/>
                </a:solidFill>
              </a:rPr>
              <a:t>Confidential - For PETRONAS Staff Only</a:t>
            </a:r>
            <a:endParaRPr lang="en-US" sz="1000" dirty="0"/>
          </a:p>
        </p:txBody>
      </p:sp>
      <p:sp>
        <p:nvSpPr>
          <p:cNvPr id="3" name="Text 1"/>
          <p:cNvSpPr/>
          <p:nvPr>
            <p:ph idx="101" type="title" hasCustomPrompt="1"/>
          </p:nvPr>
        </p:nvSpPr>
        <p:spPr>
          <a:xfrm>
            <a:off x="548640" y="347472"/>
            <a:ext cx="11091672" cy="868680"/>
          </a:xfrm>
          <a:prstGeom prst="rect">
            <a:avLst/>
          </a:prstGeom>
          <a:noFill/>
          <a:ln/>
        </p:spPr>
        <p:txBody>
          <a:bodyPr wrap="square" rtlCol="0"/>
          <a:lstStyle>
            <a:lvl1pPr algn="l" indent="0" marL="0">
              <a:buNone/>
              <a:defRPr lang="en-US" sz="2800" b="1" dirty="0">
                <a:solidFill>
                  <a:schemeClr val="accent1"/>
                </a:solidFill>
              </a:defRPr>
            </a:lvl1pPr>
          </a:lstStyle>
          <a:p>
            <a:pPr algn="l" indent="0" marL="0">
              <a:buNone/>
            </a:pPr>
            <a:endParaRPr lang="en-US" sz="2800" dirty="0"/>
          </a:p>
        </p:txBody>
      </p:sp>
      <p:sp>
        <p:nvSpPr>
          <p:cNvPr id="4" name="Text 1"/>
          <p:cNvSpPr/>
          <p:nvPr>
            <p:ph idx="102" type="body" hasCustomPrompt="1"/>
          </p:nvPr>
        </p:nvSpPr>
        <p:spPr>
          <a:xfrm>
            <a:off x="548640" y="6446520"/>
            <a:ext cx="9875520" cy="274320"/>
          </a:xfrm>
          <a:prstGeom prst="rect">
            <a:avLst/>
          </a:prstGeom>
          <a:noFill/>
          <a:ln/>
        </p:spPr>
        <p:txBody>
          <a:bodyPr wrap="square" rtlCol="0"/>
          <a:lstStyle>
            <a:lvl1pPr indent="0" marL="0">
              <a:buNone/>
              <a:defRPr lang="en-US" sz="1100" dirty="0">
                <a:solidFill>
                  <a:schemeClr val="tx1"/>
                </a:solidFill>
              </a:defRPr>
            </a:lvl1pPr>
          </a:lstStyle>
          <a:p>
            <a:pPr indent="0" marL="0">
              <a:buNone/>
            </a:pP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8-1.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320040" y="2377440"/>
            <a:ext cx="6309360" cy="1874520"/>
          </a:xfrm>
          <a:prstGeom prst="rect">
            <a:avLst/>
          </a:prstGeom>
          <a:noFill/>
          <a:ln/>
        </p:spPr>
        <p:txBody>
          <a:bodyPr wrap="square" lIns="0" tIns="0" rIns="0" bIns="0" rtlCol="0" anchor="b"/>
          <a:lstStyle/>
          <a:p>
            <a:pPr algn="l" indent="0" marL="0">
              <a:buNone/>
            </a:pPr>
            <a:r>
              <a:rPr lang="en-US" sz="3200" b="1" dirty="0">
                <a:solidFill>
                  <a:schemeClr val="bg1"/>
                </a:solidFill>
                <a:latin typeface="Verdana" pitchFamily="34" charset="0"/>
                <a:ea typeface="Verdana" pitchFamily="34" charset="-122"/>
                <a:cs typeface="Verdana" pitchFamily="34" charset="-120"/>
              </a:rPr>
              <a:t>LH</a:t>
            </a:r>
            <a:pPr algn="l" indent="0" marL="0">
              <a:buNone/>
            </a:pPr>
            <a:r>
              <a:rPr lang="en-US" sz="3200" b="1" baseline="-40000" dirty="0">
                <a:solidFill>
                  <a:schemeClr val="bg1"/>
                </a:solidFill>
                <a:latin typeface="Verdana" pitchFamily="34" charset="0"/>
                <a:ea typeface="Verdana" pitchFamily="34" charset="-122"/>
                <a:cs typeface="Verdana" pitchFamily="34" charset="-120"/>
              </a:rPr>
              <a:t>2</a:t>
            </a:r>
            <a:pPr algn="l" indent="0" marL="0">
              <a:buNone/>
            </a:pPr>
            <a:r>
              <a:rPr lang="en-US" sz="3200" b="1" dirty="0">
                <a:solidFill>
                  <a:schemeClr val="bg1"/>
                </a:solidFill>
                <a:latin typeface="Verdana" pitchFamily="34" charset="0"/>
                <a:ea typeface="Verdana" pitchFamily="34" charset="-122"/>
                <a:cs typeface="Verdana" pitchFamily="34" charset="-120"/>
              </a:rPr>
              <a:t> Value Chain: Technology Database Syndication</a:t>
            </a:r>
            <a:endParaRPr lang="en-US" sz="3200" dirty="0"/>
          </a:p>
        </p:txBody>
      </p:sp>
      <p:sp>
        <p:nvSpPr>
          <p:cNvPr id="3" name="Text 0"/>
          <p:cNvSpPr/>
          <p:nvPr>
            <p:ph idx="101" type="body" hasCustomPrompt="1"/>
          </p:nvPr>
        </p:nvSpPr>
        <p:spPr>
          <a:xfrm>
            <a:off x="320040" y="4370832"/>
            <a:ext cx="6309360" cy="457200"/>
          </a:xfrm>
          <a:prstGeom prst="rect">
            <a:avLst/>
          </a:prstGeom>
          <a:noFill/>
          <a:ln/>
        </p:spPr>
        <p:txBody>
          <a:bodyPr wrap="square" lIns="0" tIns="0" rIns="0" bIns="0" rtlCol="0" anchor="ctr"/>
          <a:lstStyle/>
          <a:p>
            <a:pPr algn="l" indent="0" marL="0">
              <a:buNone/>
            </a:pPr>
            <a:r>
              <a:rPr lang="en-US" sz="1800" dirty="0">
                <a:solidFill>
                  <a:schemeClr val="bg1"/>
                </a:solidFill>
                <a:latin typeface="Verdana" pitchFamily="34" charset="0"/>
                <a:ea typeface="Verdana" pitchFamily="34" charset="-122"/>
                <a:cs typeface="Verdana" pitchFamily="34" charset="-120"/>
              </a:rPr>
              <a:t>Rev 0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The database is a single reference for the LH₂ chain, from the liquefier to hydrogen gas at the import terminal, in 13 sections</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scope and structure</a:t>
            </a:r>
            <a:endParaRPr lang="en-US" sz="1100" dirty="0"/>
          </a:p>
        </p:txBody>
      </p:sp>
      <p:sp>
        <p:nvSpPr>
          <p:cNvPr id="5" name="chain-step-1"/>
          <p:cNvSpPr/>
          <p:nvPr/>
        </p:nvSpPr>
        <p:spPr>
          <a:xfrm>
            <a:off x="548640" y="1508760"/>
            <a:ext cx="2635758" cy="777240"/>
          </a:xfrm>
          <a:prstGeom prst="homePlate">
            <a:avLst/>
          </a:prstGeom>
          <a:solidFill>
            <a:srgbClr val="60269E"/>
          </a:solidFill>
          <a:ln w="12700">
            <a:solidFill>
              <a:srgbClr val="60269E"/>
            </a:solidFill>
            <a:prstDash val="solid"/>
          </a:ln>
        </p:spPr>
      </p:sp>
      <p:sp>
        <p:nvSpPr>
          <p:cNvPr id="6" name="Text 3"/>
          <p:cNvSpPr txBox="1"/>
          <p:nvPr/>
        </p:nvSpPr>
        <p:spPr>
          <a:xfrm>
            <a:off x="731520" y="1508760"/>
            <a:ext cx="1949958" cy="777240"/>
          </a:xfrm>
          <a:prstGeom prst="rect">
            <a:avLst/>
          </a:prstGeom>
          <a:noFill/>
          <a:ln/>
        </p:spPr>
        <p:txBody>
          <a:bodyPr wrap="square" lIns="0" tIns="0" rIns="0" bIns="0" rtlCol="0" anchor="ctr"/>
          <a:lstStyle/>
          <a:p>
            <a:pPr indent="0" marL="0">
              <a:buNone/>
            </a:pPr>
            <a:r>
              <a:rPr lang="en-US" sz="1500" b="1" dirty="0">
                <a:solidFill>
                  <a:schemeClr val="bg1"/>
                </a:solidFill>
              </a:rPr>
              <a:t>Liquefaction</a:t>
            </a:r>
            <a:endParaRPr lang="en-US" sz="1500" dirty="0"/>
          </a:p>
        </p:txBody>
      </p:sp>
      <p:sp>
        <p:nvSpPr>
          <p:cNvPr id="7" name="chain-step-2"/>
          <p:cNvSpPr/>
          <p:nvPr/>
        </p:nvSpPr>
        <p:spPr>
          <a:xfrm>
            <a:off x="3367278" y="1508760"/>
            <a:ext cx="2635758" cy="777240"/>
          </a:xfrm>
          <a:prstGeom prst="chevron">
            <a:avLst/>
          </a:prstGeom>
          <a:solidFill>
            <a:srgbClr val="60269E"/>
          </a:solidFill>
          <a:ln w="12700">
            <a:solidFill>
              <a:srgbClr val="60269E"/>
            </a:solidFill>
            <a:prstDash val="solid"/>
          </a:ln>
        </p:spPr>
      </p:sp>
      <p:sp>
        <p:nvSpPr>
          <p:cNvPr id="8" name="Text 5"/>
          <p:cNvSpPr txBox="1"/>
          <p:nvPr/>
        </p:nvSpPr>
        <p:spPr>
          <a:xfrm>
            <a:off x="3778758" y="1508760"/>
            <a:ext cx="1949958" cy="777240"/>
          </a:xfrm>
          <a:prstGeom prst="rect">
            <a:avLst/>
          </a:prstGeom>
          <a:noFill/>
          <a:ln/>
        </p:spPr>
        <p:txBody>
          <a:bodyPr wrap="square" lIns="0" tIns="0" rIns="0" bIns="0" rtlCol="0" anchor="ctr"/>
          <a:lstStyle/>
          <a:p>
            <a:pPr indent="0" marL="0">
              <a:buNone/>
            </a:pPr>
            <a:r>
              <a:rPr lang="en-US" sz="1500" b="1" dirty="0">
                <a:solidFill>
                  <a:schemeClr val="bg1"/>
                </a:solidFill>
              </a:rPr>
              <a:t>Export storage &amp; loading</a:t>
            </a:r>
            <a:endParaRPr lang="en-US" sz="1500" dirty="0"/>
          </a:p>
        </p:txBody>
      </p:sp>
      <p:sp>
        <p:nvSpPr>
          <p:cNvPr id="9" name="chain-step-3"/>
          <p:cNvSpPr/>
          <p:nvPr/>
        </p:nvSpPr>
        <p:spPr>
          <a:xfrm>
            <a:off x="6185916" y="1508760"/>
            <a:ext cx="2635758" cy="777240"/>
          </a:xfrm>
          <a:prstGeom prst="chevron">
            <a:avLst/>
          </a:prstGeom>
          <a:solidFill>
            <a:srgbClr val="60269E"/>
          </a:solidFill>
          <a:ln w="12700">
            <a:solidFill>
              <a:srgbClr val="60269E"/>
            </a:solidFill>
            <a:prstDash val="solid"/>
          </a:ln>
        </p:spPr>
      </p:sp>
      <p:sp>
        <p:nvSpPr>
          <p:cNvPr id="10" name="Text 7"/>
          <p:cNvSpPr txBox="1"/>
          <p:nvPr/>
        </p:nvSpPr>
        <p:spPr>
          <a:xfrm>
            <a:off x="6597396" y="1508760"/>
            <a:ext cx="1949958" cy="777240"/>
          </a:xfrm>
          <a:prstGeom prst="rect">
            <a:avLst/>
          </a:prstGeom>
          <a:noFill/>
          <a:ln/>
        </p:spPr>
        <p:txBody>
          <a:bodyPr wrap="square" lIns="0" tIns="0" rIns="0" bIns="0" rtlCol="0" anchor="ctr"/>
          <a:lstStyle/>
          <a:p>
            <a:pPr indent="0" marL="0">
              <a:buNone/>
            </a:pPr>
            <a:r>
              <a:rPr lang="en-US" sz="1500" b="1" dirty="0">
                <a:solidFill>
                  <a:schemeClr val="bg1"/>
                </a:solidFill>
              </a:rPr>
              <a:t>Shipping</a:t>
            </a:r>
            <a:endParaRPr lang="en-US" sz="1500" dirty="0"/>
          </a:p>
        </p:txBody>
      </p:sp>
      <p:sp>
        <p:nvSpPr>
          <p:cNvPr id="11" name="chain-step-4"/>
          <p:cNvSpPr/>
          <p:nvPr/>
        </p:nvSpPr>
        <p:spPr>
          <a:xfrm>
            <a:off x="9004554" y="1508760"/>
            <a:ext cx="2635758" cy="777240"/>
          </a:xfrm>
          <a:prstGeom prst="chevron">
            <a:avLst/>
          </a:prstGeom>
          <a:solidFill>
            <a:srgbClr val="60269E"/>
          </a:solidFill>
          <a:ln w="12700">
            <a:solidFill>
              <a:srgbClr val="60269E"/>
            </a:solidFill>
            <a:prstDash val="solid"/>
          </a:ln>
        </p:spPr>
      </p:sp>
      <p:sp>
        <p:nvSpPr>
          <p:cNvPr id="12" name="Text 9"/>
          <p:cNvSpPr txBox="1"/>
          <p:nvPr/>
        </p:nvSpPr>
        <p:spPr>
          <a:xfrm>
            <a:off x="9416034" y="1508760"/>
            <a:ext cx="1949958" cy="777240"/>
          </a:xfrm>
          <a:prstGeom prst="rect">
            <a:avLst/>
          </a:prstGeom>
          <a:noFill/>
          <a:ln/>
        </p:spPr>
        <p:txBody>
          <a:bodyPr wrap="square" lIns="0" tIns="0" rIns="0" bIns="0" rtlCol="0" anchor="ctr"/>
          <a:lstStyle/>
          <a:p>
            <a:pPr indent="0" marL="0">
              <a:buNone/>
            </a:pPr>
            <a:r>
              <a:rPr lang="en-US" sz="1500" b="1" dirty="0">
                <a:solidFill>
                  <a:schemeClr val="bg1"/>
                </a:solidFill>
              </a:rPr>
              <a:t>Import &amp; regasification</a:t>
            </a:r>
            <a:endParaRPr lang="en-US" sz="1500" dirty="0"/>
          </a:p>
        </p:txBody>
      </p:sp>
      <p:sp>
        <p:nvSpPr>
          <p:cNvPr id="13" name="covers-1"/>
          <p:cNvSpPr/>
          <p:nvPr/>
        </p:nvSpPr>
        <p:spPr>
          <a:xfrm>
            <a:off x="548640" y="2468880"/>
            <a:ext cx="2635758" cy="1600200"/>
          </a:xfrm>
          <a:prstGeom prst="roundRect">
            <a:avLst>
              <a:gd name="adj" fmla="val 3429"/>
            </a:avLst>
          </a:prstGeom>
          <a:solidFill>
            <a:srgbClr val="F1EAF6"/>
          </a:solidFill>
          <a:ln w="9525">
            <a:solidFill>
              <a:srgbClr val="F1EAF6"/>
            </a:solidFill>
            <a:prstDash val="solid"/>
          </a:ln>
        </p:spPr>
      </p:sp>
      <p:sp>
        <p:nvSpPr>
          <p:cNvPr id="14" name="Text 11"/>
          <p:cNvSpPr txBox="1"/>
          <p:nvPr/>
        </p:nvSpPr>
        <p:spPr>
          <a:xfrm>
            <a:off x="713232" y="2606040"/>
            <a:ext cx="2306574" cy="868680"/>
          </a:xfrm>
          <a:prstGeom prst="rect">
            <a:avLst/>
          </a:prstGeom>
          <a:noFill/>
          <a:ln/>
        </p:spPr>
        <p:txBody>
          <a:bodyPr wrap="square" lIns="0" tIns="0" rIns="0" bIns="0" rtlCol="0" anchor="t"/>
          <a:lstStyle/>
          <a:p>
            <a:pPr indent="0" marL="0">
              <a:buNone/>
            </a:pPr>
            <a:r>
              <a:rPr lang="en-US" sz="1500" dirty="0">
                <a:solidFill>
                  <a:schemeClr val="tx1"/>
                </a:solidFill>
              </a:rPr>
              <a:t>Properties, liquefaction cycles, technology players, plants built</a:t>
            </a:r>
            <a:endParaRPr lang="en-US" sz="1500" dirty="0"/>
          </a:p>
        </p:txBody>
      </p:sp>
      <p:sp>
        <p:nvSpPr>
          <p:cNvPr id="15" name="Text 12"/>
          <p:cNvSpPr txBox="1"/>
          <p:nvPr/>
        </p:nvSpPr>
        <p:spPr>
          <a:xfrm>
            <a:off x="713232" y="3520440"/>
            <a:ext cx="2306574" cy="411480"/>
          </a:xfrm>
          <a:prstGeom prst="rect">
            <a:avLst/>
          </a:prstGeom>
          <a:noFill/>
          <a:ln/>
        </p:spPr>
        <p:txBody>
          <a:bodyPr wrap="square" lIns="0" tIns="0" rIns="0" bIns="0" rtlCol="0" anchor="t"/>
          <a:lstStyle/>
          <a:p>
            <a:pPr indent="0" marL="0">
              <a:buNone/>
            </a:pPr>
            <a:r>
              <a:rPr lang="en-US" sz="1300" b="1" dirty="0">
                <a:solidFill>
                  <a:schemeClr val="accent4"/>
                </a:solidFill>
              </a:rPr>
              <a:t>Sections 1–5, 8.1, 10.1</a:t>
            </a:r>
            <a:endParaRPr lang="en-US" sz="1300" dirty="0"/>
          </a:p>
        </p:txBody>
      </p:sp>
      <p:sp>
        <p:nvSpPr>
          <p:cNvPr id="16" name="covers-2"/>
          <p:cNvSpPr/>
          <p:nvPr/>
        </p:nvSpPr>
        <p:spPr>
          <a:xfrm>
            <a:off x="3367278" y="2468880"/>
            <a:ext cx="2635758" cy="1600200"/>
          </a:xfrm>
          <a:prstGeom prst="roundRect">
            <a:avLst>
              <a:gd name="adj" fmla="val 3429"/>
            </a:avLst>
          </a:prstGeom>
          <a:solidFill>
            <a:srgbClr val="F1EAF6"/>
          </a:solidFill>
          <a:ln w="9525">
            <a:solidFill>
              <a:srgbClr val="F1EAF6"/>
            </a:solidFill>
            <a:prstDash val="solid"/>
          </a:ln>
        </p:spPr>
      </p:sp>
      <p:sp>
        <p:nvSpPr>
          <p:cNvPr id="17" name="Text 14"/>
          <p:cNvSpPr txBox="1"/>
          <p:nvPr/>
        </p:nvSpPr>
        <p:spPr>
          <a:xfrm>
            <a:off x="3531870" y="2606040"/>
            <a:ext cx="2306574" cy="868680"/>
          </a:xfrm>
          <a:prstGeom prst="rect">
            <a:avLst/>
          </a:prstGeom>
          <a:noFill/>
          <a:ln/>
        </p:spPr>
        <p:txBody>
          <a:bodyPr wrap="square" lIns="0" tIns="0" rIns="0" bIns="0" rtlCol="0" anchor="t"/>
          <a:lstStyle/>
          <a:p>
            <a:pPr indent="0" marL="0">
              <a:buNone/>
            </a:pPr>
            <a:r>
              <a:rPr lang="en-US" sz="1500" dirty="0">
                <a:solidFill>
                  <a:schemeClr val="tx1"/>
                </a:solidFill>
              </a:rPr>
              <a:t>Tank types, boil-off, export-terminal cost</a:t>
            </a:r>
            <a:endParaRPr lang="en-US" sz="1500" dirty="0"/>
          </a:p>
        </p:txBody>
      </p:sp>
      <p:sp>
        <p:nvSpPr>
          <p:cNvPr id="18" name="Text 15"/>
          <p:cNvSpPr txBox="1"/>
          <p:nvPr/>
        </p:nvSpPr>
        <p:spPr>
          <a:xfrm>
            <a:off x="3531870" y="3520440"/>
            <a:ext cx="2306574" cy="411480"/>
          </a:xfrm>
          <a:prstGeom prst="rect">
            <a:avLst/>
          </a:prstGeom>
          <a:noFill/>
          <a:ln/>
        </p:spPr>
        <p:txBody>
          <a:bodyPr wrap="square" lIns="0" tIns="0" rIns="0" bIns="0" rtlCol="0" anchor="t"/>
          <a:lstStyle/>
          <a:p>
            <a:pPr indent="0" marL="0">
              <a:buNone/>
            </a:pPr>
            <a:r>
              <a:rPr lang="en-US" sz="1300" b="1" dirty="0">
                <a:solidFill>
                  <a:schemeClr val="accent4"/>
                </a:solidFill>
              </a:rPr>
              <a:t>Sections 6, 8.2, 10.2</a:t>
            </a:r>
            <a:endParaRPr lang="en-US" sz="1300" dirty="0"/>
          </a:p>
        </p:txBody>
      </p:sp>
      <p:sp>
        <p:nvSpPr>
          <p:cNvPr id="19" name="covers-3"/>
          <p:cNvSpPr/>
          <p:nvPr/>
        </p:nvSpPr>
        <p:spPr>
          <a:xfrm>
            <a:off x="6185916" y="2468880"/>
            <a:ext cx="2635758" cy="1600200"/>
          </a:xfrm>
          <a:prstGeom prst="roundRect">
            <a:avLst>
              <a:gd name="adj" fmla="val 3429"/>
            </a:avLst>
          </a:prstGeom>
          <a:solidFill>
            <a:srgbClr val="F1EAF6"/>
          </a:solidFill>
          <a:ln w="9525">
            <a:solidFill>
              <a:srgbClr val="F1EAF6"/>
            </a:solidFill>
            <a:prstDash val="solid"/>
          </a:ln>
        </p:spPr>
      </p:sp>
      <p:sp>
        <p:nvSpPr>
          <p:cNvPr id="20" name="Text 17"/>
          <p:cNvSpPr txBox="1"/>
          <p:nvPr/>
        </p:nvSpPr>
        <p:spPr>
          <a:xfrm>
            <a:off x="6350508" y="2606040"/>
            <a:ext cx="2306574" cy="868680"/>
          </a:xfrm>
          <a:prstGeom prst="rect">
            <a:avLst/>
          </a:prstGeom>
          <a:noFill/>
          <a:ln/>
        </p:spPr>
        <p:txBody>
          <a:bodyPr wrap="square" lIns="0" tIns="0" rIns="0" bIns="0" rtlCol="0" anchor="t"/>
          <a:lstStyle/>
          <a:p>
            <a:pPr indent="0" marL="0">
              <a:buNone/>
            </a:pPr>
            <a:r>
              <a:rPr lang="en-US" sz="1500" dirty="0">
                <a:solidFill>
                  <a:schemeClr val="tx1"/>
                </a:solidFill>
              </a:rPr>
              <a:t>LH₂ carriers, marine projects, road and rail, ship boil-off</a:t>
            </a:r>
            <a:endParaRPr lang="en-US" sz="1500" dirty="0"/>
          </a:p>
        </p:txBody>
      </p:sp>
      <p:sp>
        <p:nvSpPr>
          <p:cNvPr id="21" name="Text 18"/>
          <p:cNvSpPr txBox="1"/>
          <p:nvPr/>
        </p:nvSpPr>
        <p:spPr>
          <a:xfrm>
            <a:off x="6350508" y="3520440"/>
            <a:ext cx="2306574" cy="411480"/>
          </a:xfrm>
          <a:prstGeom prst="rect">
            <a:avLst/>
          </a:prstGeom>
          <a:noFill/>
          <a:ln/>
        </p:spPr>
        <p:txBody>
          <a:bodyPr wrap="square" lIns="0" tIns="0" rIns="0" bIns="0" rtlCol="0" anchor="t"/>
          <a:lstStyle/>
          <a:p>
            <a:pPr indent="0" marL="0">
              <a:buNone/>
            </a:pPr>
            <a:r>
              <a:rPr lang="en-US" sz="1300" b="1" dirty="0">
                <a:solidFill>
                  <a:schemeClr val="accent4"/>
                </a:solidFill>
              </a:rPr>
              <a:t>Sections 7, 10.3, 12.2</a:t>
            </a:r>
            <a:endParaRPr lang="en-US" sz="1300" dirty="0"/>
          </a:p>
        </p:txBody>
      </p:sp>
      <p:sp>
        <p:nvSpPr>
          <p:cNvPr id="22" name="covers-4"/>
          <p:cNvSpPr/>
          <p:nvPr/>
        </p:nvSpPr>
        <p:spPr>
          <a:xfrm>
            <a:off x="9004554" y="2468880"/>
            <a:ext cx="2635758" cy="1600200"/>
          </a:xfrm>
          <a:prstGeom prst="roundRect">
            <a:avLst>
              <a:gd name="adj" fmla="val 3429"/>
            </a:avLst>
          </a:prstGeom>
          <a:solidFill>
            <a:srgbClr val="F1EAF6"/>
          </a:solidFill>
          <a:ln w="9525">
            <a:solidFill>
              <a:srgbClr val="F1EAF6"/>
            </a:solidFill>
            <a:prstDash val="solid"/>
          </a:ln>
        </p:spPr>
      </p:sp>
      <p:sp>
        <p:nvSpPr>
          <p:cNvPr id="23" name="Text 20"/>
          <p:cNvSpPr txBox="1"/>
          <p:nvPr/>
        </p:nvSpPr>
        <p:spPr>
          <a:xfrm>
            <a:off x="9169146" y="2606040"/>
            <a:ext cx="2306574" cy="868680"/>
          </a:xfrm>
          <a:prstGeom prst="rect">
            <a:avLst/>
          </a:prstGeom>
          <a:noFill/>
          <a:ln/>
        </p:spPr>
        <p:txBody>
          <a:bodyPr wrap="square" lIns="0" tIns="0" rIns="0" bIns="0" rtlCol="0" anchor="t"/>
          <a:lstStyle/>
          <a:p>
            <a:pPr indent="0" marL="0">
              <a:buNone/>
            </a:pPr>
            <a:r>
              <a:rPr lang="en-US" sz="1500" dirty="0">
                <a:solidFill>
                  <a:schemeClr val="tx1"/>
                </a:solidFill>
              </a:rPr>
              <a:t>Vaporisers and the receiving terminal</a:t>
            </a:r>
            <a:endParaRPr lang="en-US" sz="1500" dirty="0"/>
          </a:p>
        </p:txBody>
      </p:sp>
      <p:sp>
        <p:nvSpPr>
          <p:cNvPr id="24" name="Text 21"/>
          <p:cNvSpPr txBox="1"/>
          <p:nvPr/>
        </p:nvSpPr>
        <p:spPr>
          <a:xfrm>
            <a:off x="9169146" y="3520440"/>
            <a:ext cx="2306574" cy="411480"/>
          </a:xfrm>
          <a:prstGeom prst="rect">
            <a:avLst/>
          </a:prstGeom>
          <a:noFill/>
          <a:ln/>
        </p:spPr>
        <p:txBody>
          <a:bodyPr wrap="square" lIns="0" tIns="0" rIns="0" bIns="0" rtlCol="0" anchor="t"/>
          <a:lstStyle/>
          <a:p>
            <a:pPr indent="0" marL="0">
              <a:buNone/>
            </a:pPr>
            <a:r>
              <a:rPr lang="en-US" sz="1300" b="1" dirty="0">
                <a:solidFill>
                  <a:schemeClr val="accent4"/>
                </a:solidFill>
              </a:rPr>
              <a:t>Sections 9, 10.4</a:t>
            </a:r>
            <a:endParaRPr lang="en-US" sz="1300" dirty="0"/>
          </a:p>
        </p:txBody>
      </p:sp>
      <p:sp>
        <p:nvSpPr>
          <p:cNvPr id="25" name="cross-cutting"/>
          <p:cNvSpPr/>
          <p:nvPr/>
        </p:nvSpPr>
        <p:spPr>
          <a:xfrm>
            <a:off x="548640" y="4251960"/>
            <a:ext cx="11091672" cy="685800"/>
          </a:xfrm>
          <a:prstGeom prst="roundRect">
            <a:avLst>
              <a:gd name="adj" fmla="val 8000"/>
            </a:avLst>
          </a:prstGeom>
          <a:solidFill>
            <a:srgbClr val="FFFFFF"/>
          </a:solidFill>
          <a:ln w="9525">
            <a:solidFill>
              <a:srgbClr val="B4AAE6"/>
            </a:solidFill>
            <a:prstDash val="solid"/>
          </a:ln>
        </p:spPr>
      </p:sp>
      <p:sp>
        <p:nvSpPr>
          <p:cNvPr id="26" name="Text 23"/>
          <p:cNvSpPr txBox="1"/>
          <p:nvPr/>
        </p:nvSpPr>
        <p:spPr>
          <a:xfrm>
            <a:off x="731520" y="4251960"/>
            <a:ext cx="10725912" cy="685800"/>
          </a:xfrm>
          <a:prstGeom prst="rect">
            <a:avLst/>
          </a:prstGeom>
          <a:noFill/>
          <a:ln/>
        </p:spPr>
        <p:txBody>
          <a:bodyPr wrap="square" lIns="0" tIns="0" rIns="0" bIns="0" rtlCol="0" anchor="ctr"/>
          <a:lstStyle/>
          <a:p>
            <a:pPr indent="0" marL="0">
              <a:buNone/>
            </a:pPr>
            <a:r>
              <a:rPr lang="en-US" sz="1500" b="1" dirty="0">
                <a:solidFill>
                  <a:schemeClr val="accent4"/>
                </a:solidFill>
              </a:rPr>
              <a:t>Across the chain:  </a:t>
            </a:r>
            <a:pPr indent="0" marL="0">
              <a:buNone/>
            </a:pPr>
            <a:r>
              <a:rPr lang="en-US" sz="1500" dirty="0">
                <a:solidFill>
                  <a:schemeClr val="tx1"/>
                </a:solidFill>
              </a:rPr>
              <a:t>Export-facility cost (8)  ·  Regulation (11)  ·  Key challenges (12)  ·  LH₂ vs NH₃ as hydrogen carrier (13)</a:t>
            </a:r>
            <a:endParaRPr lang="en-US" sz="1500" dirty="0"/>
          </a:p>
        </p:txBody>
      </p:sp>
      <p:sp>
        <p:nvSpPr>
          <p:cNvPr id="27" name="basis-note"/>
          <p:cNvSpPr txBox="1"/>
          <p:nvPr/>
        </p:nvSpPr>
        <p:spPr>
          <a:xfrm>
            <a:off x="548640" y="5166360"/>
            <a:ext cx="11091672" cy="1097280"/>
          </a:xfrm>
          <a:prstGeom prst="rect">
            <a:avLst/>
          </a:prstGeom>
          <a:noFill/>
          <a:ln/>
        </p:spPr>
        <p:txBody>
          <a:bodyPr wrap="square" lIns="0" tIns="0" rIns="0" bIns="0" rtlCol="0" anchor="t"/>
          <a:lstStyle/>
          <a:p>
            <a:pPr indent="0" marL="0">
              <a:buNone/>
            </a:pPr>
            <a:r>
              <a:rPr lang="en-US" sz="1100" dirty="0">
                <a:solidFill>
                  <a:schemeClr val="tx1"/>
                </a:solidFill>
              </a:rPr>
              <a:t>Boundary: gaseous hydrogen at the export plant to gaseous hydrogen at import send-out; producing the hydrogen is outside the database. Use: technology benchmarking, project screening and preliminary techno-economic assessment.</a:t>
            </a:r>
            <a:endParaRPr lang="en-US" sz="1100" dirty="0"/>
          </a:p>
          <a:p>
            <a:pPr indent="0" marL="0">
              <a:buNone/>
            </a:pPr>
            <a:r>
              <a:rPr lang="en-US" sz="1100" dirty="0">
                <a:solidFill>
                  <a:schemeClr val="tx1"/>
                </a:solidFill>
              </a:rPr>
              <a:t>Rev 0, 18 Sep 2026. Prepared by Jasmin Suraya and Ungku M Zulhilmi Ungku Zakaria; reviewed by Wan M Ikhwan Wan Yussoff and Octavian Partenie; approved by Danial Khairi Ahmad; accepted by Alex Bower.</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Cooling hydrogen to −253 °C makes it about 800 times more compact than the gas, which is what makes bulk shipping possible</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Sections 1.1 and 2.2 · properties of liquid hydrogen</a:t>
            </a:r>
            <a:endParaRPr lang="en-US" sz="1100" dirty="0"/>
          </a:p>
        </p:txBody>
      </p:sp>
      <p:sp>
        <p:nvSpPr>
          <p:cNvPr id="5" name="stat-card-1"/>
          <p:cNvSpPr/>
          <p:nvPr/>
        </p:nvSpPr>
        <p:spPr>
          <a:xfrm>
            <a:off x="548640" y="1508760"/>
            <a:ext cx="2880360" cy="1920240"/>
          </a:xfrm>
          <a:prstGeom prst="roundRect">
            <a:avLst>
              <a:gd name="adj" fmla="val 2857"/>
            </a:avLst>
          </a:prstGeom>
          <a:solidFill>
            <a:srgbClr val="F1EAF6"/>
          </a:solidFill>
          <a:ln w="9525">
            <a:solidFill>
              <a:srgbClr val="F1EAF6"/>
            </a:solidFill>
            <a:prstDash val="solid"/>
          </a:ln>
        </p:spPr>
      </p:sp>
      <p:sp>
        <p:nvSpPr>
          <p:cNvPr id="6" name="stat-p0"/>
          <p:cNvSpPr txBox="1"/>
          <p:nvPr/>
        </p:nvSpPr>
        <p:spPr>
          <a:xfrm>
            <a:off x="777240" y="1691640"/>
            <a:ext cx="2468880" cy="640080"/>
          </a:xfrm>
          <a:prstGeom prst="rect">
            <a:avLst/>
          </a:prstGeom>
          <a:noFill/>
          <a:ln/>
        </p:spPr>
        <p:txBody>
          <a:bodyPr wrap="square" lIns="0" tIns="0" rIns="0" bIns="0" rtlCol="0" anchor="b"/>
          <a:lstStyle/>
          <a:p>
            <a:pPr indent="0" marL="0">
              <a:buNone/>
            </a:pPr>
            <a:r>
              <a:rPr lang="en-US" sz="3400" b="1" dirty="0">
                <a:solidFill>
                  <a:schemeClr val="accent4"/>
                </a:solidFill>
              </a:rPr>
              <a:t>−253 °C</a:t>
            </a:r>
            <a:endParaRPr lang="en-US" sz="3400" dirty="0"/>
          </a:p>
        </p:txBody>
      </p:sp>
      <p:sp>
        <p:nvSpPr>
          <p:cNvPr id="7" name="stat-label-p0"/>
          <p:cNvSpPr txBox="1"/>
          <p:nvPr/>
        </p:nvSpPr>
        <p:spPr>
          <a:xfrm>
            <a:off x="777240" y="2404872"/>
            <a:ext cx="2468880" cy="777240"/>
          </a:xfrm>
          <a:prstGeom prst="rect">
            <a:avLst/>
          </a:prstGeom>
          <a:noFill/>
          <a:ln/>
        </p:spPr>
        <p:txBody>
          <a:bodyPr wrap="square" lIns="0" tIns="0" rIns="0" bIns="0" rtlCol="0" anchor="t"/>
          <a:lstStyle/>
          <a:p>
            <a:pPr indent="0" marL="0">
              <a:buNone/>
            </a:pPr>
            <a:r>
              <a:rPr lang="en-US" sz="1400" dirty="0">
                <a:solidFill>
                  <a:schemeClr val="tx1"/>
                </a:solidFill>
              </a:rPr>
              <a:t>Boiling point at atmospheric pressure (about 20.3 K)</a:t>
            </a:r>
            <a:endParaRPr lang="en-US" sz="1400" dirty="0"/>
          </a:p>
        </p:txBody>
      </p:sp>
      <p:sp>
        <p:nvSpPr>
          <p:cNvPr id="8" name="stat-card-2"/>
          <p:cNvSpPr/>
          <p:nvPr/>
        </p:nvSpPr>
        <p:spPr>
          <a:xfrm>
            <a:off x="3611880" y="1508760"/>
            <a:ext cx="2880360" cy="1920240"/>
          </a:xfrm>
          <a:prstGeom prst="roundRect">
            <a:avLst>
              <a:gd name="adj" fmla="val 2857"/>
            </a:avLst>
          </a:prstGeom>
          <a:solidFill>
            <a:srgbClr val="F1EAF6"/>
          </a:solidFill>
          <a:ln w="9525">
            <a:solidFill>
              <a:srgbClr val="F1EAF6"/>
            </a:solidFill>
            <a:prstDash val="solid"/>
          </a:ln>
        </p:spPr>
      </p:sp>
      <p:sp>
        <p:nvSpPr>
          <p:cNvPr id="9" name="stat-p1"/>
          <p:cNvSpPr txBox="1"/>
          <p:nvPr/>
        </p:nvSpPr>
        <p:spPr>
          <a:xfrm>
            <a:off x="3840480" y="1691640"/>
            <a:ext cx="2468880" cy="640080"/>
          </a:xfrm>
          <a:prstGeom prst="rect">
            <a:avLst/>
          </a:prstGeom>
          <a:noFill/>
          <a:ln/>
        </p:spPr>
        <p:txBody>
          <a:bodyPr wrap="square" lIns="0" tIns="0" rIns="0" bIns="0" rtlCol="0" anchor="b"/>
          <a:lstStyle/>
          <a:p>
            <a:pPr indent="0" marL="0">
              <a:buNone/>
            </a:pPr>
            <a:r>
              <a:rPr lang="en-US" sz="3400" b="1" dirty="0">
                <a:solidFill>
                  <a:schemeClr val="accent4"/>
                </a:solidFill>
              </a:rPr>
              <a:t>70.8 kg/m³</a:t>
            </a:r>
            <a:endParaRPr lang="en-US" sz="3400" dirty="0"/>
          </a:p>
        </p:txBody>
      </p:sp>
      <p:sp>
        <p:nvSpPr>
          <p:cNvPr id="10" name="stat-label-p1"/>
          <p:cNvSpPr txBox="1"/>
          <p:nvPr/>
        </p:nvSpPr>
        <p:spPr>
          <a:xfrm>
            <a:off x="3840480" y="2404872"/>
            <a:ext cx="2468880" cy="777240"/>
          </a:xfrm>
          <a:prstGeom prst="rect">
            <a:avLst/>
          </a:prstGeom>
          <a:noFill/>
          <a:ln/>
        </p:spPr>
        <p:txBody>
          <a:bodyPr wrap="square" lIns="0" tIns="0" rIns="0" bIns="0" rtlCol="0" anchor="t"/>
          <a:lstStyle/>
          <a:p>
            <a:pPr indent="0" marL="0">
              <a:buNone/>
            </a:pPr>
            <a:r>
              <a:rPr lang="en-US" sz="1400" dirty="0">
                <a:solidFill>
                  <a:schemeClr val="tx1"/>
                </a:solidFill>
              </a:rPr>
              <a:t>Density of liquid hydrogen, against 0.0899 kg/m³ for the gas</a:t>
            </a:r>
            <a:endParaRPr lang="en-US" sz="1400" dirty="0"/>
          </a:p>
        </p:txBody>
      </p:sp>
      <p:sp>
        <p:nvSpPr>
          <p:cNvPr id="11" name="stat-card-3"/>
          <p:cNvSpPr/>
          <p:nvPr/>
        </p:nvSpPr>
        <p:spPr>
          <a:xfrm>
            <a:off x="548640" y="3611880"/>
            <a:ext cx="2880360" cy="1920240"/>
          </a:xfrm>
          <a:prstGeom prst="roundRect">
            <a:avLst>
              <a:gd name="adj" fmla="val 2857"/>
            </a:avLst>
          </a:prstGeom>
          <a:solidFill>
            <a:srgbClr val="F1EAF6"/>
          </a:solidFill>
          <a:ln w="9525">
            <a:solidFill>
              <a:srgbClr val="F1EAF6"/>
            </a:solidFill>
            <a:prstDash val="solid"/>
          </a:ln>
        </p:spPr>
      </p:sp>
      <p:sp>
        <p:nvSpPr>
          <p:cNvPr id="12" name="stat-p2"/>
          <p:cNvSpPr txBox="1"/>
          <p:nvPr/>
        </p:nvSpPr>
        <p:spPr>
          <a:xfrm>
            <a:off x="777240" y="3794760"/>
            <a:ext cx="2468880" cy="640080"/>
          </a:xfrm>
          <a:prstGeom prst="rect">
            <a:avLst/>
          </a:prstGeom>
          <a:noFill/>
          <a:ln/>
        </p:spPr>
        <p:txBody>
          <a:bodyPr wrap="square" lIns="0" tIns="0" rIns="0" bIns="0" rtlCol="0" anchor="b"/>
          <a:lstStyle/>
          <a:p>
            <a:pPr indent="0" marL="0">
              <a:buNone/>
            </a:pPr>
            <a:r>
              <a:rPr lang="en-US" sz="3400" b="1" dirty="0">
                <a:solidFill>
                  <a:schemeClr val="accent4"/>
                </a:solidFill>
              </a:rPr>
              <a:t>~800×</a:t>
            </a:r>
            <a:endParaRPr lang="en-US" sz="3400" dirty="0"/>
          </a:p>
        </p:txBody>
      </p:sp>
      <p:sp>
        <p:nvSpPr>
          <p:cNvPr id="13" name="stat-label-p2"/>
          <p:cNvSpPr txBox="1"/>
          <p:nvPr/>
        </p:nvSpPr>
        <p:spPr>
          <a:xfrm>
            <a:off x="777240" y="4507992"/>
            <a:ext cx="2468880" cy="777240"/>
          </a:xfrm>
          <a:prstGeom prst="rect">
            <a:avLst/>
          </a:prstGeom>
          <a:noFill/>
          <a:ln/>
        </p:spPr>
        <p:txBody>
          <a:bodyPr wrap="square" lIns="0" tIns="0" rIns="0" bIns="0" rtlCol="0" anchor="t"/>
          <a:lstStyle/>
          <a:p>
            <a:pPr indent="0" marL="0">
              <a:buNone/>
            </a:pPr>
            <a:r>
              <a:rPr lang="en-US" sz="1400" dirty="0">
                <a:solidFill>
                  <a:schemeClr val="tx1"/>
                </a:solidFill>
              </a:rPr>
              <a:t>Less storage volume than the gas at standard conditions</a:t>
            </a:r>
            <a:endParaRPr lang="en-US" sz="1400" dirty="0"/>
          </a:p>
        </p:txBody>
      </p:sp>
      <p:sp>
        <p:nvSpPr>
          <p:cNvPr id="14" name="stat-card-4"/>
          <p:cNvSpPr/>
          <p:nvPr/>
        </p:nvSpPr>
        <p:spPr>
          <a:xfrm>
            <a:off x="3611880" y="3611880"/>
            <a:ext cx="2880360" cy="1920240"/>
          </a:xfrm>
          <a:prstGeom prst="roundRect">
            <a:avLst>
              <a:gd name="adj" fmla="val 2857"/>
            </a:avLst>
          </a:prstGeom>
          <a:solidFill>
            <a:srgbClr val="F1EAF6"/>
          </a:solidFill>
          <a:ln w="9525">
            <a:solidFill>
              <a:srgbClr val="F1EAF6"/>
            </a:solidFill>
            <a:prstDash val="solid"/>
          </a:ln>
        </p:spPr>
      </p:sp>
      <p:sp>
        <p:nvSpPr>
          <p:cNvPr id="15" name="stat-p3"/>
          <p:cNvSpPr txBox="1"/>
          <p:nvPr/>
        </p:nvSpPr>
        <p:spPr>
          <a:xfrm>
            <a:off x="3840480" y="3794760"/>
            <a:ext cx="2468880" cy="640080"/>
          </a:xfrm>
          <a:prstGeom prst="rect">
            <a:avLst/>
          </a:prstGeom>
          <a:noFill/>
          <a:ln/>
        </p:spPr>
        <p:txBody>
          <a:bodyPr wrap="square" lIns="0" tIns="0" rIns="0" bIns="0" rtlCol="0" anchor="b"/>
          <a:lstStyle/>
          <a:p>
            <a:pPr indent="0" marL="0">
              <a:buNone/>
            </a:pPr>
            <a:r>
              <a:rPr lang="en-US" sz="3400" b="1" dirty="0">
                <a:solidFill>
                  <a:schemeClr val="accent4"/>
                </a:solidFill>
              </a:rPr>
              <a:t>120 MJ/kg</a:t>
            </a:r>
            <a:endParaRPr lang="en-US" sz="3400" dirty="0"/>
          </a:p>
        </p:txBody>
      </p:sp>
      <p:sp>
        <p:nvSpPr>
          <p:cNvPr id="16" name="stat-label-p3"/>
          <p:cNvSpPr txBox="1"/>
          <p:nvPr/>
        </p:nvSpPr>
        <p:spPr>
          <a:xfrm>
            <a:off x="3840480" y="4507992"/>
            <a:ext cx="2468880" cy="777240"/>
          </a:xfrm>
          <a:prstGeom prst="rect">
            <a:avLst/>
          </a:prstGeom>
          <a:noFill/>
          <a:ln/>
        </p:spPr>
        <p:txBody>
          <a:bodyPr wrap="square" lIns="0" tIns="0" rIns="0" bIns="0" rtlCol="0" anchor="t"/>
          <a:lstStyle/>
          <a:p>
            <a:pPr indent="0" marL="0">
              <a:buNone/>
            </a:pPr>
            <a:r>
              <a:rPr lang="en-US" sz="1400" dirty="0">
                <a:solidFill>
                  <a:schemeClr val="tx1"/>
                </a:solidFill>
              </a:rPr>
              <a:t>Lower heating value, the highest per kilogram of any fuel</a:t>
            </a:r>
            <a:endParaRPr lang="en-US" sz="1400" dirty="0"/>
          </a:p>
        </p:txBody>
      </p:sp>
      <p:sp>
        <p:nvSpPr>
          <p:cNvPr id="17" name="ortho-para-panel"/>
          <p:cNvSpPr/>
          <p:nvPr/>
        </p:nvSpPr>
        <p:spPr>
          <a:xfrm>
            <a:off x="6812280" y="1508760"/>
            <a:ext cx="4828032" cy="4023360"/>
          </a:xfrm>
          <a:prstGeom prst="roundRect">
            <a:avLst>
              <a:gd name="adj" fmla="val 1364"/>
            </a:avLst>
          </a:prstGeom>
          <a:solidFill>
            <a:srgbClr val="FFFFFF"/>
          </a:solidFill>
          <a:ln w="9525">
            <a:solidFill>
              <a:srgbClr val="E8E8E4"/>
            </a:solidFill>
            <a:prstDash val="solid"/>
          </a:ln>
        </p:spPr>
      </p:sp>
      <p:sp>
        <p:nvSpPr>
          <p:cNvPr id="18" name="Text 15"/>
          <p:cNvSpPr txBox="1"/>
          <p:nvPr/>
        </p:nvSpPr>
        <p:spPr>
          <a:xfrm>
            <a:off x="7040880" y="1645920"/>
            <a:ext cx="4389120" cy="365760"/>
          </a:xfrm>
          <a:prstGeom prst="rect">
            <a:avLst/>
          </a:prstGeom>
          <a:noFill/>
          <a:ln/>
        </p:spPr>
        <p:txBody>
          <a:bodyPr wrap="square" lIns="0" tIns="0" rIns="0" bIns="0" rtlCol="0" anchor="t"/>
          <a:lstStyle/>
          <a:p>
            <a:pPr indent="0" marL="0">
              <a:buNone/>
            </a:pPr>
            <a:r>
              <a:rPr lang="en-US" sz="1600" b="1" dirty="0">
                <a:solidFill>
                  <a:schemeClr val="tx2"/>
                </a:solidFill>
              </a:rPr>
              <a:t>Ortho-para conversion drives boil-off</a:t>
            </a:r>
            <a:endParaRPr lang="en-US" sz="1600" dirty="0"/>
          </a:p>
        </p:txBody>
      </p:sp>
      <p:sp>
        <p:nvSpPr>
          <p:cNvPr id="19" name="Text 16"/>
          <p:cNvSpPr txBox="1"/>
          <p:nvPr/>
        </p:nvSpPr>
        <p:spPr>
          <a:xfrm>
            <a:off x="7040880" y="2148840"/>
            <a:ext cx="4343400" cy="274320"/>
          </a:xfrm>
          <a:prstGeom prst="rect">
            <a:avLst/>
          </a:prstGeom>
          <a:noFill/>
          <a:ln/>
        </p:spPr>
        <p:txBody>
          <a:bodyPr wrap="square" lIns="0" tIns="0" rIns="0" bIns="0" rtlCol="0" anchor="t"/>
          <a:lstStyle/>
          <a:p>
            <a:pPr indent="0" marL="0">
              <a:buNone/>
            </a:pPr>
            <a:r>
              <a:rPr lang="en-US" sz="1300" dirty="0">
                <a:solidFill>
                  <a:schemeClr val="tx1"/>
                </a:solidFill>
              </a:rPr>
              <a:t>Room temperature</a:t>
            </a:r>
            <a:endParaRPr lang="en-US" sz="1300" dirty="0"/>
          </a:p>
        </p:txBody>
      </p:sp>
      <p:sp>
        <p:nvSpPr>
          <p:cNvPr id="20" name="bar-ortho"/>
          <p:cNvSpPr/>
          <p:nvPr/>
        </p:nvSpPr>
        <p:spPr>
          <a:xfrm>
            <a:off x="7040880" y="2450592"/>
            <a:ext cx="3257550" cy="384048"/>
          </a:xfrm>
          <a:prstGeom prst="rect">
            <a:avLst/>
          </a:prstGeom>
          <a:solidFill>
            <a:srgbClr val="4A3AA7"/>
          </a:solidFill>
          <a:ln w="12700">
            <a:solidFill>
              <a:srgbClr val="4A3AA7"/>
            </a:solidFill>
            <a:prstDash val="solid"/>
          </a:ln>
        </p:spPr>
      </p:sp>
      <p:sp>
        <p:nvSpPr>
          <p:cNvPr id="21" name="bar-para"/>
          <p:cNvSpPr/>
          <p:nvPr/>
        </p:nvSpPr>
        <p:spPr>
          <a:xfrm>
            <a:off x="10298430" y="2450592"/>
            <a:ext cx="1085850" cy="384048"/>
          </a:xfrm>
          <a:prstGeom prst="rect">
            <a:avLst/>
          </a:prstGeom>
          <a:solidFill>
            <a:srgbClr val="2977D6"/>
          </a:solidFill>
          <a:ln w="12700">
            <a:solidFill>
              <a:srgbClr val="2977D6"/>
            </a:solidFill>
            <a:prstDash val="solid"/>
          </a:ln>
        </p:spPr>
      </p:sp>
      <p:sp>
        <p:nvSpPr>
          <p:cNvPr id="22" name="Text 19"/>
          <p:cNvSpPr txBox="1"/>
          <p:nvPr/>
        </p:nvSpPr>
        <p:spPr>
          <a:xfrm>
            <a:off x="7132320" y="2450592"/>
            <a:ext cx="2286000" cy="384048"/>
          </a:xfrm>
          <a:prstGeom prst="rect">
            <a:avLst/>
          </a:prstGeom>
          <a:noFill/>
          <a:ln/>
        </p:spPr>
        <p:txBody>
          <a:bodyPr wrap="square" lIns="0" tIns="0" rIns="0" bIns="0" rtlCol="0" anchor="ctr"/>
          <a:lstStyle/>
          <a:p>
            <a:pPr indent="0" marL="0">
              <a:buNone/>
            </a:pPr>
            <a:r>
              <a:rPr lang="en-US" sz="1300" b="1" dirty="0">
                <a:solidFill>
                  <a:schemeClr val="bg1"/>
                </a:solidFill>
              </a:rPr>
              <a:t>75 % ortho</a:t>
            </a:r>
            <a:endParaRPr lang="en-US" sz="1300" dirty="0"/>
          </a:p>
        </p:txBody>
      </p:sp>
      <p:sp>
        <p:nvSpPr>
          <p:cNvPr id="23" name="Text 20"/>
          <p:cNvSpPr txBox="1"/>
          <p:nvPr/>
        </p:nvSpPr>
        <p:spPr>
          <a:xfrm>
            <a:off x="10344150" y="2450592"/>
            <a:ext cx="1051560" cy="384048"/>
          </a:xfrm>
          <a:prstGeom prst="rect">
            <a:avLst/>
          </a:prstGeom>
          <a:noFill/>
          <a:ln/>
        </p:spPr>
        <p:txBody>
          <a:bodyPr wrap="square" lIns="0" tIns="0" rIns="0" bIns="0" rtlCol="0" anchor="ctr"/>
          <a:lstStyle/>
          <a:p>
            <a:pPr indent="0" marL="0">
              <a:buNone/>
            </a:pPr>
            <a:r>
              <a:rPr lang="en-US" sz="1300" b="1" dirty="0">
                <a:solidFill>
                  <a:schemeClr val="bg1"/>
                </a:solidFill>
              </a:rPr>
              <a:t>25 % para</a:t>
            </a:r>
            <a:endParaRPr lang="en-US" sz="1300" dirty="0"/>
          </a:p>
        </p:txBody>
      </p:sp>
      <p:sp>
        <p:nvSpPr>
          <p:cNvPr id="24" name="Text 21"/>
          <p:cNvSpPr txBox="1"/>
          <p:nvPr/>
        </p:nvSpPr>
        <p:spPr>
          <a:xfrm>
            <a:off x="7040880" y="2971800"/>
            <a:ext cx="4343400" cy="274320"/>
          </a:xfrm>
          <a:prstGeom prst="rect">
            <a:avLst/>
          </a:prstGeom>
          <a:noFill/>
          <a:ln/>
        </p:spPr>
        <p:txBody>
          <a:bodyPr wrap="square" lIns="0" tIns="0" rIns="0" bIns="0" rtlCol="0" anchor="t"/>
          <a:lstStyle/>
          <a:p>
            <a:pPr indent="0" marL="0">
              <a:buNone/>
            </a:pPr>
            <a:r>
              <a:rPr lang="en-US" sz="1300" dirty="0">
                <a:solidFill>
                  <a:schemeClr val="tx1"/>
                </a:solidFill>
              </a:rPr>
              <a:t>Liquid hydrogen</a:t>
            </a:r>
            <a:endParaRPr lang="en-US" sz="1300" dirty="0"/>
          </a:p>
        </p:txBody>
      </p:sp>
      <p:sp>
        <p:nvSpPr>
          <p:cNvPr id="25" name="bar-para-liquid"/>
          <p:cNvSpPr/>
          <p:nvPr/>
        </p:nvSpPr>
        <p:spPr>
          <a:xfrm>
            <a:off x="7040880" y="3273552"/>
            <a:ext cx="4343400" cy="384048"/>
          </a:xfrm>
          <a:prstGeom prst="rect">
            <a:avLst/>
          </a:prstGeom>
          <a:solidFill>
            <a:srgbClr val="2977D6"/>
          </a:solidFill>
          <a:ln w="12700">
            <a:solidFill>
              <a:srgbClr val="2977D6"/>
            </a:solidFill>
            <a:prstDash val="solid"/>
          </a:ln>
        </p:spPr>
      </p:sp>
      <p:sp>
        <p:nvSpPr>
          <p:cNvPr id="26" name="Text 23"/>
          <p:cNvSpPr txBox="1"/>
          <p:nvPr/>
        </p:nvSpPr>
        <p:spPr>
          <a:xfrm>
            <a:off x="7132320" y="3273552"/>
            <a:ext cx="2743200" cy="384048"/>
          </a:xfrm>
          <a:prstGeom prst="rect">
            <a:avLst/>
          </a:prstGeom>
          <a:noFill/>
          <a:ln/>
        </p:spPr>
        <p:txBody>
          <a:bodyPr wrap="square" lIns="0" tIns="0" rIns="0" bIns="0" rtlCol="0" anchor="ctr"/>
          <a:lstStyle/>
          <a:p>
            <a:pPr indent="0" marL="0">
              <a:buNone/>
            </a:pPr>
            <a:r>
              <a:rPr lang="en-US" sz="1300" b="1" dirty="0">
                <a:solidFill>
                  <a:schemeClr val="bg1"/>
                </a:solidFill>
              </a:rPr>
              <a:t>Nearly 100 % para</a:t>
            </a:r>
            <a:endParaRPr lang="en-US" sz="1300" dirty="0"/>
          </a:p>
        </p:txBody>
      </p:sp>
      <p:sp>
        <p:nvSpPr>
          <p:cNvPr id="27" name="Text 24"/>
          <p:cNvSpPr txBox="1"/>
          <p:nvPr/>
        </p:nvSpPr>
        <p:spPr>
          <a:xfrm>
            <a:off x="7040880" y="3840480"/>
            <a:ext cx="4389120" cy="1554480"/>
          </a:xfrm>
          <a:prstGeom prst="rect">
            <a:avLst/>
          </a:prstGeom>
          <a:noFill/>
          <a:ln/>
        </p:spPr>
        <p:txBody>
          <a:bodyPr wrap="square" lIns="0" tIns="0" rIns="0" bIns="0" rtlCol="0" anchor="t"/>
          <a:lstStyle/>
          <a:p>
            <a:pPr indent="0" marL="0">
              <a:buNone/>
            </a:pPr>
            <a:r>
              <a:rPr lang="en-US" sz="1400" dirty="0">
                <a:solidFill>
                  <a:schemeClr val="tx1"/>
                </a:solidFill>
              </a:rPr>
              <a:t>Ortho turns into para as hydrogen cools, and the change releases heat. If it happens in the tank, that heat boils off LH₂, so catalysts convert it stage by stage inside the liquefier.</a:t>
            </a:r>
            <a:endParaRPr lang="en-US" sz="14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Today's liquefiers use 10–13 kWh/kg H₂, about three times the 3.3 kWh/kg minimum; Kawasaki targets 8–9 now and 6 at large scale</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Sections 2.1, 3.4, 5.5, 10.1, 13.3 · liquefaction energy · kWh per kg H₂</a:t>
            </a:r>
            <a:endParaRPr lang="en-US" sz="1100" dirty="0"/>
          </a:p>
        </p:txBody>
      </p:sp>
      <p:sp>
        <p:nvSpPr>
          <p:cNvPr id="5" name="unreachable-zone"/>
          <p:cNvSpPr/>
          <p:nvPr/>
        </p:nvSpPr>
        <p:spPr>
          <a:xfrm>
            <a:off x="3383280" y="1508760"/>
            <a:ext cx="1916811" cy="3675888"/>
          </a:xfrm>
          <a:prstGeom prst="rect">
            <a:avLst/>
          </a:prstGeom>
          <a:solidFill>
            <a:srgbClr val="F1EAF6"/>
          </a:solidFill>
          <a:ln w="12700">
            <a:solidFill>
              <a:srgbClr val="F1EAF6"/>
            </a:solidFill>
            <a:prstDash val="solid"/>
          </a:ln>
        </p:spPr>
      </p:sp>
      <p:sp>
        <p:nvSpPr>
          <p:cNvPr id="6" name="min-3.3"/>
          <p:cNvSpPr/>
          <p:nvPr/>
        </p:nvSpPr>
        <p:spPr>
          <a:xfrm>
            <a:off x="5005197" y="1508760"/>
            <a:ext cx="0" cy="3675888"/>
          </a:xfrm>
          <a:prstGeom prst="line">
            <a:avLst/>
          </a:prstGeom>
          <a:noFill/>
          <a:ln w="15875">
            <a:solidFill>
              <a:srgbClr val="7030A0"/>
            </a:solidFill>
            <a:prstDash val="dash"/>
          </a:ln>
        </p:spPr>
      </p:sp>
      <p:sp>
        <p:nvSpPr>
          <p:cNvPr id="7" name="min-3.9"/>
          <p:cNvSpPr/>
          <p:nvPr/>
        </p:nvSpPr>
        <p:spPr>
          <a:xfrm>
            <a:off x="5300091" y="1508760"/>
            <a:ext cx="0" cy="3675888"/>
          </a:xfrm>
          <a:prstGeom prst="line">
            <a:avLst/>
          </a:prstGeom>
          <a:noFill/>
          <a:ln w="15875">
            <a:solidFill>
              <a:srgbClr val="7030A0"/>
            </a:solidFill>
            <a:prstDash val="solid"/>
          </a:ln>
        </p:spPr>
      </p:sp>
      <p:sp>
        <p:nvSpPr>
          <p:cNvPr id="8" name="Shape 5"/>
          <p:cNvSpPr/>
          <p:nvPr/>
        </p:nvSpPr>
        <p:spPr>
          <a:xfrm>
            <a:off x="3383280" y="5184648"/>
            <a:ext cx="0" cy="73152"/>
          </a:xfrm>
          <a:prstGeom prst="line">
            <a:avLst/>
          </a:prstGeom>
          <a:noFill/>
          <a:ln w="9525">
            <a:solidFill>
              <a:srgbClr val="3A3935"/>
            </a:solidFill>
            <a:prstDash val="solid"/>
          </a:ln>
        </p:spPr>
      </p:sp>
      <p:sp>
        <p:nvSpPr>
          <p:cNvPr id="9" name="Text 6"/>
          <p:cNvSpPr txBox="1"/>
          <p:nvPr/>
        </p:nvSpPr>
        <p:spPr>
          <a:xfrm>
            <a:off x="3108960" y="5276088"/>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0</a:t>
            </a:r>
            <a:endParaRPr lang="en-US" sz="1100" dirty="0"/>
          </a:p>
        </p:txBody>
      </p:sp>
      <p:sp>
        <p:nvSpPr>
          <p:cNvPr id="10" name="Shape 7"/>
          <p:cNvSpPr/>
          <p:nvPr/>
        </p:nvSpPr>
        <p:spPr>
          <a:xfrm>
            <a:off x="4366260" y="5184648"/>
            <a:ext cx="0" cy="73152"/>
          </a:xfrm>
          <a:prstGeom prst="line">
            <a:avLst/>
          </a:prstGeom>
          <a:noFill/>
          <a:ln w="9525">
            <a:solidFill>
              <a:srgbClr val="3A3935"/>
            </a:solidFill>
            <a:prstDash val="solid"/>
          </a:ln>
        </p:spPr>
      </p:sp>
      <p:sp>
        <p:nvSpPr>
          <p:cNvPr id="11" name="Text 8"/>
          <p:cNvSpPr txBox="1"/>
          <p:nvPr/>
        </p:nvSpPr>
        <p:spPr>
          <a:xfrm>
            <a:off x="4091940" y="5276088"/>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2</a:t>
            </a:r>
            <a:endParaRPr lang="en-US" sz="1100" dirty="0"/>
          </a:p>
        </p:txBody>
      </p:sp>
      <p:sp>
        <p:nvSpPr>
          <p:cNvPr id="12" name="Shape 9"/>
          <p:cNvSpPr/>
          <p:nvPr/>
        </p:nvSpPr>
        <p:spPr>
          <a:xfrm>
            <a:off x="5349240" y="5184648"/>
            <a:ext cx="0" cy="73152"/>
          </a:xfrm>
          <a:prstGeom prst="line">
            <a:avLst/>
          </a:prstGeom>
          <a:noFill/>
          <a:ln w="9525">
            <a:solidFill>
              <a:srgbClr val="3A3935"/>
            </a:solidFill>
            <a:prstDash val="solid"/>
          </a:ln>
        </p:spPr>
      </p:sp>
      <p:sp>
        <p:nvSpPr>
          <p:cNvPr id="13" name="Text 10"/>
          <p:cNvSpPr txBox="1"/>
          <p:nvPr/>
        </p:nvSpPr>
        <p:spPr>
          <a:xfrm>
            <a:off x="5074920" y="5276088"/>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4</a:t>
            </a:r>
            <a:endParaRPr lang="en-US" sz="1100" dirty="0"/>
          </a:p>
        </p:txBody>
      </p:sp>
      <p:sp>
        <p:nvSpPr>
          <p:cNvPr id="14" name="Shape 11"/>
          <p:cNvSpPr/>
          <p:nvPr/>
        </p:nvSpPr>
        <p:spPr>
          <a:xfrm>
            <a:off x="6332220" y="5184648"/>
            <a:ext cx="0" cy="73152"/>
          </a:xfrm>
          <a:prstGeom prst="line">
            <a:avLst/>
          </a:prstGeom>
          <a:noFill/>
          <a:ln w="9525">
            <a:solidFill>
              <a:srgbClr val="3A3935"/>
            </a:solidFill>
            <a:prstDash val="solid"/>
          </a:ln>
        </p:spPr>
      </p:sp>
      <p:sp>
        <p:nvSpPr>
          <p:cNvPr id="15" name="Text 12"/>
          <p:cNvSpPr txBox="1"/>
          <p:nvPr/>
        </p:nvSpPr>
        <p:spPr>
          <a:xfrm>
            <a:off x="6057900" y="5276088"/>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6</a:t>
            </a:r>
            <a:endParaRPr lang="en-US" sz="1100" dirty="0"/>
          </a:p>
        </p:txBody>
      </p:sp>
      <p:sp>
        <p:nvSpPr>
          <p:cNvPr id="16" name="Shape 13"/>
          <p:cNvSpPr/>
          <p:nvPr/>
        </p:nvSpPr>
        <p:spPr>
          <a:xfrm>
            <a:off x="7315200" y="5184648"/>
            <a:ext cx="0" cy="73152"/>
          </a:xfrm>
          <a:prstGeom prst="line">
            <a:avLst/>
          </a:prstGeom>
          <a:noFill/>
          <a:ln w="9525">
            <a:solidFill>
              <a:srgbClr val="3A3935"/>
            </a:solidFill>
            <a:prstDash val="solid"/>
          </a:ln>
        </p:spPr>
      </p:sp>
      <p:sp>
        <p:nvSpPr>
          <p:cNvPr id="17" name="Text 14"/>
          <p:cNvSpPr txBox="1"/>
          <p:nvPr/>
        </p:nvSpPr>
        <p:spPr>
          <a:xfrm>
            <a:off x="7040880" y="5276088"/>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8</a:t>
            </a:r>
            <a:endParaRPr lang="en-US" sz="1100" dirty="0"/>
          </a:p>
        </p:txBody>
      </p:sp>
      <p:sp>
        <p:nvSpPr>
          <p:cNvPr id="18" name="Shape 15"/>
          <p:cNvSpPr/>
          <p:nvPr/>
        </p:nvSpPr>
        <p:spPr>
          <a:xfrm>
            <a:off x="8298180" y="5184648"/>
            <a:ext cx="0" cy="73152"/>
          </a:xfrm>
          <a:prstGeom prst="line">
            <a:avLst/>
          </a:prstGeom>
          <a:noFill/>
          <a:ln w="9525">
            <a:solidFill>
              <a:srgbClr val="3A3935"/>
            </a:solidFill>
            <a:prstDash val="solid"/>
          </a:ln>
        </p:spPr>
      </p:sp>
      <p:sp>
        <p:nvSpPr>
          <p:cNvPr id="19" name="Text 16"/>
          <p:cNvSpPr txBox="1"/>
          <p:nvPr/>
        </p:nvSpPr>
        <p:spPr>
          <a:xfrm>
            <a:off x="8023860" y="5276088"/>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10</a:t>
            </a:r>
            <a:endParaRPr lang="en-US" sz="1100" dirty="0"/>
          </a:p>
        </p:txBody>
      </p:sp>
      <p:sp>
        <p:nvSpPr>
          <p:cNvPr id="20" name="Shape 17"/>
          <p:cNvSpPr/>
          <p:nvPr/>
        </p:nvSpPr>
        <p:spPr>
          <a:xfrm>
            <a:off x="9281160" y="5184648"/>
            <a:ext cx="0" cy="73152"/>
          </a:xfrm>
          <a:prstGeom prst="line">
            <a:avLst/>
          </a:prstGeom>
          <a:noFill/>
          <a:ln w="9525">
            <a:solidFill>
              <a:srgbClr val="3A3935"/>
            </a:solidFill>
            <a:prstDash val="solid"/>
          </a:ln>
        </p:spPr>
      </p:sp>
      <p:sp>
        <p:nvSpPr>
          <p:cNvPr id="21" name="Text 18"/>
          <p:cNvSpPr txBox="1"/>
          <p:nvPr/>
        </p:nvSpPr>
        <p:spPr>
          <a:xfrm>
            <a:off x="9006840" y="5276088"/>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12</a:t>
            </a:r>
            <a:endParaRPr lang="en-US" sz="1100" dirty="0"/>
          </a:p>
        </p:txBody>
      </p:sp>
      <p:sp>
        <p:nvSpPr>
          <p:cNvPr id="22" name="Shape 19"/>
          <p:cNvSpPr/>
          <p:nvPr/>
        </p:nvSpPr>
        <p:spPr>
          <a:xfrm>
            <a:off x="10264140" y="5184648"/>
            <a:ext cx="0" cy="73152"/>
          </a:xfrm>
          <a:prstGeom prst="line">
            <a:avLst/>
          </a:prstGeom>
          <a:noFill/>
          <a:ln w="9525">
            <a:solidFill>
              <a:srgbClr val="3A3935"/>
            </a:solidFill>
            <a:prstDash val="solid"/>
          </a:ln>
        </p:spPr>
      </p:sp>
      <p:sp>
        <p:nvSpPr>
          <p:cNvPr id="23" name="Text 20"/>
          <p:cNvSpPr txBox="1"/>
          <p:nvPr/>
        </p:nvSpPr>
        <p:spPr>
          <a:xfrm>
            <a:off x="9989820" y="5276088"/>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14</a:t>
            </a:r>
            <a:endParaRPr lang="en-US" sz="1100" dirty="0"/>
          </a:p>
        </p:txBody>
      </p:sp>
      <p:sp>
        <p:nvSpPr>
          <p:cNvPr id="24" name="Shape 21"/>
          <p:cNvSpPr/>
          <p:nvPr/>
        </p:nvSpPr>
        <p:spPr>
          <a:xfrm>
            <a:off x="11247120" y="5184648"/>
            <a:ext cx="0" cy="73152"/>
          </a:xfrm>
          <a:prstGeom prst="line">
            <a:avLst/>
          </a:prstGeom>
          <a:noFill/>
          <a:ln w="9525">
            <a:solidFill>
              <a:srgbClr val="3A3935"/>
            </a:solidFill>
            <a:prstDash val="solid"/>
          </a:ln>
        </p:spPr>
      </p:sp>
      <p:sp>
        <p:nvSpPr>
          <p:cNvPr id="25" name="Text 22"/>
          <p:cNvSpPr txBox="1"/>
          <p:nvPr/>
        </p:nvSpPr>
        <p:spPr>
          <a:xfrm>
            <a:off x="10972800" y="5276088"/>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16</a:t>
            </a:r>
            <a:endParaRPr lang="en-US" sz="1100" dirty="0"/>
          </a:p>
        </p:txBody>
      </p:sp>
      <p:sp>
        <p:nvSpPr>
          <p:cNvPr id="26" name="axis"/>
          <p:cNvSpPr/>
          <p:nvPr/>
        </p:nvSpPr>
        <p:spPr>
          <a:xfrm>
            <a:off x="3383280" y="5184648"/>
            <a:ext cx="7863840" cy="0"/>
          </a:xfrm>
          <a:prstGeom prst="line">
            <a:avLst/>
          </a:prstGeom>
          <a:noFill/>
          <a:ln w="9525">
            <a:solidFill>
              <a:srgbClr val="3A3935"/>
            </a:solidFill>
            <a:prstDash val="solid"/>
          </a:ln>
        </p:spPr>
      </p:sp>
      <p:sp>
        <p:nvSpPr>
          <p:cNvPr id="27" name="Text 24"/>
          <p:cNvSpPr txBox="1"/>
          <p:nvPr/>
        </p:nvSpPr>
        <p:spPr>
          <a:xfrm>
            <a:off x="9418320" y="5513832"/>
            <a:ext cx="1828800" cy="228600"/>
          </a:xfrm>
          <a:prstGeom prst="rect">
            <a:avLst/>
          </a:prstGeom>
          <a:noFill/>
          <a:ln/>
        </p:spPr>
        <p:txBody>
          <a:bodyPr wrap="square" lIns="0" tIns="0" rIns="0" bIns="0" rtlCol="0" anchor="t"/>
          <a:lstStyle/>
          <a:p>
            <a:pPr algn="r" indent="0" marL="0">
              <a:buNone/>
            </a:pPr>
            <a:r>
              <a:rPr lang="en-US" sz="1100" dirty="0">
                <a:solidFill>
                  <a:schemeClr val="tx1"/>
                </a:solidFill>
              </a:rPr>
              <a:t>kWh per kg H₂</a:t>
            </a:r>
            <a:endParaRPr lang="en-US" sz="1100" dirty="0"/>
          </a:p>
        </p:txBody>
      </p:sp>
      <p:sp>
        <p:nvSpPr>
          <p:cNvPr id="28" name="Text 25"/>
          <p:cNvSpPr txBox="1"/>
          <p:nvPr/>
        </p:nvSpPr>
        <p:spPr>
          <a:xfrm>
            <a:off x="548640" y="1600200"/>
            <a:ext cx="2743200" cy="402336"/>
          </a:xfrm>
          <a:prstGeom prst="rect">
            <a:avLst/>
          </a:prstGeom>
          <a:noFill/>
          <a:ln/>
        </p:spPr>
        <p:txBody>
          <a:bodyPr wrap="square" lIns="0" tIns="0" rIns="0" bIns="0" rtlCol="0" anchor="ctr"/>
          <a:lstStyle/>
          <a:p>
            <a:pPr indent="0" marL="0">
              <a:buNone/>
            </a:pPr>
            <a:r>
              <a:rPr lang="en-US" sz="1400" dirty="0">
                <a:solidFill>
                  <a:schemeClr val="tx1"/>
                </a:solidFill>
              </a:rPr>
              <a:t>Linde-Hampson cycle</a:t>
            </a:r>
            <a:endParaRPr lang="en-US" sz="1400" dirty="0"/>
          </a:p>
        </p:txBody>
      </p:sp>
      <p:sp>
        <p:nvSpPr>
          <p:cNvPr id="29" name="range-0"/>
          <p:cNvSpPr/>
          <p:nvPr/>
        </p:nvSpPr>
        <p:spPr>
          <a:xfrm>
            <a:off x="8298180" y="1655064"/>
            <a:ext cx="2457450" cy="292608"/>
          </a:xfrm>
          <a:prstGeom prst="rect">
            <a:avLst/>
          </a:prstGeom>
          <a:solidFill>
            <a:srgbClr val="4A3AA7"/>
          </a:solidFill>
          <a:ln w="12700">
            <a:solidFill>
              <a:srgbClr val="4A3AA7"/>
            </a:solidFill>
            <a:prstDash val="solid"/>
          </a:ln>
        </p:spPr>
      </p:sp>
      <p:sp>
        <p:nvSpPr>
          <p:cNvPr id="30" name="Text 27"/>
          <p:cNvSpPr txBox="1"/>
          <p:nvPr/>
        </p:nvSpPr>
        <p:spPr>
          <a:xfrm>
            <a:off x="10920222" y="1600200"/>
            <a:ext cx="822960" cy="402336"/>
          </a:xfrm>
          <a:prstGeom prst="rect">
            <a:avLst/>
          </a:prstGeom>
          <a:noFill/>
          <a:ln/>
        </p:spPr>
        <p:txBody>
          <a:bodyPr wrap="square" lIns="0" tIns="0" rIns="0" bIns="0" rtlCol="0" anchor="ctr"/>
          <a:lstStyle/>
          <a:p>
            <a:pPr indent="0" marL="0">
              <a:buNone/>
            </a:pPr>
            <a:r>
              <a:rPr lang="en-US" sz="1300" b="1" dirty="0">
                <a:solidFill>
                  <a:schemeClr val="tx1"/>
                </a:solidFill>
              </a:rPr>
              <a:t>10–15</a:t>
            </a:r>
            <a:endParaRPr lang="en-US" sz="1300" dirty="0"/>
          </a:p>
        </p:txBody>
      </p:sp>
      <p:sp>
        <p:nvSpPr>
          <p:cNvPr id="31" name="Text 28"/>
          <p:cNvSpPr txBox="1"/>
          <p:nvPr/>
        </p:nvSpPr>
        <p:spPr>
          <a:xfrm>
            <a:off x="548640" y="2112264"/>
            <a:ext cx="2743200" cy="402336"/>
          </a:xfrm>
          <a:prstGeom prst="rect">
            <a:avLst/>
          </a:prstGeom>
          <a:noFill/>
          <a:ln/>
        </p:spPr>
        <p:txBody>
          <a:bodyPr wrap="square" lIns="0" tIns="0" rIns="0" bIns="0" rtlCol="0" anchor="ctr"/>
          <a:lstStyle/>
          <a:p>
            <a:pPr indent="0" marL="0">
              <a:buNone/>
            </a:pPr>
            <a:r>
              <a:rPr lang="en-US" sz="1400" dirty="0">
                <a:solidFill>
                  <a:schemeClr val="tx1"/>
                </a:solidFill>
              </a:rPr>
              <a:t>Claude cycle</a:t>
            </a:r>
            <a:endParaRPr lang="en-US" sz="1400" dirty="0"/>
          </a:p>
        </p:txBody>
      </p:sp>
      <p:sp>
        <p:nvSpPr>
          <p:cNvPr id="32" name="range-1"/>
          <p:cNvSpPr/>
          <p:nvPr/>
        </p:nvSpPr>
        <p:spPr>
          <a:xfrm>
            <a:off x="6823710" y="2167128"/>
            <a:ext cx="1474470" cy="292608"/>
          </a:xfrm>
          <a:prstGeom prst="rect">
            <a:avLst/>
          </a:prstGeom>
          <a:solidFill>
            <a:srgbClr val="4A3AA7"/>
          </a:solidFill>
          <a:ln w="12700">
            <a:solidFill>
              <a:srgbClr val="4A3AA7"/>
            </a:solidFill>
            <a:prstDash val="solid"/>
          </a:ln>
        </p:spPr>
      </p:sp>
      <p:sp>
        <p:nvSpPr>
          <p:cNvPr id="33" name="Text 30"/>
          <p:cNvSpPr txBox="1"/>
          <p:nvPr/>
        </p:nvSpPr>
        <p:spPr>
          <a:xfrm>
            <a:off x="8462772" y="2112264"/>
            <a:ext cx="822960" cy="402336"/>
          </a:xfrm>
          <a:prstGeom prst="rect">
            <a:avLst/>
          </a:prstGeom>
          <a:noFill/>
          <a:ln/>
        </p:spPr>
        <p:txBody>
          <a:bodyPr wrap="square" lIns="0" tIns="0" rIns="0" bIns="0" rtlCol="0" anchor="ctr"/>
          <a:lstStyle/>
          <a:p>
            <a:pPr indent="0" marL="0">
              <a:buNone/>
            </a:pPr>
            <a:r>
              <a:rPr lang="en-US" sz="1300" b="1" dirty="0">
                <a:solidFill>
                  <a:schemeClr val="tx1"/>
                </a:solidFill>
              </a:rPr>
              <a:t>7–10</a:t>
            </a:r>
            <a:endParaRPr lang="en-US" sz="1300" dirty="0"/>
          </a:p>
        </p:txBody>
      </p:sp>
      <p:sp>
        <p:nvSpPr>
          <p:cNvPr id="34" name="Text 31"/>
          <p:cNvSpPr txBox="1"/>
          <p:nvPr/>
        </p:nvSpPr>
        <p:spPr>
          <a:xfrm>
            <a:off x="548640" y="2624328"/>
            <a:ext cx="2743200" cy="402336"/>
          </a:xfrm>
          <a:prstGeom prst="rect">
            <a:avLst/>
          </a:prstGeom>
          <a:noFill/>
          <a:ln/>
        </p:spPr>
        <p:txBody>
          <a:bodyPr wrap="square" lIns="0" tIns="0" rIns="0" bIns="0" rtlCol="0" anchor="ctr"/>
          <a:lstStyle/>
          <a:p>
            <a:pPr indent="0" marL="0">
              <a:buNone/>
            </a:pPr>
            <a:r>
              <a:rPr lang="en-US" sz="1400" dirty="0">
                <a:solidFill>
                  <a:schemeClr val="tx1"/>
                </a:solidFill>
              </a:rPr>
              <a:t>Brayton cycle (pre-cooling)*</a:t>
            </a:r>
            <a:endParaRPr lang="en-US" sz="1400" dirty="0"/>
          </a:p>
        </p:txBody>
      </p:sp>
      <p:sp>
        <p:nvSpPr>
          <p:cNvPr id="35" name="range-2"/>
          <p:cNvSpPr/>
          <p:nvPr/>
        </p:nvSpPr>
        <p:spPr>
          <a:xfrm>
            <a:off x="6332220" y="2679192"/>
            <a:ext cx="982980" cy="292608"/>
          </a:xfrm>
          <a:prstGeom prst="rect">
            <a:avLst/>
          </a:prstGeom>
          <a:solidFill>
            <a:srgbClr val="4A3AA7"/>
          </a:solidFill>
          <a:ln w="12700">
            <a:solidFill>
              <a:srgbClr val="4A3AA7"/>
            </a:solidFill>
            <a:prstDash val="solid"/>
          </a:ln>
        </p:spPr>
      </p:sp>
      <p:sp>
        <p:nvSpPr>
          <p:cNvPr id="36" name="Text 33"/>
          <p:cNvSpPr txBox="1"/>
          <p:nvPr/>
        </p:nvSpPr>
        <p:spPr>
          <a:xfrm>
            <a:off x="7479792" y="2624328"/>
            <a:ext cx="822960" cy="402336"/>
          </a:xfrm>
          <a:prstGeom prst="rect">
            <a:avLst/>
          </a:prstGeom>
          <a:noFill/>
          <a:ln/>
        </p:spPr>
        <p:txBody>
          <a:bodyPr wrap="square" lIns="0" tIns="0" rIns="0" bIns="0" rtlCol="0" anchor="ctr"/>
          <a:lstStyle/>
          <a:p>
            <a:pPr indent="0" marL="0">
              <a:buNone/>
            </a:pPr>
            <a:r>
              <a:rPr lang="en-US" sz="1300" b="1" dirty="0">
                <a:solidFill>
                  <a:schemeClr val="tx1"/>
                </a:solidFill>
              </a:rPr>
              <a:t>6–8*</a:t>
            </a:r>
            <a:endParaRPr lang="en-US" sz="1300" dirty="0"/>
          </a:p>
        </p:txBody>
      </p:sp>
      <p:sp>
        <p:nvSpPr>
          <p:cNvPr id="37" name="Text 34"/>
          <p:cNvSpPr txBox="1"/>
          <p:nvPr/>
        </p:nvSpPr>
        <p:spPr>
          <a:xfrm>
            <a:off x="548640" y="3136392"/>
            <a:ext cx="2743200" cy="402336"/>
          </a:xfrm>
          <a:prstGeom prst="rect">
            <a:avLst/>
          </a:prstGeom>
          <a:noFill/>
          <a:ln/>
        </p:spPr>
        <p:txBody>
          <a:bodyPr wrap="square" lIns="0" tIns="0" rIns="0" bIns="0" rtlCol="0" anchor="ctr"/>
          <a:lstStyle/>
          <a:p>
            <a:pPr indent="0" marL="0">
              <a:buNone/>
            </a:pPr>
            <a:r>
              <a:rPr lang="en-US" sz="1400" b="1" dirty="0">
                <a:solidFill>
                  <a:schemeClr val="tx1"/>
                </a:solidFill>
              </a:rPr>
              <a:t>Commercial plants today</a:t>
            </a:r>
            <a:endParaRPr lang="en-US" sz="1400" dirty="0"/>
          </a:p>
        </p:txBody>
      </p:sp>
      <p:sp>
        <p:nvSpPr>
          <p:cNvPr id="38" name="range-3"/>
          <p:cNvSpPr/>
          <p:nvPr/>
        </p:nvSpPr>
        <p:spPr>
          <a:xfrm>
            <a:off x="8298180" y="3191256"/>
            <a:ext cx="1474470" cy="292608"/>
          </a:xfrm>
          <a:prstGeom prst="rect">
            <a:avLst/>
          </a:prstGeom>
          <a:solidFill>
            <a:srgbClr val="1F2933"/>
          </a:solidFill>
          <a:ln w="12700">
            <a:solidFill>
              <a:srgbClr val="1F2933"/>
            </a:solidFill>
            <a:prstDash val="solid"/>
          </a:ln>
        </p:spPr>
      </p:sp>
      <p:sp>
        <p:nvSpPr>
          <p:cNvPr id="39" name="Text 36"/>
          <p:cNvSpPr txBox="1"/>
          <p:nvPr/>
        </p:nvSpPr>
        <p:spPr>
          <a:xfrm>
            <a:off x="9937242" y="3136392"/>
            <a:ext cx="822960" cy="402336"/>
          </a:xfrm>
          <a:prstGeom prst="rect">
            <a:avLst/>
          </a:prstGeom>
          <a:noFill/>
          <a:ln/>
        </p:spPr>
        <p:txBody>
          <a:bodyPr wrap="square" lIns="0" tIns="0" rIns="0" bIns="0" rtlCol="0" anchor="ctr"/>
          <a:lstStyle/>
          <a:p>
            <a:pPr indent="0" marL="0">
              <a:buNone/>
            </a:pPr>
            <a:r>
              <a:rPr lang="en-US" sz="1300" b="1" dirty="0">
                <a:solidFill>
                  <a:schemeClr val="tx1"/>
                </a:solidFill>
              </a:rPr>
              <a:t>10–13</a:t>
            </a:r>
            <a:endParaRPr lang="en-US" sz="1300" dirty="0"/>
          </a:p>
        </p:txBody>
      </p:sp>
      <p:sp>
        <p:nvSpPr>
          <p:cNvPr id="40" name="Text 37"/>
          <p:cNvSpPr txBox="1"/>
          <p:nvPr/>
        </p:nvSpPr>
        <p:spPr>
          <a:xfrm>
            <a:off x="548640" y="3648456"/>
            <a:ext cx="2743200" cy="402336"/>
          </a:xfrm>
          <a:prstGeom prst="rect">
            <a:avLst/>
          </a:prstGeom>
          <a:noFill/>
          <a:ln/>
        </p:spPr>
        <p:txBody>
          <a:bodyPr wrap="square" lIns="0" tIns="0" rIns="0" bIns="0" rtlCol="0" anchor="ctr"/>
          <a:lstStyle/>
          <a:p>
            <a:pPr indent="0" marL="0">
              <a:buNone/>
            </a:pPr>
            <a:r>
              <a:rPr lang="en-US" sz="1400" b="1" dirty="0">
                <a:solidFill>
                  <a:schemeClr val="tx1"/>
                </a:solidFill>
              </a:rPr>
              <a:t>Linde Leuna, reported</a:t>
            </a:r>
            <a:endParaRPr lang="en-US" sz="1400" dirty="0"/>
          </a:p>
        </p:txBody>
      </p:sp>
      <p:sp>
        <p:nvSpPr>
          <p:cNvPr id="41" name="point-4"/>
          <p:cNvSpPr/>
          <p:nvPr/>
        </p:nvSpPr>
        <p:spPr>
          <a:xfrm>
            <a:off x="9113139" y="3730752"/>
            <a:ext cx="237744" cy="237744"/>
          </a:xfrm>
          <a:prstGeom prst="ellipse">
            <a:avLst/>
          </a:prstGeom>
          <a:solidFill>
            <a:srgbClr val="1F2933"/>
          </a:solidFill>
          <a:ln w="12700">
            <a:solidFill>
              <a:srgbClr val="1F2933"/>
            </a:solidFill>
            <a:prstDash val="solid"/>
          </a:ln>
        </p:spPr>
      </p:sp>
      <p:sp>
        <p:nvSpPr>
          <p:cNvPr id="42" name="Text 39"/>
          <p:cNvSpPr txBox="1"/>
          <p:nvPr/>
        </p:nvSpPr>
        <p:spPr>
          <a:xfrm>
            <a:off x="9396603" y="3648456"/>
            <a:ext cx="822960" cy="402336"/>
          </a:xfrm>
          <a:prstGeom prst="rect">
            <a:avLst/>
          </a:prstGeom>
          <a:noFill/>
          <a:ln/>
        </p:spPr>
        <p:txBody>
          <a:bodyPr wrap="square" lIns="0" tIns="0" rIns="0" bIns="0" rtlCol="0" anchor="ctr"/>
          <a:lstStyle/>
          <a:p>
            <a:pPr indent="0" marL="0">
              <a:buNone/>
            </a:pPr>
            <a:r>
              <a:rPr lang="en-US" sz="1300" b="1" dirty="0">
                <a:solidFill>
                  <a:schemeClr val="tx1"/>
                </a:solidFill>
              </a:rPr>
              <a:t>11.9</a:t>
            </a:r>
            <a:endParaRPr lang="en-US" sz="1300" dirty="0"/>
          </a:p>
        </p:txBody>
      </p:sp>
      <p:sp>
        <p:nvSpPr>
          <p:cNvPr id="43" name="Text 40"/>
          <p:cNvSpPr txBox="1"/>
          <p:nvPr/>
        </p:nvSpPr>
        <p:spPr>
          <a:xfrm>
            <a:off x="548640" y="4160520"/>
            <a:ext cx="2743200" cy="402336"/>
          </a:xfrm>
          <a:prstGeom prst="rect">
            <a:avLst/>
          </a:prstGeom>
          <a:noFill/>
          <a:ln/>
        </p:spPr>
        <p:txBody>
          <a:bodyPr wrap="square" lIns="0" tIns="0" rIns="0" bIns="0" rtlCol="0" anchor="ctr"/>
          <a:lstStyle/>
          <a:p>
            <a:pPr indent="0" marL="0">
              <a:buNone/>
            </a:pPr>
            <a:r>
              <a:rPr lang="en-US" sz="1400" b="1" dirty="0">
                <a:solidFill>
                  <a:schemeClr val="tx1"/>
                </a:solidFill>
              </a:rPr>
              <a:t>Kawasaki, current development</a:t>
            </a:r>
            <a:endParaRPr lang="en-US" sz="1400" dirty="0"/>
          </a:p>
        </p:txBody>
      </p:sp>
      <p:sp>
        <p:nvSpPr>
          <p:cNvPr id="44" name="range-5"/>
          <p:cNvSpPr/>
          <p:nvPr/>
        </p:nvSpPr>
        <p:spPr>
          <a:xfrm>
            <a:off x="7315200" y="4215384"/>
            <a:ext cx="491490" cy="292608"/>
          </a:xfrm>
          <a:prstGeom prst="rect">
            <a:avLst/>
          </a:prstGeom>
          <a:solidFill>
            <a:srgbClr val="2977D6"/>
          </a:solidFill>
          <a:ln w="12700">
            <a:solidFill>
              <a:srgbClr val="2977D6"/>
            </a:solidFill>
            <a:prstDash val="solid"/>
          </a:ln>
        </p:spPr>
      </p:sp>
      <p:sp>
        <p:nvSpPr>
          <p:cNvPr id="45" name="Text 42"/>
          <p:cNvSpPr txBox="1"/>
          <p:nvPr/>
        </p:nvSpPr>
        <p:spPr>
          <a:xfrm>
            <a:off x="7971282" y="4160520"/>
            <a:ext cx="822960" cy="402336"/>
          </a:xfrm>
          <a:prstGeom prst="rect">
            <a:avLst/>
          </a:prstGeom>
          <a:noFill/>
          <a:ln/>
        </p:spPr>
        <p:txBody>
          <a:bodyPr wrap="square" lIns="0" tIns="0" rIns="0" bIns="0" rtlCol="0" anchor="ctr"/>
          <a:lstStyle/>
          <a:p>
            <a:pPr indent="0" marL="0">
              <a:buNone/>
            </a:pPr>
            <a:r>
              <a:rPr lang="en-US" sz="1300" b="1" dirty="0">
                <a:solidFill>
                  <a:schemeClr val="tx1"/>
                </a:solidFill>
              </a:rPr>
              <a:t>8–9</a:t>
            </a:r>
            <a:endParaRPr lang="en-US" sz="1300" dirty="0"/>
          </a:p>
        </p:txBody>
      </p:sp>
      <p:sp>
        <p:nvSpPr>
          <p:cNvPr id="46" name="Text 43"/>
          <p:cNvSpPr txBox="1"/>
          <p:nvPr/>
        </p:nvSpPr>
        <p:spPr>
          <a:xfrm>
            <a:off x="548640" y="4672584"/>
            <a:ext cx="2743200" cy="402336"/>
          </a:xfrm>
          <a:prstGeom prst="rect">
            <a:avLst/>
          </a:prstGeom>
          <a:noFill/>
          <a:ln/>
        </p:spPr>
        <p:txBody>
          <a:bodyPr wrap="square" lIns="0" tIns="0" rIns="0" bIns="0" rtlCol="0" anchor="ctr"/>
          <a:lstStyle/>
          <a:p>
            <a:pPr indent="0" marL="0">
              <a:buNone/>
            </a:pPr>
            <a:r>
              <a:rPr lang="en-US" sz="1400" b="1" dirty="0">
                <a:solidFill>
                  <a:schemeClr val="tx1"/>
                </a:solidFill>
              </a:rPr>
              <a:t>Kawasaki, large-scale target</a:t>
            </a:r>
            <a:endParaRPr lang="en-US" sz="1400" dirty="0"/>
          </a:p>
        </p:txBody>
      </p:sp>
      <p:sp>
        <p:nvSpPr>
          <p:cNvPr id="47" name="point-6"/>
          <p:cNvSpPr/>
          <p:nvPr/>
        </p:nvSpPr>
        <p:spPr>
          <a:xfrm>
            <a:off x="6213348" y="4754880"/>
            <a:ext cx="237744" cy="237744"/>
          </a:xfrm>
          <a:prstGeom prst="ellipse">
            <a:avLst/>
          </a:prstGeom>
          <a:solidFill>
            <a:srgbClr val="2977D6"/>
          </a:solidFill>
          <a:ln w="12700">
            <a:solidFill>
              <a:srgbClr val="2977D6"/>
            </a:solidFill>
            <a:prstDash val="solid"/>
          </a:ln>
        </p:spPr>
      </p:sp>
      <p:sp>
        <p:nvSpPr>
          <p:cNvPr id="48" name="Text 45"/>
          <p:cNvSpPr txBox="1"/>
          <p:nvPr/>
        </p:nvSpPr>
        <p:spPr>
          <a:xfrm>
            <a:off x="6496812" y="4672584"/>
            <a:ext cx="822960" cy="402336"/>
          </a:xfrm>
          <a:prstGeom prst="rect">
            <a:avLst/>
          </a:prstGeom>
          <a:noFill/>
          <a:ln/>
        </p:spPr>
        <p:txBody>
          <a:bodyPr wrap="square" lIns="0" tIns="0" rIns="0" bIns="0" rtlCol="0" anchor="ctr"/>
          <a:lstStyle/>
          <a:p>
            <a:pPr indent="0" marL="0">
              <a:buNone/>
            </a:pPr>
            <a:r>
              <a:rPr lang="en-US" sz="1300" b="1" dirty="0">
                <a:solidFill>
                  <a:schemeClr val="tx1"/>
                </a:solidFill>
              </a:rPr>
              <a:t>6</a:t>
            </a:r>
            <a:endParaRPr lang="en-US" sz="1300" dirty="0"/>
          </a:p>
        </p:txBody>
      </p:sp>
      <p:sp>
        <p:nvSpPr>
          <p:cNvPr id="49" name="Text 46"/>
          <p:cNvSpPr txBox="1"/>
          <p:nvPr/>
        </p:nvSpPr>
        <p:spPr>
          <a:xfrm>
            <a:off x="3456432" y="1645920"/>
            <a:ext cx="1508760" cy="2011680"/>
          </a:xfrm>
          <a:prstGeom prst="rect">
            <a:avLst/>
          </a:prstGeom>
          <a:noFill/>
          <a:ln/>
        </p:spPr>
        <p:txBody>
          <a:bodyPr wrap="square" lIns="0" tIns="0" rIns="0" bIns="0" rtlCol="0" anchor="t"/>
          <a:lstStyle/>
          <a:p>
            <a:pPr indent="0" marL="0">
              <a:buNone/>
            </a:pPr>
            <a:r>
              <a:rPr lang="en-US" sz="1100" dirty="0">
                <a:solidFill>
                  <a:schemeClr val="accent1"/>
                </a:solidFill>
              </a:rPr>
              <a:t>Unreachable: below the minimum work to liquefy, 3.3 kWh/kg (dashed) or 3.9 with ortho-para conversion</a:t>
            </a:r>
            <a:endParaRPr lang="en-US" sz="1100" dirty="0"/>
          </a:p>
        </p:txBody>
      </p:sp>
      <p:sp>
        <p:nvSpPr>
          <p:cNvPr id="50" name="basis-note"/>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100" dirty="0">
                <a:solidFill>
                  <a:schemeClr val="tx1"/>
                </a:solidFill>
              </a:rPr>
              <a:t>*Brayton is a pre-cooling cycle inside integrated plants, so its figure is not directly comparable with the other cycles. Most commercial plants use modified Claude cycles with pre-cooling, expansion turbines and staged ortho-para conversion. Minimum work: US DOE Hydrogen Program Record 9013 (2009), as cited in Section 13.3.</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Five companies lead LH₂ technology, and Kawasaki is the only one offering the full chain from liquefier to receiving terminal</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Sections 4 and 10 · technology players</a:t>
            </a:r>
            <a:endParaRPr lang="en-US" sz="1100" dirty="0"/>
          </a:p>
        </p:txBody>
      </p:sp>
      <p:sp>
        <p:nvSpPr>
          <p:cNvPr id="5" name="player-1"/>
          <p:cNvSpPr/>
          <p:nvPr/>
        </p:nvSpPr>
        <p:spPr>
          <a:xfrm>
            <a:off x="548640" y="1508760"/>
            <a:ext cx="2072030" cy="4160520"/>
          </a:xfrm>
          <a:prstGeom prst="roundRect">
            <a:avLst>
              <a:gd name="adj" fmla="val 2648"/>
            </a:avLst>
          </a:prstGeom>
          <a:solidFill>
            <a:srgbClr val="FFFFFF"/>
          </a:solidFill>
          <a:ln w="9525">
            <a:solidFill>
              <a:srgbClr val="E8E8E4"/>
            </a:solidFill>
            <a:prstDash val="solid"/>
          </a:ln>
        </p:spPr>
      </p:sp>
      <p:pic>
        <p:nvPicPr>
          <p:cNvPr id="6" name="logo-1" descr="Linde logo">    </p:cNvPr>
          <p:cNvPicPr>
            <a:picLocks noChangeAspect="1"/>
          </p:cNvPicPr>
          <p:nvPr/>
        </p:nvPicPr>
        <p:blipFill>
          <a:blip r:embed="rId1"/>
          <a:stretch>
            <a:fillRect/>
          </a:stretch>
        </p:blipFill>
        <p:spPr>
          <a:xfrm>
            <a:off x="777240" y="1739086"/>
            <a:ext cx="1614830" cy="435460"/>
          </a:xfrm>
          <a:prstGeom prst="rect">
            <a:avLst/>
          </a:prstGeom>
        </p:spPr>
      </p:pic>
      <p:sp>
        <p:nvSpPr>
          <p:cNvPr id="7" name="Text 3"/>
          <p:cNvSpPr txBox="1"/>
          <p:nvPr/>
        </p:nvSpPr>
        <p:spPr>
          <a:xfrm>
            <a:off x="685800" y="2377440"/>
            <a:ext cx="1797710" cy="502920"/>
          </a:xfrm>
          <a:prstGeom prst="rect">
            <a:avLst/>
          </a:prstGeom>
          <a:noFill/>
          <a:ln/>
        </p:spPr>
        <p:txBody>
          <a:bodyPr wrap="square" lIns="0" tIns="0" rIns="0" bIns="0" rtlCol="0" anchor="ctr"/>
          <a:lstStyle/>
          <a:p>
            <a:pPr indent="0" marL="0">
              <a:buNone/>
            </a:pPr>
            <a:r>
              <a:rPr lang="en-US" sz="1500" b="1" dirty="0">
                <a:solidFill>
                  <a:schemeClr val="tx2"/>
                </a:solidFill>
              </a:rPr>
              <a:t>Linde</a:t>
            </a:r>
            <a:endParaRPr lang="en-US" sz="1500" dirty="0"/>
          </a:p>
        </p:txBody>
      </p:sp>
      <p:sp>
        <p:nvSpPr>
          <p:cNvPr id="8" name="Text 4"/>
          <p:cNvSpPr txBox="1"/>
          <p:nvPr/>
        </p:nvSpPr>
        <p:spPr>
          <a:xfrm>
            <a:off x="685800" y="2880360"/>
            <a:ext cx="1797710" cy="274320"/>
          </a:xfrm>
          <a:prstGeom prst="rect">
            <a:avLst/>
          </a:prstGeom>
          <a:noFill/>
          <a:ln/>
        </p:spPr>
        <p:txBody>
          <a:bodyPr wrap="square" lIns="0" tIns="0" rIns="0" bIns="0" rtlCol="0" anchor="t"/>
          <a:lstStyle/>
          <a:p>
            <a:pPr indent="0" marL="0">
              <a:buNone/>
            </a:pPr>
            <a:r>
              <a:rPr lang="en-US" sz="1200" dirty="0">
                <a:solidFill>
                  <a:schemeClr val="accent4"/>
                </a:solidFill>
              </a:rPr>
              <a:t>Munich, Germany</a:t>
            </a:r>
            <a:endParaRPr lang="en-US" sz="1200" dirty="0"/>
          </a:p>
        </p:txBody>
      </p:sp>
      <p:sp>
        <p:nvSpPr>
          <p:cNvPr id="9" name="Text 5"/>
          <p:cNvSpPr txBox="1"/>
          <p:nvPr/>
        </p:nvSpPr>
        <p:spPr>
          <a:xfrm>
            <a:off x="685800" y="3200400"/>
            <a:ext cx="1797710" cy="868680"/>
          </a:xfrm>
          <a:prstGeom prst="rect">
            <a:avLst/>
          </a:prstGeom>
          <a:noFill/>
          <a:ln/>
        </p:spPr>
        <p:txBody>
          <a:bodyPr wrap="square" lIns="0" tIns="0" rIns="0" bIns="0" rtlCol="0" anchor="t"/>
          <a:lstStyle/>
          <a:p>
            <a:pPr indent="0" marL="0">
              <a:buNone/>
            </a:pPr>
            <a:r>
              <a:rPr lang="en-US" sz="1300" dirty="0">
                <a:solidFill>
                  <a:schemeClr val="tx1"/>
                </a:solidFill>
              </a:rPr>
              <a:t>Claude-cycle liquefiers, heat exchangers, compressors, storage</a:t>
            </a:r>
            <a:endParaRPr lang="en-US" sz="1300" dirty="0"/>
          </a:p>
        </p:txBody>
      </p:sp>
      <p:sp>
        <p:nvSpPr>
          <p:cNvPr id="10" name="Text 6"/>
          <p:cNvSpPr txBox="1"/>
          <p:nvPr/>
        </p:nvSpPr>
        <p:spPr>
          <a:xfrm>
            <a:off x="685800" y="4069080"/>
            <a:ext cx="1797710" cy="1508760"/>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1"/>
                </a:solidFill>
              </a:rPr>
              <a:t>Leuna, Germany: 5 to 10 t/day</a:t>
            </a:r>
            <a:endParaRPr lang="en-US" sz="1300" dirty="0"/>
          </a:p>
          <a:p>
            <a:pPr marL="177800" indent="-177800">
              <a:spcAft>
                <a:spcPts val="300"/>
              </a:spcAft>
              <a:buSzPct val="100000"/>
              <a:buChar char="•"/>
            </a:pPr>
            <a:r>
              <a:rPr lang="en-US" sz="1300" dirty="0">
                <a:solidFill>
                  <a:schemeClr val="tx1"/>
                </a:solidFill>
              </a:rPr>
              <a:t>La Porte, Texas: over 30 t/day</a:t>
            </a:r>
            <a:endParaRPr lang="en-US" sz="1300" dirty="0"/>
          </a:p>
          <a:p>
            <a:pPr marL="177800" indent="-177800">
              <a:spcAft>
                <a:spcPts val="300"/>
              </a:spcAft>
              <a:buSzPct val="100000"/>
              <a:buChar char="•"/>
            </a:pPr>
            <a:r>
              <a:rPr lang="en-US" sz="1300" dirty="0">
                <a:solidFill>
                  <a:schemeClr val="tx1"/>
                </a:solidFill>
              </a:rPr>
              <a:t>LH₂ supply to NASA</a:t>
            </a:r>
            <a:endParaRPr lang="en-US" sz="1300" dirty="0"/>
          </a:p>
        </p:txBody>
      </p:sp>
      <p:sp>
        <p:nvSpPr>
          <p:cNvPr id="11" name="player-2"/>
          <p:cNvSpPr/>
          <p:nvPr/>
        </p:nvSpPr>
        <p:spPr>
          <a:xfrm>
            <a:off x="2803550" y="1508760"/>
            <a:ext cx="2072030" cy="4160520"/>
          </a:xfrm>
          <a:prstGeom prst="roundRect">
            <a:avLst>
              <a:gd name="adj" fmla="val 2648"/>
            </a:avLst>
          </a:prstGeom>
          <a:solidFill>
            <a:srgbClr val="FFFFFF"/>
          </a:solidFill>
          <a:ln w="9525">
            <a:solidFill>
              <a:srgbClr val="E8E8E4"/>
            </a:solidFill>
            <a:prstDash val="solid"/>
          </a:ln>
        </p:spPr>
      </p:sp>
      <p:pic>
        <p:nvPicPr>
          <p:cNvPr id="12" name="logo-2" descr="Air Liquide logo">    </p:cNvPr>
          <p:cNvPicPr>
            <a:picLocks noChangeAspect="1"/>
          </p:cNvPicPr>
          <p:nvPr/>
        </p:nvPicPr>
        <p:blipFill>
          <a:blip r:embed="rId2"/>
          <a:stretch>
            <a:fillRect/>
          </a:stretch>
        </p:blipFill>
        <p:spPr>
          <a:xfrm>
            <a:off x="3032150" y="1803139"/>
            <a:ext cx="1614830" cy="307354"/>
          </a:xfrm>
          <a:prstGeom prst="rect">
            <a:avLst/>
          </a:prstGeom>
        </p:spPr>
      </p:pic>
      <p:sp>
        <p:nvSpPr>
          <p:cNvPr id="13" name="Text 8"/>
          <p:cNvSpPr txBox="1"/>
          <p:nvPr/>
        </p:nvSpPr>
        <p:spPr>
          <a:xfrm>
            <a:off x="2940710" y="2377440"/>
            <a:ext cx="1797710" cy="502920"/>
          </a:xfrm>
          <a:prstGeom prst="rect">
            <a:avLst/>
          </a:prstGeom>
          <a:noFill/>
          <a:ln/>
        </p:spPr>
        <p:txBody>
          <a:bodyPr wrap="square" lIns="0" tIns="0" rIns="0" bIns="0" rtlCol="0" anchor="ctr"/>
          <a:lstStyle/>
          <a:p>
            <a:pPr indent="0" marL="0">
              <a:buNone/>
            </a:pPr>
            <a:r>
              <a:rPr lang="en-US" sz="1500" b="1" dirty="0">
                <a:solidFill>
                  <a:schemeClr val="tx2"/>
                </a:solidFill>
              </a:rPr>
              <a:t>Air Liquide</a:t>
            </a:r>
            <a:endParaRPr lang="en-US" sz="1500" dirty="0"/>
          </a:p>
        </p:txBody>
      </p:sp>
      <p:sp>
        <p:nvSpPr>
          <p:cNvPr id="14" name="Text 9"/>
          <p:cNvSpPr txBox="1"/>
          <p:nvPr/>
        </p:nvSpPr>
        <p:spPr>
          <a:xfrm>
            <a:off x="2940710" y="2880360"/>
            <a:ext cx="1797710" cy="274320"/>
          </a:xfrm>
          <a:prstGeom prst="rect">
            <a:avLst/>
          </a:prstGeom>
          <a:noFill/>
          <a:ln/>
        </p:spPr>
        <p:txBody>
          <a:bodyPr wrap="square" lIns="0" tIns="0" rIns="0" bIns="0" rtlCol="0" anchor="t"/>
          <a:lstStyle/>
          <a:p>
            <a:pPr indent="0" marL="0">
              <a:buNone/>
            </a:pPr>
            <a:r>
              <a:rPr lang="en-US" sz="1200" dirty="0">
                <a:solidFill>
                  <a:schemeClr val="accent4"/>
                </a:solidFill>
              </a:rPr>
              <a:t>Paris, France</a:t>
            </a:r>
            <a:endParaRPr lang="en-US" sz="1200" dirty="0"/>
          </a:p>
        </p:txBody>
      </p:sp>
      <p:sp>
        <p:nvSpPr>
          <p:cNvPr id="15" name="Text 10"/>
          <p:cNvSpPr txBox="1"/>
          <p:nvPr/>
        </p:nvSpPr>
        <p:spPr>
          <a:xfrm>
            <a:off x="2940710" y="3200400"/>
            <a:ext cx="1797710" cy="868680"/>
          </a:xfrm>
          <a:prstGeom prst="rect">
            <a:avLst/>
          </a:prstGeom>
          <a:noFill/>
          <a:ln/>
        </p:spPr>
        <p:txBody>
          <a:bodyPr wrap="square" lIns="0" tIns="0" rIns="0" bIns="0" rtlCol="0" anchor="t"/>
          <a:lstStyle/>
          <a:p>
            <a:pPr indent="0" marL="0">
              <a:buNone/>
            </a:pPr>
            <a:r>
              <a:rPr lang="en-US" sz="1300" dirty="0">
                <a:solidFill>
                  <a:schemeClr val="tx1"/>
                </a:solidFill>
              </a:rPr>
              <a:t>Helium-cycle liquefiers and full cryogenic equipment</a:t>
            </a:r>
            <a:endParaRPr lang="en-US" sz="1300" dirty="0"/>
          </a:p>
        </p:txBody>
      </p:sp>
      <p:sp>
        <p:nvSpPr>
          <p:cNvPr id="16" name="Text 11"/>
          <p:cNvSpPr txBox="1"/>
          <p:nvPr/>
        </p:nvSpPr>
        <p:spPr>
          <a:xfrm>
            <a:off x="2940710" y="4069080"/>
            <a:ext cx="1797710" cy="1508760"/>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1"/>
                </a:solidFill>
              </a:rPr>
              <a:t>North Las Vegas: 30 t/day</a:t>
            </a:r>
            <a:endParaRPr lang="en-US" sz="1300" dirty="0"/>
          </a:p>
          <a:p>
            <a:pPr marL="177800" indent="-177800">
              <a:spcAft>
                <a:spcPts val="300"/>
              </a:spcAft>
              <a:buSzPct val="100000"/>
              <a:buChar char="•"/>
            </a:pPr>
            <a:r>
              <a:rPr lang="en-US" sz="1300" dirty="0">
                <a:solidFill>
                  <a:schemeClr val="tx1"/>
                </a:solidFill>
              </a:rPr>
              <a:t>South Korea: 90 t/day, world's largest</a:t>
            </a:r>
            <a:endParaRPr lang="en-US" sz="1300" dirty="0"/>
          </a:p>
          <a:p>
            <a:pPr marL="177800" indent="-177800">
              <a:spcAft>
                <a:spcPts val="300"/>
              </a:spcAft>
              <a:buSzPct val="100000"/>
              <a:buChar char="•"/>
            </a:pPr>
            <a:r>
              <a:rPr lang="en-US" sz="1300" dirty="0">
                <a:solidFill>
                  <a:schemeClr val="tx1"/>
                </a:solidFill>
              </a:rPr>
              <a:t>Wenchang, China: 1,500 L/h</a:t>
            </a:r>
            <a:endParaRPr lang="en-US" sz="1300" dirty="0"/>
          </a:p>
        </p:txBody>
      </p:sp>
      <p:sp>
        <p:nvSpPr>
          <p:cNvPr id="17" name="player-3"/>
          <p:cNvSpPr/>
          <p:nvPr/>
        </p:nvSpPr>
        <p:spPr>
          <a:xfrm>
            <a:off x="5058461" y="1508760"/>
            <a:ext cx="2072030" cy="4160520"/>
          </a:xfrm>
          <a:prstGeom prst="roundRect">
            <a:avLst>
              <a:gd name="adj" fmla="val 2648"/>
            </a:avLst>
          </a:prstGeom>
          <a:solidFill>
            <a:srgbClr val="FFFFFF"/>
          </a:solidFill>
          <a:ln w="9525">
            <a:solidFill>
              <a:srgbClr val="E8E8E4"/>
            </a:solidFill>
            <a:prstDash val="solid"/>
          </a:ln>
        </p:spPr>
      </p:sp>
      <p:pic>
        <p:nvPicPr>
          <p:cNvPr id="18" name="logo-3" descr="Chart Industries (Baker Hughes) logo">    </p:cNvPr>
          <p:cNvPicPr>
            <a:picLocks noChangeAspect="1"/>
          </p:cNvPicPr>
          <p:nvPr/>
        </p:nvPicPr>
        <p:blipFill>
          <a:blip r:embed="rId3"/>
          <a:stretch>
            <a:fillRect/>
          </a:stretch>
        </p:blipFill>
        <p:spPr>
          <a:xfrm>
            <a:off x="5326526" y="1673352"/>
            <a:ext cx="1535901" cy="566928"/>
          </a:xfrm>
          <a:prstGeom prst="rect">
            <a:avLst/>
          </a:prstGeom>
        </p:spPr>
      </p:pic>
      <p:sp>
        <p:nvSpPr>
          <p:cNvPr id="19" name="Text 13"/>
          <p:cNvSpPr txBox="1"/>
          <p:nvPr/>
        </p:nvSpPr>
        <p:spPr>
          <a:xfrm>
            <a:off x="5195621" y="2377440"/>
            <a:ext cx="1797710" cy="502920"/>
          </a:xfrm>
          <a:prstGeom prst="rect">
            <a:avLst/>
          </a:prstGeom>
          <a:noFill/>
          <a:ln/>
        </p:spPr>
        <p:txBody>
          <a:bodyPr wrap="square" lIns="0" tIns="0" rIns="0" bIns="0" rtlCol="0" anchor="ctr"/>
          <a:lstStyle/>
          <a:p>
            <a:pPr indent="0" marL="0">
              <a:buNone/>
            </a:pPr>
            <a:r>
              <a:rPr lang="en-US" sz="1500" b="1" dirty="0">
                <a:solidFill>
                  <a:schemeClr val="tx2"/>
                </a:solidFill>
              </a:rPr>
              <a:t>Chart Industries (Baker Hughes)</a:t>
            </a:r>
            <a:endParaRPr lang="en-US" sz="1500" dirty="0"/>
          </a:p>
        </p:txBody>
      </p:sp>
      <p:sp>
        <p:nvSpPr>
          <p:cNvPr id="20" name="Text 14"/>
          <p:cNvSpPr txBox="1"/>
          <p:nvPr/>
        </p:nvSpPr>
        <p:spPr>
          <a:xfrm>
            <a:off x="5195621" y="2880360"/>
            <a:ext cx="1797710" cy="274320"/>
          </a:xfrm>
          <a:prstGeom prst="rect">
            <a:avLst/>
          </a:prstGeom>
          <a:noFill/>
          <a:ln/>
        </p:spPr>
        <p:txBody>
          <a:bodyPr wrap="square" lIns="0" tIns="0" rIns="0" bIns="0" rtlCol="0" anchor="t"/>
          <a:lstStyle/>
          <a:p>
            <a:pPr indent="0" marL="0">
              <a:buNone/>
            </a:pPr>
            <a:r>
              <a:rPr lang="en-US" sz="1200" dirty="0">
                <a:solidFill>
                  <a:schemeClr val="accent4"/>
                </a:solidFill>
              </a:rPr>
              <a:t>Georgia, USA</a:t>
            </a:r>
            <a:endParaRPr lang="en-US" sz="1200" dirty="0"/>
          </a:p>
        </p:txBody>
      </p:sp>
      <p:sp>
        <p:nvSpPr>
          <p:cNvPr id="21" name="Text 15"/>
          <p:cNvSpPr txBox="1"/>
          <p:nvPr/>
        </p:nvSpPr>
        <p:spPr>
          <a:xfrm>
            <a:off x="5195621" y="3200400"/>
            <a:ext cx="1797710" cy="868680"/>
          </a:xfrm>
          <a:prstGeom prst="rect">
            <a:avLst/>
          </a:prstGeom>
          <a:noFill/>
          <a:ln/>
        </p:spPr>
        <p:txBody>
          <a:bodyPr wrap="square" lIns="0" tIns="0" rIns="0" bIns="0" rtlCol="0" anchor="t"/>
          <a:lstStyle/>
          <a:p>
            <a:pPr indent="0" marL="0">
              <a:buNone/>
            </a:pPr>
            <a:r>
              <a:rPr lang="en-US" sz="1300" dirty="0">
                <a:solidFill>
                  <a:schemeClr val="tx1"/>
                </a:solidFill>
              </a:rPr>
              <a:t>Cold boxes, turboexpanders, heat exchangers, modular plants</a:t>
            </a:r>
            <a:endParaRPr lang="en-US" sz="1300" dirty="0"/>
          </a:p>
        </p:txBody>
      </p:sp>
      <p:sp>
        <p:nvSpPr>
          <p:cNvPr id="22" name="Text 16"/>
          <p:cNvSpPr txBox="1"/>
          <p:nvPr/>
        </p:nvSpPr>
        <p:spPr>
          <a:xfrm>
            <a:off x="5195621" y="4069080"/>
            <a:ext cx="1797710" cy="1508760"/>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1"/>
                </a:solidFill>
              </a:rPr>
              <a:t>Two 15 t/day plants for Plug Power</a:t>
            </a:r>
            <a:endParaRPr lang="en-US" sz="1300" dirty="0"/>
          </a:p>
          <a:p>
            <a:pPr marL="177800" indent="-177800">
              <a:spcAft>
                <a:spcPts val="300"/>
              </a:spcAft>
              <a:buSzPct val="100000"/>
              <a:buChar char="•"/>
            </a:pPr>
            <a:r>
              <a:rPr lang="en-US" sz="1300" dirty="0">
                <a:solidFill>
                  <a:schemeClr val="tx1"/>
                </a:solidFill>
              </a:rPr>
              <a:t>Standard plants of 5–30 t/day</a:t>
            </a:r>
            <a:endParaRPr lang="en-US" sz="1300" dirty="0"/>
          </a:p>
        </p:txBody>
      </p:sp>
      <p:sp>
        <p:nvSpPr>
          <p:cNvPr id="23" name="player-4"/>
          <p:cNvSpPr/>
          <p:nvPr/>
        </p:nvSpPr>
        <p:spPr>
          <a:xfrm>
            <a:off x="7313371" y="1508760"/>
            <a:ext cx="2072030" cy="4160520"/>
          </a:xfrm>
          <a:prstGeom prst="roundRect">
            <a:avLst>
              <a:gd name="adj" fmla="val 2648"/>
            </a:avLst>
          </a:prstGeom>
          <a:solidFill>
            <a:srgbClr val="FFFFFF"/>
          </a:solidFill>
          <a:ln w="9525">
            <a:solidFill>
              <a:srgbClr val="60269E"/>
            </a:solidFill>
            <a:prstDash val="solid"/>
          </a:ln>
        </p:spPr>
      </p:sp>
      <p:pic>
        <p:nvPicPr>
          <p:cNvPr id="24" name="logo-4" descr="Kawasaki Heavy Industries logo">    </p:cNvPr>
          <p:cNvPicPr>
            <a:picLocks noChangeAspect="1"/>
          </p:cNvPicPr>
          <p:nvPr/>
        </p:nvPicPr>
        <p:blipFill>
          <a:blip r:embed="rId4"/>
          <a:stretch>
            <a:fillRect/>
          </a:stretch>
        </p:blipFill>
        <p:spPr>
          <a:xfrm>
            <a:off x="7575046" y="1673352"/>
            <a:ext cx="1548681" cy="566928"/>
          </a:xfrm>
          <a:prstGeom prst="rect">
            <a:avLst/>
          </a:prstGeom>
        </p:spPr>
      </p:pic>
      <p:sp>
        <p:nvSpPr>
          <p:cNvPr id="25" name="Text 18"/>
          <p:cNvSpPr txBox="1"/>
          <p:nvPr/>
        </p:nvSpPr>
        <p:spPr>
          <a:xfrm>
            <a:off x="7450531" y="2377440"/>
            <a:ext cx="1797710" cy="502920"/>
          </a:xfrm>
          <a:prstGeom prst="rect">
            <a:avLst/>
          </a:prstGeom>
          <a:noFill/>
          <a:ln/>
        </p:spPr>
        <p:txBody>
          <a:bodyPr wrap="square" lIns="0" tIns="0" rIns="0" bIns="0" rtlCol="0" anchor="ctr"/>
          <a:lstStyle/>
          <a:p>
            <a:pPr indent="0" marL="0">
              <a:buNone/>
            </a:pPr>
            <a:r>
              <a:rPr lang="en-US" sz="1500" b="1" dirty="0">
                <a:solidFill>
                  <a:schemeClr val="tx2"/>
                </a:solidFill>
              </a:rPr>
              <a:t>Kawasaki Heavy Industries</a:t>
            </a:r>
            <a:endParaRPr lang="en-US" sz="1500" dirty="0"/>
          </a:p>
        </p:txBody>
      </p:sp>
      <p:sp>
        <p:nvSpPr>
          <p:cNvPr id="26" name="Text 19"/>
          <p:cNvSpPr txBox="1"/>
          <p:nvPr/>
        </p:nvSpPr>
        <p:spPr>
          <a:xfrm>
            <a:off x="7450531" y="2880360"/>
            <a:ext cx="1797710" cy="274320"/>
          </a:xfrm>
          <a:prstGeom prst="rect">
            <a:avLst/>
          </a:prstGeom>
          <a:noFill/>
          <a:ln/>
        </p:spPr>
        <p:txBody>
          <a:bodyPr wrap="square" lIns="0" tIns="0" rIns="0" bIns="0" rtlCol="0" anchor="t"/>
          <a:lstStyle/>
          <a:p>
            <a:pPr indent="0" marL="0">
              <a:buNone/>
            </a:pPr>
            <a:r>
              <a:rPr lang="en-US" sz="1200" dirty="0">
                <a:solidFill>
                  <a:schemeClr val="accent4"/>
                </a:solidFill>
              </a:rPr>
              <a:t>Tokyo, Japan</a:t>
            </a:r>
            <a:endParaRPr lang="en-US" sz="1200" dirty="0"/>
          </a:p>
        </p:txBody>
      </p:sp>
      <p:sp>
        <p:nvSpPr>
          <p:cNvPr id="27" name="Text 20"/>
          <p:cNvSpPr txBox="1"/>
          <p:nvPr/>
        </p:nvSpPr>
        <p:spPr>
          <a:xfrm>
            <a:off x="7450531" y="3200400"/>
            <a:ext cx="1797710" cy="868680"/>
          </a:xfrm>
          <a:prstGeom prst="rect">
            <a:avLst/>
          </a:prstGeom>
          <a:noFill/>
          <a:ln/>
        </p:spPr>
        <p:txBody>
          <a:bodyPr wrap="square" lIns="0" tIns="0" rIns="0" bIns="0" rtlCol="0" anchor="t"/>
          <a:lstStyle/>
          <a:p>
            <a:pPr indent="0" marL="0">
              <a:buNone/>
            </a:pPr>
            <a:r>
              <a:rPr lang="en-US" sz="1300" dirty="0">
                <a:solidFill>
                  <a:schemeClr val="tx1"/>
                </a:solidFill>
              </a:rPr>
              <a:t>Liquefiers, cryogenic tanks, LH₂ carriers, receiving terminals</a:t>
            </a:r>
            <a:endParaRPr lang="en-US" sz="1300" dirty="0"/>
          </a:p>
        </p:txBody>
      </p:sp>
      <p:sp>
        <p:nvSpPr>
          <p:cNvPr id="28" name="Text 21"/>
          <p:cNvSpPr txBox="1"/>
          <p:nvPr/>
        </p:nvSpPr>
        <p:spPr>
          <a:xfrm>
            <a:off x="7450531" y="4069080"/>
            <a:ext cx="1797710" cy="1508760"/>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1"/>
                </a:solidFill>
              </a:rPr>
              <a:t>HESC Australia–Japan chain</a:t>
            </a:r>
            <a:endParaRPr lang="en-US" sz="1300" dirty="0"/>
          </a:p>
          <a:p>
            <a:pPr marL="177800" indent="-177800">
              <a:spcAft>
                <a:spcPts val="300"/>
              </a:spcAft>
              <a:buSzPct val="100000"/>
              <a:buChar char="•"/>
            </a:pPr>
            <a:r>
              <a:rPr lang="en-US" sz="1300" dirty="0">
                <a:solidFill>
                  <a:schemeClr val="tx1"/>
                </a:solidFill>
              </a:rPr>
              <a:t>Suiso Frontier, 1,250 m³ carrier</a:t>
            </a:r>
            <a:endParaRPr lang="en-US" sz="1300" dirty="0"/>
          </a:p>
          <a:p>
            <a:pPr marL="177800" indent="-177800">
              <a:spcAft>
                <a:spcPts val="300"/>
              </a:spcAft>
              <a:buSzPct val="100000"/>
              <a:buChar char="•"/>
            </a:pPr>
            <a:r>
              <a:rPr lang="en-US" sz="1300" dirty="0">
                <a:solidFill>
                  <a:schemeClr val="tx1"/>
                </a:solidFill>
              </a:rPr>
              <a:t>Hy touch Kobe terminal</a:t>
            </a:r>
            <a:endParaRPr lang="en-US" sz="1300" dirty="0"/>
          </a:p>
          <a:p>
            <a:pPr marL="177800" indent="-177800">
              <a:spcAft>
                <a:spcPts val="300"/>
              </a:spcAft>
              <a:buSzPct val="100000"/>
              <a:buChar char="•"/>
            </a:pPr>
            <a:r>
              <a:rPr lang="en-US" sz="1300" dirty="0">
                <a:solidFill>
                  <a:schemeClr val="tx1"/>
                </a:solidFill>
              </a:rPr>
              <a:t>40,000 m³ carrier by 2030</a:t>
            </a:r>
            <a:endParaRPr lang="en-US" sz="1300" dirty="0"/>
          </a:p>
        </p:txBody>
      </p:sp>
      <p:sp>
        <p:nvSpPr>
          <p:cNvPr id="29" name="player-5"/>
          <p:cNvSpPr/>
          <p:nvPr/>
        </p:nvSpPr>
        <p:spPr>
          <a:xfrm>
            <a:off x="9568282" y="1508760"/>
            <a:ext cx="2072030" cy="4160520"/>
          </a:xfrm>
          <a:prstGeom prst="roundRect">
            <a:avLst>
              <a:gd name="adj" fmla="val 2648"/>
            </a:avLst>
          </a:prstGeom>
          <a:solidFill>
            <a:srgbClr val="FFFFFF"/>
          </a:solidFill>
          <a:ln w="9525">
            <a:solidFill>
              <a:srgbClr val="E8E8E4"/>
            </a:solidFill>
            <a:prstDash val="solid"/>
          </a:ln>
        </p:spPr>
      </p:sp>
      <p:pic>
        <p:nvPicPr>
          <p:cNvPr id="30" name="logo-5" descr="Plug Power logo">    </p:cNvPr>
          <p:cNvPicPr>
            <a:picLocks noChangeAspect="1"/>
          </p:cNvPicPr>
          <p:nvPr/>
        </p:nvPicPr>
        <p:blipFill>
          <a:blip r:embed="rId5"/>
          <a:stretch>
            <a:fillRect/>
          </a:stretch>
        </p:blipFill>
        <p:spPr>
          <a:xfrm>
            <a:off x="9796882" y="1675226"/>
            <a:ext cx="1614830" cy="563179"/>
          </a:xfrm>
          <a:prstGeom prst="rect">
            <a:avLst/>
          </a:prstGeom>
        </p:spPr>
      </p:pic>
      <p:sp>
        <p:nvSpPr>
          <p:cNvPr id="31" name="Text 23"/>
          <p:cNvSpPr txBox="1"/>
          <p:nvPr/>
        </p:nvSpPr>
        <p:spPr>
          <a:xfrm>
            <a:off x="9705442" y="2377440"/>
            <a:ext cx="1797710" cy="502920"/>
          </a:xfrm>
          <a:prstGeom prst="rect">
            <a:avLst/>
          </a:prstGeom>
          <a:noFill/>
          <a:ln/>
        </p:spPr>
        <p:txBody>
          <a:bodyPr wrap="square" lIns="0" tIns="0" rIns="0" bIns="0" rtlCol="0" anchor="ctr"/>
          <a:lstStyle/>
          <a:p>
            <a:pPr indent="0" marL="0">
              <a:buNone/>
            </a:pPr>
            <a:r>
              <a:rPr lang="en-US" sz="1500" b="1" dirty="0">
                <a:solidFill>
                  <a:schemeClr val="tx2"/>
                </a:solidFill>
              </a:rPr>
              <a:t>Plug Power</a:t>
            </a:r>
            <a:endParaRPr lang="en-US" sz="1500" dirty="0"/>
          </a:p>
        </p:txBody>
      </p:sp>
      <p:sp>
        <p:nvSpPr>
          <p:cNvPr id="32" name="Text 24"/>
          <p:cNvSpPr txBox="1"/>
          <p:nvPr/>
        </p:nvSpPr>
        <p:spPr>
          <a:xfrm>
            <a:off x="9705442" y="2880360"/>
            <a:ext cx="1797710" cy="274320"/>
          </a:xfrm>
          <a:prstGeom prst="rect">
            <a:avLst/>
          </a:prstGeom>
          <a:noFill/>
          <a:ln/>
        </p:spPr>
        <p:txBody>
          <a:bodyPr wrap="square" lIns="0" tIns="0" rIns="0" bIns="0" rtlCol="0" anchor="t"/>
          <a:lstStyle/>
          <a:p>
            <a:pPr indent="0" marL="0">
              <a:buNone/>
            </a:pPr>
            <a:r>
              <a:rPr lang="en-US" sz="1200" dirty="0">
                <a:solidFill>
                  <a:schemeClr val="accent4"/>
                </a:solidFill>
              </a:rPr>
              <a:t>New York, USA</a:t>
            </a:r>
            <a:endParaRPr lang="en-US" sz="1200" dirty="0"/>
          </a:p>
        </p:txBody>
      </p:sp>
      <p:sp>
        <p:nvSpPr>
          <p:cNvPr id="33" name="Text 25"/>
          <p:cNvSpPr txBox="1"/>
          <p:nvPr/>
        </p:nvSpPr>
        <p:spPr>
          <a:xfrm>
            <a:off x="9705442" y="3200400"/>
            <a:ext cx="1797710" cy="868680"/>
          </a:xfrm>
          <a:prstGeom prst="rect">
            <a:avLst/>
          </a:prstGeom>
          <a:noFill/>
          <a:ln/>
        </p:spPr>
        <p:txBody>
          <a:bodyPr wrap="square" lIns="0" tIns="0" rIns="0" bIns="0" rtlCol="0" anchor="t"/>
          <a:lstStyle/>
          <a:p>
            <a:pPr indent="0" marL="0">
              <a:buNone/>
            </a:pPr>
            <a:r>
              <a:rPr lang="en-US" sz="1300" dirty="0">
                <a:solidFill>
                  <a:schemeClr val="tx1"/>
                </a:solidFill>
              </a:rPr>
              <a:t>In-house liquefaction with PEM electrolysis and trailer logistics</a:t>
            </a:r>
            <a:endParaRPr lang="en-US" sz="1300" dirty="0"/>
          </a:p>
        </p:txBody>
      </p:sp>
      <p:sp>
        <p:nvSpPr>
          <p:cNvPr id="34" name="Text 26"/>
          <p:cNvSpPr txBox="1"/>
          <p:nvPr/>
        </p:nvSpPr>
        <p:spPr>
          <a:xfrm>
            <a:off x="9705442" y="4069080"/>
            <a:ext cx="1797710" cy="1508760"/>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1"/>
                </a:solidFill>
              </a:rPr>
              <a:t>Woodbine, Georgia: 15–17.5 t/day</a:t>
            </a:r>
            <a:endParaRPr lang="en-US" sz="1300" dirty="0"/>
          </a:p>
          <a:p>
            <a:pPr marL="177800" indent="-177800">
              <a:spcAft>
                <a:spcPts val="300"/>
              </a:spcAft>
              <a:buSzPct val="100000"/>
              <a:buChar char="•"/>
            </a:pPr>
            <a:r>
              <a:rPr lang="en-US" sz="1300" dirty="0">
                <a:solidFill>
                  <a:schemeClr val="tx1"/>
                </a:solidFill>
              </a:rPr>
              <a:t>Graham, Texas: 45 t/day design</a:t>
            </a:r>
            <a:endParaRPr lang="en-US" sz="1300" dirty="0"/>
          </a:p>
          <a:p>
            <a:pPr marL="177800" indent="-177800">
              <a:spcAft>
                <a:spcPts val="300"/>
              </a:spcAft>
              <a:buSzPct val="100000"/>
              <a:buChar char="•"/>
            </a:pPr>
            <a:r>
              <a:rPr lang="en-US" sz="1300" dirty="0">
                <a:solidFill>
                  <a:schemeClr val="tx1"/>
                </a:solidFill>
              </a:rPr>
              <a:t>Alabama, NY: 74 t/day target</a:t>
            </a:r>
            <a:endParaRPr lang="en-US" sz="1300" dirty="0"/>
          </a:p>
        </p:txBody>
      </p:sp>
      <p:sp>
        <p:nvSpPr>
          <p:cNvPr id="35" name="khi-tag"/>
          <p:cNvSpPr txBox="1"/>
          <p:nvPr/>
        </p:nvSpPr>
        <p:spPr>
          <a:xfrm>
            <a:off x="7450531" y="5742432"/>
            <a:ext cx="1797710" cy="292608"/>
          </a:xfrm>
          <a:prstGeom prst="rect">
            <a:avLst/>
          </a:prstGeom>
          <a:solidFill>
            <a:srgbClr val="60269E"/>
          </a:solidFill>
          <a:ln/>
        </p:spPr>
        <p:txBody>
          <a:bodyPr wrap="square" lIns="0" tIns="0" rIns="0" bIns="0" rtlCol="0" anchor="ctr"/>
          <a:lstStyle/>
          <a:p>
            <a:pPr algn="ctr" indent="0" marL="0">
              <a:buNone/>
            </a:pPr>
            <a:r>
              <a:rPr lang="en-US" sz="1200" b="1" dirty="0">
                <a:solidFill>
                  <a:schemeClr val="bg1"/>
                </a:solidFill>
              </a:rPr>
              <a:t>Full chain</a:t>
            </a:r>
            <a:endParaRPr lang="en-US" sz="1200" dirty="0"/>
          </a:p>
        </p:txBody>
      </p:sp>
      <p:sp>
        <p:nvSpPr>
          <p:cNvPr id="36" name="basis-note"/>
          <p:cNvSpPr txBox="1"/>
          <p:nvPr/>
        </p:nvSpPr>
        <p:spPr>
          <a:xfrm>
            <a:off x="548640" y="6126480"/>
            <a:ext cx="11091672" cy="274320"/>
          </a:xfrm>
          <a:prstGeom prst="rect">
            <a:avLst/>
          </a:prstGeom>
          <a:noFill/>
          <a:ln/>
        </p:spPr>
        <p:txBody>
          <a:bodyPr wrap="square" lIns="0" tIns="0" rIns="0" bIns="0" rtlCol="0" anchor="t"/>
          <a:lstStyle/>
          <a:p>
            <a:pPr indent="0" marL="0">
              <a:buNone/>
            </a:pPr>
            <a:r>
              <a:rPr lang="en-US" sz="1100" dirty="0">
                <a:solidFill>
                  <a:schemeClr val="tx1"/>
                </a:solidFill>
              </a:rPr>
              <a:t>Capacities as stated in each company profile (Section 4); Section 10 notes Kawasaki is currently the single player covering liquefaction, shipping, receiving and regasification.</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The largest liquefier operating today is 90 t/day at Incheon; Kawasaki's planned 115 t/day train would be bigger than any plant built</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Sections 5 and 10.1 · liquefaction capacity · t/day LH₂</a:t>
            </a:r>
            <a:endParaRPr lang="en-US" sz="1100" dirty="0"/>
          </a:p>
        </p:txBody>
      </p:sp>
      <p:graphicFrame>
        <p:nvGraphicFramePr>
          <p:cNvPr id="5" name="plants-chart" descr=""/>
          <p:cNvGraphicFramePr/>
          <p:nvPr/>
        </p:nvGraphicFramePr>
        <p:xfrm>
          <a:off x="457200" y="1417320"/>
          <a:ext cx="7680960" cy="4343400"/>
        </p:xfrm>
        <a:graphic xmlns:a="http://schemas.openxmlformats.org/drawingml/2006/main">
          <a:graphicData uri="http://schemas.openxmlformats.org/drawingml/2006/chart">
            <c:chart xmlns:c="http://schemas.openxmlformats.org/drawingml/2006/chart" r:id="rId1"/>
          </a:graphicData>
        </a:graphic>
      </p:graphicFrame>
      <p:sp>
        <p:nvSpPr>
          <p:cNvPr id="6" name="plants-stats"/>
          <p:cNvSpPr/>
          <p:nvPr/>
        </p:nvSpPr>
        <p:spPr>
          <a:xfrm>
            <a:off x="8458200" y="1508760"/>
            <a:ext cx="3182112" cy="4160520"/>
          </a:xfrm>
          <a:prstGeom prst="roundRect">
            <a:avLst>
              <a:gd name="adj" fmla="val 1724"/>
            </a:avLst>
          </a:prstGeom>
          <a:solidFill>
            <a:srgbClr val="F1EAF6"/>
          </a:solidFill>
          <a:ln w="9525">
            <a:solidFill>
              <a:srgbClr val="F1EAF6"/>
            </a:solidFill>
            <a:prstDash val="solid"/>
          </a:ln>
        </p:spPr>
      </p:sp>
      <p:sp>
        <p:nvSpPr>
          <p:cNvPr id="7" name="stat-incheon"/>
          <p:cNvSpPr txBox="1"/>
          <p:nvPr/>
        </p:nvSpPr>
        <p:spPr>
          <a:xfrm>
            <a:off x="8686800" y="1645920"/>
            <a:ext cx="2743200" cy="548640"/>
          </a:xfrm>
          <a:prstGeom prst="rect">
            <a:avLst/>
          </a:prstGeom>
          <a:noFill/>
          <a:ln/>
        </p:spPr>
        <p:txBody>
          <a:bodyPr wrap="square" lIns="0" tIns="0" rIns="0" bIns="0" rtlCol="0" anchor="b"/>
          <a:lstStyle/>
          <a:p>
            <a:pPr indent="0" marL="0">
              <a:buNone/>
            </a:pPr>
            <a:r>
              <a:rPr lang="en-US" sz="3200" b="1" dirty="0">
                <a:solidFill>
                  <a:schemeClr val="accent4"/>
                </a:solidFill>
              </a:rPr>
              <a:t>90 t/day</a:t>
            </a:r>
            <a:endParaRPr lang="en-US" sz="3200" dirty="0"/>
          </a:p>
        </p:txBody>
      </p:sp>
      <p:sp>
        <p:nvSpPr>
          <p:cNvPr id="8" name="stat-label-incheon"/>
          <p:cNvSpPr txBox="1"/>
          <p:nvPr/>
        </p:nvSpPr>
        <p:spPr>
          <a:xfrm>
            <a:off x="8686800" y="2267712"/>
            <a:ext cx="2743200" cy="594360"/>
          </a:xfrm>
          <a:prstGeom prst="rect">
            <a:avLst/>
          </a:prstGeom>
          <a:noFill/>
          <a:ln/>
        </p:spPr>
        <p:txBody>
          <a:bodyPr wrap="square" lIns="0" tIns="0" rIns="0" bIns="0" rtlCol="0" anchor="t"/>
          <a:lstStyle/>
          <a:p>
            <a:pPr indent="0" marL="0">
              <a:buNone/>
            </a:pPr>
            <a:r>
              <a:rPr lang="en-US" sz="1400" dirty="0">
                <a:solidFill>
                  <a:schemeClr val="tx1"/>
                </a:solidFill>
              </a:rPr>
              <a:t>Incheon, three 30 t/day trains, completed May 2024</a:t>
            </a:r>
            <a:endParaRPr lang="en-US" sz="1400" dirty="0"/>
          </a:p>
        </p:txBody>
      </p:sp>
      <p:sp>
        <p:nvSpPr>
          <p:cNvPr id="9" name="stat-khi"/>
          <p:cNvSpPr txBox="1"/>
          <p:nvPr/>
        </p:nvSpPr>
        <p:spPr>
          <a:xfrm>
            <a:off x="8686800" y="2971800"/>
            <a:ext cx="2743200" cy="548640"/>
          </a:xfrm>
          <a:prstGeom prst="rect">
            <a:avLst/>
          </a:prstGeom>
          <a:noFill/>
          <a:ln/>
        </p:spPr>
        <p:txBody>
          <a:bodyPr wrap="square" lIns="0" tIns="0" rIns="0" bIns="0" rtlCol="0" anchor="b"/>
          <a:lstStyle/>
          <a:p>
            <a:pPr indent="0" marL="0">
              <a:buNone/>
            </a:pPr>
            <a:r>
              <a:rPr lang="en-US" sz="3200" b="1" dirty="0">
                <a:solidFill>
                  <a:schemeClr val="accent4"/>
                </a:solidFill>
              </a:rPr>
              <a:t>115 t/day</a:t>
            </a:r>
            <a:endParaRPr lang="en-US" sz="3200" dirty="0"/>
          </a:p>
        </p:txBody>
      </p:sp>
      <p:sp>
        <p:nvSpPr>
          <p:cNvPr id="10" name="stat-label-khi"/>
          <p:cNvSpPr txBox="1"/>
          <p:nvPr/>
        </p:nvSpPr>
        <p:spPr>
          <a:xfrm>
            <a:off x="8686800" y="3593592"/>
            <a:ext cx="2743200" cy="594360"/>
          </a:xfrm>
          <a:prstGeom prst="rect">
            <a:avLst/>
          </a:prstGeom>
          <a:noFill/>
          <a:ln/>
        </p:spPr>
        <p:txBody>
          <a:bodyPr wrap="square" lIns="0" tIns="0" rIns="0" bIns="0" rtlCol="0" anchor="t"/>
          <a:lstStyle/>
          <a:p>
            <a:pPr indent="0" marL="0">
              <a:buNone/>
            </a:pPr>
            <a:r>
              <a:rPr lang="en-US" sz="1400" dirty="0">
                <a:solidFill>
                  <a:schemeClr val="tx1"/>
                </a:solidFill>
              </a:rPr>
              <a:t>Kawasaki's design train size per liquefier</a:t>
            </a:r>
            <a:endParaRPr lang="en-US" sz="1400" dirty="0"/>
          </a:p>
        </p:txBody>
      </p:sp>
      <p:sp>
        <p:nvSpPr>
          <p:cNvPr id="11" name="stat-leuna"/>
          <p:cNvSpPr txBox="1"/>
          <p:nvPr/>
        </p:nvSpPr>
        <p:spPr>
          <a:xfrm>
            <a:off x="8686800" y="4297680"/>
            <a:ext cx="2743200" cy="548640"/>
          </a:xfrm>
          <a:prstGeom prst="rect">
            <a:avLst/>
          </a:prstGeom>
          <a:noFill/>
          <a:ln/>
        </p:spPr>
        <p:txBody>
          <a:bodyPr wrap="square" lIns="0" tIns="0" rIns="0" bIns="0" rtlCol="0" anchor="b"/>
          <a:lstStyle/>
          <a:p>
            <a:pPr indent="0" marL="0">
              <a:buNone/>
            </a:pPr>
            <a:r>
              <a:rPr lang="en-US" sz="3200" b="1" dirty="0">
                <a:solidFill>
                  <a:schemeClr val="accent4"/>
                </a:solidFill>
              </a:rPr>
              <a:t>11.9 kWh/kg</a:t>
            </a:r>
            <a:endParaRPr lang="en-US" sz="3200" dirty="0"/>
          </a:p>
        </p:txBody>
      </p:sp>
      <p:sp>
        <p:nvSpPr>
          <p:cNvPr id="12" name="stat-label-leuna"/>
          <p:cNvSpPr txBox="1"/>
          <p:nvPr/>
        </p:nvSpPr>
        <p:spPr>
          <a:xfrm>
            <a:off x="8686800" y="4919472"/>
            <a:ext cx="2743200" cy="594360"/>
          </a:xfrm>
          <a:prstGeom prst="rect">
            <a:avLst/>
          </a:prstGeom>
          <a:noFill/>
          <a:ln/>
        </p:spPr>
        <p:txBody>
          <a:bodyPr wrap="square" lIns="0" tIns="0" rIns="0" bIns="0" rtlCol="0" anchor="t"/>
          <a:lstStyle/>
          <a:p>
            <a:pPr indent="0" marL="0">
              <a:buNone/>
            </a:pPr>
            <a:r>
              <a:rPr lang="en-US" sz="1400" dirty="0">
                <a:solidFill>
                  <a:schemeClr val="tx1"/>
                </a:solidFill>
              </a:rPr>
              <a:t>Reported energy use at Linde Leuna</a:t>
            </a:r>
            <a:endParaRPr lang="en-US" sz="1400" dirty="0"/>
          </a:p>
        </p:txBody>
      </p:sp>
      <p:sp>
        <p:nvSpPr>
          <p:cNvPr id="13" name="basis-note"/>
          <p:cNvSpPr txBox="1"/>
          <p:nvPr/>
        </p:nvSpPr>
        <p:spPr>
          <a:xfrm>
            <a:off x="548640" y="5852160"/>
            <a:ext cx="11091672" cy="457200"/>
          </a:xfrm>
          <a:prstGeom prst="rect">
            <a:avLst/>
          </a:prstGeom>
          <a:noFill/>
          <a:ln/>
        </p:spPr>
        <p:txBody>
          <a:bodyPr wrap="square" lIns="0" tIns="0" rIns="0" bIns="0" rtlCol="0" anchor="t"/>
          <a:lstStyle/>
          <a:p>
            <a:pPr indent="0" marL="0">
              <a:buNone/>
            </a:pPr>
            <a:r>
              <a:rPr lang="en-US" sz="1100" dirty="0">
                <a:solidFill>
                  <a:schemeClr val="tx1"/>
                </a:solidFill>
              </a:rPr>
              <a:t>Woodbine shown at the top of its 15–17.5 t/day range. Sources disagree within the database: Las Vegas is 27.2 t/day in Table 5.6 but 30 t/day in Section 5.4, and La Porte is 27.2 t/day in Table 5.6 but over 30 t/day in Section 4.1.</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Large double-wall vacuum-insulated tanks lose about 0.1 % of their LH₂ a day, and the boil-off has to be vented, used or re-liquefied</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Sections 6 and 8.2 · LH₂ storage · boil-off in % of tank contents per day</a:t>
            </a:r>
            <a:endParaRPr lang="en-US" sz="1100" dirty="0"/>
          </a:p>
        </p:txBody>
      </p:sp>
      <p:pic>
        <p:nvPicPr>
          <p:cNvPr id="5" name="tank-image" descr="Cutaway of a Linde double-wall LH2 tank">    </p:cNvPr>
          <p:cNvPicPr>
            <a:picLocks noChangeAspect="1"/>
          </p:cNvPicPr>
          <p:nvPr/>
        </p:nvPicPr>
        <p:blipFill>
          <a:blip r:embed="rId1"/>
          <a:stretch>
            <a:fillRect/>
          </a:stretch>
        </p:blipFill>
        <p:spPr>
          <a:xfrm>
            <a:off x="548640" y="1508760"/>
            <a:ext cx="3071813" cy="2286000"/>
          </a:xfrm>
          <a:prstGeom prst="rect">
            <a:avLst/>
          </a:prstGeom>
        </p:spPr>
      </p:pic>
      <p:sp>
        <p:nvSpPr>
          <p:cNvPr id="6" name="Text 2"/>
          <p:cNvSpPr txBox="1"/>
          <p:nvPr/>
        </p:nvSpPr>
        <p:spPr>
          <a:xfrm>
            <a:off x="548640" y="3840480"/>
            <a:ext cx="3108960" cy="274320"/>
          </a:xfrm>
          <a:prstGeom prst="rect">
            <a:avLst/>
          </a:prstGeom>
          <a:noFill/>
          <a:ln/>
        </p:spPr>
        <p:txBody>
          <a:bodyPr wrap="square" lIns="0" tIns="0" rIns="0" bIns="0" rtlCol="0" anchor="t"/>
          <a:lstStyle/>
          <a:p>
            <a:pPr indent="0" marL="0">
              <a:buNone/>
            </a:pPr>
            <a:r>
              <a:rPr lang="en-US" sz="1100" dirty="0">
                <a:solidFill>
                  <a:schemeClr val="tx1"/>
                </a:solidFill>
              </a:rPr>
              <a:t>Double-wall vacuum-insulated LH₂ tank (Linde, Figure 7)</a:t>
            </a:r>
            <a:endParaRPr lang="en-US" sz="1100" dirty="0"/>
          </a:p>
        </p:txBody>
      </p:sp>
      <p:sp>
        <p:nvSpPr>
          <p:cNvPr id="7" name="Text 3"/>
          <p:cNvSpPr txBox="1"/>
          <p:nvPr/>
        </p:nvSpPr>
        <p:spPr>
          <a:xfrm>
            <a:off x="548640" y="4251960"/>
            <a:ext cx="3108960" cy="1188720"/>
          </a:xfrm>
          <a:prstGeom prst="rect">
            <a:avLst/>
          </a:prstGeom>
          <a:noFill/>
          <a:ln/>
        </p:spPr>
        <p:txBody>
          <a:bodyPr wrap="square" lIns="0" tIns="0" rIns="0" bIns="0" rtlCol="0" anchor="t"/>
          <a:lstStyle/>
          <a:p>
            <a:pPr indent="0" marL="0">
              <a:buNone/>
            </a:pPr>
            <a:r>
              <a:rPr lang="en-US" sz="1400" b="1" dirty="0">
                <a:solidFill>
                  <a:schemeClr val="tx2"/>
                </a:solidFill>
              </a:rPr>
              <a:t>Boil-off options: vent it, compress it, re-liquefy it, or stop it with active zero-boil-off refrigeration.</a:t>
            </a:r>
            <a:endParaRPr lang="en-US" sz="1400" dirty="0"/>
          </a:p>
        </p:txBody>
      </p:sp>
      <p:sp>
        <p:nvSpPr>
          <p:cNvPr id="8" name="tank-type-1"/>
          <p:cNvSpPr/>
          <p:nvPr/>
        </p:nvSpPr>
        <p:spPr>
          <a:xfrm>
            <a:off x="3931920" y="1508760"/>
            <a:ext cx="3762756" cy="1143000"/>
          </a:xfrm>
          <a:prstGeom prst="roundRect">
            <a:avLst>
              <a:gd name="adj" fmla="val 4800"/>
            </a:avLst>
          </a:prstGeom>
          <a:solidFill>
            <a:srgbClr val="F1EAF6"/>
          </a:solidFill>
          <a:ln w="9525">
            <a:solidFill>
              <a:srgbClr val="F1EAF6"/>
            </a:solidFill>
            <a:prstDash val="solid"/>
          </a:ln>
        </p:spPr>
      </p:sp>
      <p:sp>
        <p:nvSpPr>
          <p:cNvPr id="9" name="Text 5"/>
          <p:cNvSpPr txBox="1"/>
          <p:nvPr/>
        </p:nvSpPr>
        <p:spPr>
          <a:xfrm>
            <a:off x="4114800" y="1618488"/>
            <a:ext cx="3396996" cy="320040"/>
          </a:xfrm>
          <a:prstGeom prst="rect">
            <a:avLst/>
          </a:prstGeom>
          <a:noFill/>
          <a:ln/>
        </p:spPr>
        <p:txBody>
          <a:bodyPr wrap="square" lIns="0" tIns="0" rIns="0" bIns="0" rtlCol="0" anchor="t"/>
          <a:lstStyle/>
          <a:p>
            <a:pPr indent="0" marL="0">
              <a:buNone/>
            </a:pPr>
            <a:r>
              <a:rPr lang="en-US" sz="1500" b="1" dirty="0">
                <a:solidFill>
                  <a:schemeClr val="tx2"/>
                </a:solidFill>
              </a:rPr>
              <a:t>Large stationary tanks</a:t>
            </a:r>
            <a:endParaRPr lang="en-US" sz="1500" dirty="0"/>
          </a:p>
        </p:txBody>
      </p:sp>
      <p:sp>
        <p:nvSpPr>
          <p:cNvPr id="10" name="Text 6"/>
          <p:cNvSpPr txBox="1"/>
          <p:nvPr/>
        </p:nvSpPr>
        <p:spPr>
          <a:xfrm>
            <a:off x="4114800" y="1965960"/>
            <a:ext cx="3396996" cy="640080"/>
          </a:xfrm>
          <a:prstGeom prst="rect">
            <a:avLst/>
          </a:prstGeom>
          <a:noFill/>
          <a:ln/>
        </p:spPr>
        <p:txBody>
          <a:bodyPr wrap="square" lIns="0" tIns="0" rIns="0" bIns="0" rtlCol="0" anchor="t"/>
          <a:lstStyle/>
          <a:p>
            <a:pPr indent="0" marL="0">
              <a:buNone/>
            </a:pPr>
            <a:r>
              <a:rPr lang="en-US" sz="1400" dirty="0">
                <a:solidFill>
                  <a:schemeClr val="tx1"/>
                </a:solidFill>
              </a:rPr>
              <a:t>Plants and terminals. Lowest boil-off per tonne; high CAPEX and footprint</a:t>
            </a:r>
            <a:endParaRPr lang="en-US" sz="1400" dirty="0"/>
          </a:p>
        </p:txBody>
      </p:sp>
      <p:sp>
        <p:nvSpPr>
          <p:cNvPr id="11" name="tank-type-2"/>
          <p:cNvSpPr/>
          <p:nvPr/>
        </p:nvSpPr>
        <p:spPr>
          <a:xfrm>
            <a:off x="7877556" y="1508760"/>
            <a:ext cx="3762756" cy="1143000"/>
          </a:xfrm>
          <a:prstGeom prst="roundRect">
            <a:avLst>
              <a:gd name="adj" fmla="val 4800"/>
            </a:avLst>
          </a:prstGeom>
          <a:solidFill>
            <a:srgbClr val="F1EAF6"/>
          </a:solidFill>
          <a:ln w="9525">
            <a:solidFill>
              <a:srgbClr val="F1EAF6"/>
            </a:solidFill>
            <a:prstDash val="solid"/>
          </a:ln>
        </p:spPr>
      </p:sp>
      <p:sp>
        <p:nvSpPr>
          <p:cNvPr id="12" name="Text 8"/>
          <p:cNvSpPr txBox="1"/>
          <p:nvPr/>
        </p:nvSpPr>
        <p:spPr>
          <a:xfrm>
            <a:off x="8060436" y="1618488"/>
            <a:ext cx="3396996" cy="320040"/>
          </a:xfrm>
          <a:prstGeom prst="rect">
            <a:avLst/>
          </a:prstGeom>
          <a:noFill/>
          <a:ln/>
        </p:spPr>
        <p:txBody>
          <a:bodyPr wrap="square" lIns="0" tIns="0" rIns="0" bIns="0" rtlCol="0" anchor="t"/>
          <a:lstStyle/>
          <a:p>
            <a:pPr indent="0" marL="0">
              <a:buNone/>
            </a:pPr>
            <a:r>
              <a:rPr lang="en-US" sz="1500" b="1" dirty="0">
                <a:solidFill>
                  <a:schemeClr val="tx2"/>
                </a:solidFill>
              </a:rPr>
              <a:t>Transport tanks</a:t>
            </a:r>
            <a:endParaRPr lang="en-US" sz="1500" dirty="0"/>
          </a:p>
        </p:txBody>
      </p:sp>
      <p:sp>
        <p:nvSpPr>
          <p:cNvPr id="13" name="Text 9"/>
          <p:cNvSpPr txBox="1"/>
          <p:nvPr/>
        </p:nvSpPr>
        <p:spPr>
          <a:xfrm>
            <a:off x="8060436" y="1965960"/>
            <a:ext cx="3396996" cy="640080"/>
          </a:xfrm>
          <a:prstGeom prst="rect">
            <a:avLst/>
          </a:prstGeom>
          <a:noFill/>
          <a:ln/>
        </p:spPr>
        <p:txBody>
          <a:bodyPr wrap="square" lIns="0" tIns="0" rIns="0" bIns="0" rtlCol="0" anchor="t"/>
          <a:lstStyle/>
          <a:p>
            <a:pPr indent="0" marL="0">
              <a:buNone/>
            </a:pPr>
            <a:r>
              <a:rPr lang="en-US" sz="1400" dirty="0">
                <a:solidFill>
                  <a:schemeClr val="tx1"/>
                </a:solidFill>
              </a:rPr>
              <a:t>Road, rail and ships. Flexible; more heat ingress, boil-off to manage</a:t>
            </a:r>
            <a:endParaRPr lang="en-US" sz="1400" dirty="0"/>
          </a:p>
        </p:txBody>
      </p:sp>
      <p:sp>
        <p:nvSpPr>
          <p:cNvPr id="14" name="tank-type-3"/>
          <p:cNvSpPr/>
          <p:nvPr/>
        </p:nvSpPr>
        <p:spPr>
          <a:xfrm>
            <a:off x="3931920" y="2788920"/>
            <a:ext cx="3762756" cy="1143000"/>
          </a:xfrm>
          <a:prstGeom prst="roundRect">
            <a:avLst>
              <a:gd name="adj" fmla="val 4800"/>
            </a:avLst>
          </a:prstGeom>
          <a:solidFill>
            <a:srgbClr val="F1EAF6"/>
          </a:solidFill>
          <a:ln w="9525">
            <a:solidFill>
              <a:srgbClr val="F1EAF6"/>
            </a:solidFill>
            <a:prstDash val="solid"/>
          </a:ln>
        </p:spPr>
      </p:sp>
      <p:sp>
        <p:nvSpPr>
          <p:cNvPr id="15" name="Text 11"/>
          <p:cNvSpPr txBox="1"/>
          <p:nvPr/>
        </p:nvSpPr>
        <p:spPr>
          <a:xfrm>
            <a:off x="4114800" y="2898648"/>
            <a:ext cx="3396996" cy="320040"/>
          </a:xfrm>
          <a:prstGeom prst="rect">
            <a:avLst/>
          </a:prstGeom>
          <a:noFill/>
          <a:ln/>
        </p:spPr>
        <p:txBody>
          <a:bodyPr wrap="square" lIns="0" tIns="0" rIns="0" bIns="0" rtlCol="0" anchor="t"/>
          <a:lstStyle/>
          <a:p>
            <a:pPr indent="0" marL="0">
              <a:buNone/>
            </a:pPr>
            <a:r>
              <a:rPr lang="en-US" sz="1500" b="1" dirty="0">
                <a:solidFill>
                  <a:schemeClr val="tx2"/>
                </a:solidFill>
              </a:rPr>
              <a:t>Small and medium tanks</a:t>
            </a:r>
            <a:endParaRPr lang="en-US" sz="1500" dirty="0"/>
          </a:p>
        </p:txBody>
      </p:sp>
      <p:sp>
        <p:nvSpPr>
          <p:cNvPr id="16" name="Text 12"/>
          <p:cNvSpPr txBox="1"/>
          <p:nvPr/>
        </p:nvSpPr>
        <p:spPr>
          <a:xfrm>
            <a:off x="4114800" y="3246120"/>
            <a:ext cx="3396996" cy="640080"/>
          </a:xfrm>
          <a:prstGeom prst="rect">
            <a:avLst/>
          </a:prstGeom>
          <a:noFill/>
          <a:ln/>
        </p:spPr>
        <p:txBody>
          <a:bodyPr wrap="square" lIns="0" tIns="0" rIns="0" bIns="0" rtlCol="0" anchor="t"/>
          <a:lstStyle/>
          <a:p>
            <a:pPr indent="0" marL="0">
              <a:buNone/>
            </a:pPr>
            <a:r>
              <a:rPr lang="en-US" sz="1400" dirty="0">
                <a:solidFill>
                  <a:schemeClr val="tx1"/>
                </a:solidFill>
              </a:rPr>
              <a:t>Refuelling stations and buffers. Low investment; higher relative losses</a:t>
            </a:r>
            <a:endParaRPr lang="en-US" sz="1400" dirty="0"/>
          </a:p>
        </p:txBody>
      </p:sp>
      <p:sp>
        <p:nvSpPr>
          <p:cNvPr id="17" name="tank-type-4"/>
          <p:cNvSpPr/>
          <p:nvPr/>
        </p:nvSpPr>
        <p:spPr>
          <a:xfrm>
            <a:off x="7877556" y="2788920"/>
            <a:ext cx="3762756" cy="1143000"/>
          </a:xfrm>
          <a:prstGeom prst="roundRect">
            <a:avLst>
              <a:gd name="adj" fmla="val 4800"/>
            </a:avLst>
          </a:prstGeom>
          <a:solidFill>
            <a:srgbClr val="F1EAF6"/>
          </a:solidFill>
          <a:ln w="9525">
            <a:solidFill>
              <a:srgbClr val="F1EAF6"/>
            </a:solidFill>
            <a:prstDash val="solid"/>
          </a:ln>
        </p:spPr>
      </p:sp>
      <p:sp>
        <p:nvSpPr>
          <p:cNvPr id="18" name="Text 14"/>
          <p:cNvSpPr txBox="1"/>
          <p:nvPr/>
        </p:nvSpPr>
        <p:spPr>
          <a:xfrm>
            <a:off x="8060436" y="2898648"/>
            <a:ext cx="3396996" cy="320040"/>
          </a:xfrm>
          <a:prstGeom prst="rect">
            <a:avLst/>
          </a:prstGeom>
          <a:noFill/>
          <a:ln/>
        </p:spPr>
        <p:txBody>
          <a:bodyPr wrap="square" lIns="0" tIns="0" rIns="0" bIns="0" rtlCol="0" anchor="t"/>
          <a:lstStyle/>
          <a:p>
            <a:pPr indent="0" marL="0">
              <a:buNone/>
            </a:pPr>
            <a:r>
              <a:rPr lang="en-US" sz="1500" b="1" dirty="0">
                <a:solidFill>
                  <a:schemeClr val="tx2"/>
                </a:solidFill>
              </a:rPr>
              <a:t>Pressurised LH₂ tanks</a:t>
            </a:r>
            <a:endParaRPr lang="en-US" sz="1500" dirty="0"/>
          </a:p>
        </p:txBody>
      </p:sp>
      <p:sp>
        <p:nvSpPr>
          <p:cNvPr id="19" name="Text 15"/>
          <p:cNvSpPr txBox="1"/>
          <p:nvPr/>
        </p:nvSpPr>
        <p:spPr>
          <a:xfrm>
            <a:off x="8060436" y="3246120"/>
            <a:ext cx="3396996" cy="640080"/>
          </a:xfrm>
          <a:prstGeom prst="rect">
            <a:avLst/>
          </a:prstGeom>
          <a:noFill/>
          <a:ln/>
        </p:spPr>
        <p:txBody>
          <a:bodyPr wrap="square" lIns="0" tIns="0" rIns="0" bIns="0" rtlCol="0" anchor="t"/>
          <a:lstStyle/>
          <a:p>
            <a:pPr indent="0" marL="0">
              <a:buNone/>
            </a:pPr>
            <a:r>
              <a:rPr lang="en-US" sz="1400" dirty="0">
                <a:solidFill>
                  <a:schemeClr val="tx1"/>
                </a:solidFill>
              </a:rPr>
              <a:t>Higher delivery pressure, less compression; tougher design and safety</a:t>
            </a:r>
            <a:endParaRPr lang="en-US" sz="1400" dirty="0"/>
          </a:p>
        </p:txBody>
      </p:sp>
      <p:sp>
        <p:nvSpPr>
          <p:cNvPr id="20" name="stat-bor0"/>
          <p:cNvSpPr txBox="1"/>
          <p:nvPr/>
        </p:nvSpPr>
        <p:spPr>
          <a:xfrm>
            <a:off x="3931920" y="4206240"/>
            <a:ext cx="2447544" cy="502920"/>
          </a:xfrm>
          <a:prstGeom prst="rect">
            <a:avLst/>
          </a:prstGeom>
          <a:noFill/>
          <a:ln/>
        </p:spPr>
        <p:txBody>
          <a:bodyPr wrap="square" lIns="0" tIns="0" rIns="0" bIns="0" rtlCol="0" anchor="b"/>
          <a:lstStyle/>
          <a:p>
            <a:pPr indent="0" marL="0">
              <a:buNone/>
            </a:pPr>
            <a:r>
              <a:rPr lang="en-US" sz="2800" b="1" dirty="0">
                <a:solidFill>
                  <a:schemeClr val="accent4"/>
                </a:solidFill>
              </a:rPr>
              <a:t>~0.07 %/day</a:t>
            </a:r>
            <a:endParaRPr lang="en-US" sz="2800" dirty="0"/>
          </a:p>
        </p:txBody>
      </p:sp>
      <p:sp>
        <p:nvSpPr>
          <p:cNvPr id="21" name="stat-label-bor0"/>
          <p:cNvSpPr txBox="1"/>
          <p:nvPr/>
        </p:nvSpPr>
        <p:spPr>
          <a:xfrm>
            <a:off x="3931920" y="4782312"/>
            <a:ext cx="2447544" cy="731520"/>
          </a:xfrm>
          <a:prstGeom prst="rect">
            <a:avLst/>
          </a:prstGeom>
          <a:noFill/>
          <a:ln/>
        </p:spPr>
        <p:txBody>
          <a:bodyPr wrap="square" lIns="0" tIns="0" rIns="0" bIns="0" rtlCol="0" anchor="t"/>
          <a:lstStyle/>
          <a:p>
            <a:pPr indent="0" marL="0">
              <a:buNone/>
            </a:pPr>
            <a:r>
              <a:rPr lang="en-US" sz="1400" dirty="0">
                <a:solidFill>
                  <a:schemeClr val="tx1"/>
                </a:solidFill>
              </a:rPr>
              <a:t>NASA Kennedy 3,000 m³ sphere, the largest LH₂ tank in use</a:t>
            </a:r>
            <a:endParaRPr lang="en-US" sz="1400" dirty="0"/>
          </a:p>
        </p:txBody>
      </p:sp>
      <p:sp>
        <p:nvSpPr>
          <p:cNvPr id="22" name="stat-bor1"/>
          <p:cNvSpPr txBox="1"/>
          <p:nvPr/>
        </p:nvSpPr>
        <p:spPr>
          <a:xfrm>
            <a:off x="6562344" y="4206240"/>
            <a:ext cx="2447544" cy="502920"/>
          </a:xfrm>
          <a:prstGeom prst="rect">
            <a:avLst/>
          </a:prstGeom>
          <a:noFill/>
          <a:ln/>
        </p:spPr>
        <p:txBody>
          <a:bodyPr wrap="square" lIns="0" tIns="0" rIns="0" bIns="0" rtlCol="0" anchor="b"/>
          <a:lstStyle/>
          <a:p>
            <a:pPr indent="0" marL="0">
              <a:buNone/>
            </a:pPr>
            <a:r>
              <a:rPr lang="en-US" sz="2800" b="1" dirty="0">
                <a:solidFill>
                  <a:schemeClr val="accent4"/>
                </a:solidFill>
              </a:rPr>
              <a:t>≤0.1 %/day</a:t>
            </a:r>
            <a:endParaRPr lang="en-US" sz="2800" dirty="0"/>
          </a:p>
        </p:txBody>
      </p:sp>
      <p:sp>
        <p:nvSpPr>
          <p:cNvPr id="23" name="stat-label-bor1"/>
          <p:cNvSpPr txBox="1"/>
          <p:nvPr/>
        </p:nvSpPr>
        <p:spPr>
          <a:xfrm>
            <a:off x="6562344" y="4782312"/>
            <a:ext cx="2447544" cy="731520"/>
          </a:xfrm>
          <a:prstGeom prst="rect">
            <a:avLst/>
          </a:prstGeom>
          <a:noFill/>
          <a:ln/>
        </p:spPr>
        <p:txBody>
          <a:bodyPr wrap="square" lIns="0" tIns="0" rIns="0" bIns="0" rtlCol="0" anchor="t"/>
          <a:lstStyle/>
          <a:p>
            <a:pPr indent="0" marL="0">
              <a:buNone/>
            </a:pPr>
            <a:r>
              <a:rPr lang="en-US" sz="1400" dirty="0">
                <a:solidFill>
                  <a:schemeClr val="tx1"/>
                </a:solidFill>
              </a:rPr>
              <a:t>Kawasaki 11,200 m³ design target</a:t>
            </a:r>
            <a:endParaRPr lang="en-US" sz="1400" dirty="0"/>
          </a:p>
        </p:txBody>
      </p:sp>
      <p:sp>
        <p:nvSpPr>
          <p:cNvPr id="24" name="stat-bor2"/>
          <p:cNvSpPr txBox="1"/>
          <p:nvPr/>
        </p:nvSpPr>
        <p:spPr>
          <a:xfrm>
            <a:off x="9192768" y="4206240"/>
            <a:ext cx="2447544" cy="502920"/>
          </a:xfrm>
          <a:prstGeom prst="rect">
            <a:avLst/>
          </a:prstGeom>
          <a:noFill/>
          <a:ln/>
        </p:spPr>
        <p:txBody>
          <a:bodyPr wrap="square" lIns="0" tIns="0" rIns="0" bIns="0" rtlCol="0" anchor="b"/>
          <a:lstStyle/>
          <a:p>
            <a:pPr indent="0" marL="0">
              <a:buNone/>
            </a:pPr>
            <a:r>
              <a:rPr lang="en-US" sz="2800" b="1" dirty="0">
                <a:solidFill>
                  <a:schemeClr val="accent4"/>
                </a:solidFill>
              </a:rPr>
              <a:t>0.1 %/day</a:t>
            </a:r>
            <a:endParaRPr lang="en-US" sz="2800" dirty="0"/>
          </a:p>
        </p:txBody>
      </p:sp>
      <p:sp>
        <p:nvSpPr>
          <p:cNvPr id="25" name="stat-label-bor2"/>
          <p:cNvSpPr txBox="1"/>
          <p:nvPr/>
        </p:nvSpPr>
        <p:spPr>
          <a:xfrm>
            <a:off x="9192768" y="4782312"/>
            <a:ext cx="2447544" cy="731520"/>
          </a:xfrm>
          <a:prstGeom prst="rect">
            <a:avLst/>
          </a:prstGeom>
          <a:noFill/>
          <a:ln/>
        </p:spPr>
        <p:txBody>
          <a:bodyPr wrap="square" lIns="0" tIns="0" rIns="0" bIns="0" rtlCol="0" anchor="t"/>
          <a:lstStyle/>
          <a:p>
            <a:pPr indent="0" marL="0">
              <a:buNone/>
            </a:pPr>
            <a:r>
              <a:rPr lang="en-US" sz="1400" dirty="0">
                <a:solidFill>
                  <a:schemeClr val="tx1"/>
                </a:solidFill>
              </a:rPr>
              <a:t>Database planning value (S&amp;P input, likely conservative)</a:t>
            </a:r>
            <a:endParaRPr lang="en-US" sz="1400" dirty="0"/>
          </a:p>
        </p:txBody>
      </p:sp>
      <p:sp>
        <p:nvSpPr>
          <p:cNvPr id="26" name="basis-note"/>
          <p:cNvSpPr txBox="1"/>
          <p:nvPr/>
        </p:nvSpPr>
        <p:spPr>
          <a:xfrm>
            <a:off x="548640" y="5897880"/>
            <a:ext cx="11091672" cy="365760"/>
          </a:xfrm>
          <a:prstGeom prst="rect">
            <a:avLst/>
          </a:prstGeom>
          <a:noFill/>
          <a:ln/>
        </p:spPr>
        <p:txBody>
          <a:bodyPr wrap="square" lIns="0" tIns="0" rIns="0" bIns="0" rtlCol="0" anchor="t"/>
          <a:lstStyle/>
          <a:p>
            <a:pPr indent="0" marL="0">
              <a:buNone/>
            </a:pPr>
            <a:r>
              <a:rPr lang="en-US" sz="1100" dirty="0">
                <a:solidFill>
                  <a:schemeClr val="tx1"/>
                </a:solidFill>
              </a:rPr>
              <a:t>Boil-off depends on tank size, insulation, storage time and fill level; sloshing, stratification and ortho-para conversion add to it (Section 6.3).</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Only a 1,250 m³ demonstration carrier has sailed; the commercial design is 160,000 m³, 128 times larger</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Sections 7 and 10.3 · LH₂ carriers · cargo capacity in m³</a:t>
            </a:r>
            <a:endParaRPr lang="en-US" sz="1100" dirty="0"/>
          </a:p>
        </p:txBody>
      </p:sp>
      <p:pic>
        <p:nvPicPr>
          <p:cNvPr id="5" name="ship-image" descr="Suiso Frontier LH2 carrier at sea">    </p:cNvPr>
          <p:cNvPicPr>
            <a:picLocks noChangeAspect="1"/>
          </p:cNvPicPr>
          <p:nvPr/>
        </p:nvPicPr>
        <p:blipFill>
          <a:blip r:embed="rId1"/>
          <a:stretch>
            <a:fillRect/>
          </a:stretch>
        </p:blipFill>
        <p:spPr>
          <a:xfrm>
            <a:off x="548640" y="1508760"/>
            <a:ext cx="5120640" cy="1997889"/>
          </a:xfrm>
          <a:prstGeom prst="rect">
            <a:avLst/>
          </a:prstGeom>
        </p:spPr>
      </p:pic>
      <p:sp>
        <p:nvSpPr>
          <p:cNvPr id="6" name="Text 2"/>
          <p:cNvSpPr txBox="1"/>
          <p:nvPr/>
        </p:nvSpPr>
        <p:spPr>
          <a:xfrm>
            <a:off x="548640" y="3598089"/>
            <a:ext cx="5120640" cy="594360"/>
          </a:xfrm>
          <a:prstGeom prst="rect">
            <a:avLst/>
          </a:prstGeom>
          <a:noFill/>
          <a:ln/>
        </p:spPr>
        <p:txBody>
          <a:bodyPr wrap="square" lIns="0" tIns="0" rIns="0" bIns="0" rtlCol="0" anchor="t"/>
          <a:lstStyle/>
          <a:p>
            <a:pPr indent="0" marL="0">
              <a:buNone/>
            </a:pPr>
            <a:r>
              <a:rPr lang="en-US" sz="1300" dirty="0">
                <a:solidFill>
                  <a:schemeClr val="tx1"/>
                </a:solidFill>
              </a:rPr>
              <a:t>Suiso Frontier (Kawasaki): 116 m long, 1,250 m³ (~75 t LH₂), 13 knots, about 8,000 gross tonnes. First international LH₂ voyage in 2022.</a:t>
            </a:r>
            <a:endParaRPr lang="en-US" sz="1300" dirty="0"/>
          </a:p>
        </p:txBody>
      </p:sp>
      <p:graphicFrame>
        <p:nvGraphicFramePr>
          <p:cNvPr id="7" name="ship-size-chart" descr=""/>
          <p:cNvGraphicFramePr/>
          <p:nvPr/>
        </p:nvGraphicFramePr>
        <p:xfrm>
          <a:off x="5943600" y="1417320"/>
          <a:ext cx="5760720" cy="2743200"/>
        </p:xfrm>
        <a:graphic xmlns:a="http://schemas.openxmlformats.org/drawingml/2006/main">
          <a:graphicData uri="http://schemas.openxmlformats.org/drawingml/2006/chart">
            <c:chart xmlns:c="http://schemas.openxmlformats.org/drawingml/2006/chart" r:id="rId2"/>
          </a:graphicData>
        </a:graphic>
      </p:graphicFrame>
      <p:graphicFrame>
        <p:nvGraphicFramePr>
          <p:cNvPr id="9" name="modes-table"/>
          <p:cNvGraphicFramePr>
            <a:graphicFrameLocks noGrp="1"/>
          </p:cNvGraphicFramePr>
          <p:nvPr>
            <p:extLst>
              <p:ext uri="{D42A27DB-BD31-4B8C-83A1-F6EECF244321}">
                <p14:modId xmlns:p14="http://schemas.microsoft.com/office/powerpoint/2010/main" val="1579011935"/>
              </p:ext>
            </p:extLst>
          </p:nvPr>
        </p:nvGraphicFramePr>
        <p:xfrm>
          <a:off x="548640" y="4343400"/>
          <a:ext cx="11091672" cy="914400"/>
        </p:xfrm>
        <a:graphic>
          <a:graphicData uri="http://schemas.openxmlformats.org/drawingml/2006/table">
            <a:tbl>
              <a:tblPr/>
              <a:tblGrid>
                <a:gridCol w="1188720"/>
                <a:gridCol w="4754880"/>
                <a:gridCol w="5148072"/>
              </a:tblGrid>
              <a:tr h="32918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Mode</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Best suited to</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Main limits</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r>
              <a:tr h="329184">
                <a:tc>
                  <a:txBody>
                    <a:bodyPr/>
                    <a:lstStyle/>
                    <a:p>
                      <a:pPr indent="0" marL="0">
                        <a:buNone/>
                      </a:pPr>
                      <a:r>
                        <a:rPr lang="en-US" sz="1300" b="1" dirty="0">
                          <a:solidFill>
                            <a:srgbClr val="3A3935"/>
                          </a:solidFill>
                          <a:latin typeface="Calibri" pitchFamily="34" charset="0"/>
                          <a:ea typeface="Calibri" pitchFamily="34" charset="-122"/>
                          <a:cs typeface="Calibri" pitchFamily="34" charset="-120"/>
                        </a:rPr>
                        <a:t>Road</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Regional distribution, refuelling stations, smaller deliveries</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Lower capacity; higher cost per kg over long distances</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329184">
                <a:tc>
                  <a:txBody>
                    <a:bodyPr/>
                    <a:lstStyle/>
                    <a:p>
                      <a:pPr indent="0" marL="0">
                        <a:buNone/>
                      </a:pPr>
                      <a:r>
                        <a:rPr lang="en-US" sz="1300" b="1" dirty="0">
                          <a:solidFill>
                            <a:srgbClr val="3A3935"/>
                          </a:solidFill>
                          <a:latin typeface="Calibri" pitchFamily="34" charset="0"/>
                          <a:ea typeface="Calibri" pitchFamily="34" charset="-122"/>
                          <a:cs typeface="Calibri" pitchFamily="34" charset="-120"/>
                        </a:rPr>
                        <a:t>Rail</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Larger volumes over longer inland distances</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Needs rail infrastructure and dedicated handling</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329184">
                <a:tc>
                  <a:txBody>
                    <a:bodyPr/>
                    <a:lstStyle/>
                    <a:p>
                      <a:pPr indent="0" marL="0">
                        <a:buNone/>
                      </a:pPr>
                      <a:r>
                        <a:rPr lang="en-US" sz="1300" b="1" dirty="0">
                          <a:solidFill>
                            <a:srgbClr val="3A3935"/>
                          </a:solidFill>
                          <a:latin typeface="Calibri" pitchFamily="34" charset="0"/>
                          <a:ea typeface="Calibri" pitchFamily="34" charset="-122"/>
                          <a:cs typeface="Calibri" pitchFamily="34" charset="-120"/>
                        </a:rPr>
                        <a:t>Marine</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Large-scale, long-distance and international supply</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High ship and terminal CAPEX; boil-off management</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bl>
          </a:graphicData>
        </a:graphic>
      </p:graphicFrame>
      <p:sp>
        <p:nvSpPr>
          <p:cNvPr id="9" name="basis-note"/>
          <p:cNvSpPr txBox="1"/>
          <p:nvPr/>
        </p:nvSpPr>
        <p:spPr>
          <a:xfrm>
            <a:off x="548640" y="5852160"/>
            <a:ext cx="11091672" cy="365760"/>
          </a:xfrm>
          <a:prstGeom prst="rect">
            <a:avLst/>
          </a:prstGeom>
          <a:noFill/>
          <a:ln/>
        </p:spPr>
        <p:txBody>
          <a:bodyPr wrap="square" lIns="0" tIns="0" rIns="0" bIns="0" rtlCol="0" anchor="t"/>
          <a:lstStyle/>
          <a:p>
            <a:pPr indent="0" marL="0">
              <a:buNone/>
            </a:pPr>
            <a:r>
              <a:rPr lang="en-US" sz="1100" dirty="0">
                <a:solidFill>
                  <a:schemeClr val="tx1"/>
                </a:solidFill>
              </a:rPr>
              <a:t>Road and rail all use vacuum-insulated cryogenic tanks; mode choice depends on distance, volume, delivery frequency, infrastructure, boil-off and cost (Section 7.3).</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Kawasaki's specification is the chain's design basis: 8–9 kWh/kg to liquefy, 0.1 %/day boil-off in tanks and 0.2 %/day at sea</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 10 · KHI technical specification</a:t>
            </a:r>
            <a:endParaRPr lang="en-US" sz="1100" dirty="0"/>
          </a:p>
        </p:txBody>
      </p:sp>
      <p:sp>
        <p:nvSpPr>
          <p:cNvPr id="5" name="chain-step-1"/>
          <p:cNvSpPr/>
          <p:nvPr/>
        </p:nvSpPr>
        <p:spPr>
          <a:xfrm>
            <a:off x="548640" y="1508760"/>
            <a:ext cx="2635758" cy="685800"/>
          </a:xfrm>
          <a:prstGeom prst="homePlate">
            <a:avLst/>
          </a:prstGeom>
          <a:solidFill>
            <a:srgbClr val="60269E"/>
          </a:solidFill>
          <a:ln w="12700">
            <a:solidFill>
              <a:srgbClr val="60269E"/>
            </a:solidFill>
            <a:prstDash val="solid"/>
          </a:ln>
        </p:spPr>
      </p:sp>
      <p:sp>
        <p:nvSpPr>
          <p:cNvPr id="6" name="Text 3"/>
          <p:cNvSpPr txBox="1"/>
          <p:nvPr/>
        </p:nvSpPr>
        <p:spPr>
          <a:xfrm>
            <a:off x="731520" y="1508760"/>
            <a:ext cx="1949958" cy="685800"/>
          </a:xfrm>
          <a:prstGeom prst="rect">
            <a:avLst/>
          </a:prstGeom>
          <a:noFill/>
          <a:ln/>
        </p:spPr>
        <p:txBody>
          <a:bodyPr wrap="square" lIns="0" tIns="0" rIns="0" bIns="0" rtlCol="0" anchor="ctr"/>
          <a:lstStyle/>
          <a:p>
            <a:pPr indent="0" marL="0">
              <a:buNone/>
            </a:pPr>
            <a:r>
              <a:rPr lang="en-US" sz="1500" b="1" dirty="0">
                <a:solidFill>
                  <a:schemeClr val="bg1"/>
                </a:solidFill>
              </a:rPr>
              <a:t>Liquefier</a:t>
            </a:r>
            <a:endParaRPr lang="en-US" sz="1500" dirty="0"/>
          </a:p>
        </p:txBody>
      </p:sp>
      <p:sp>
        <p:nvSpPr>
          <p:cNvPr id="7" name="chain-step-2"/>
          <p:cNvSpPr/>
          <p:nvPr/>
        </p:nvSpPr>
        <p:spPr>
          <a:xfrm>
            <a:off x="3367278" y="1508760"/>
            <a:ext cx="2635758" cy="685800"/>
          </a:xfrm>
          <a:prstGeom prst="chevron">
            <a:avLst/>
          </a:prstGeom>
          <a:solidFill>
            <a:srgbClr val="60269E"/>
          </a:solidFill>
          <a:ln w="12700">
            <a:solidFill>
              <a:srgbClr val="60269E"/>
            </a:solidFill>
            <a:prstDash val="solid"/>
          </a:ln>
        </p:spPr>
      </p:sp>
      <p:sp>
        <p:nvSpPr>
          <p:cNvPr id="8" name="Text 5"/>
          <p:cNvSpPr txBox="1"/>
          <p:nvPr/>
        </p:nvSpPr>
        <p:spPr>
          <a:xfrm>
            <a:off x="3778758" y="1508760"/>
            <a:ext cx="1949958" cy="685800"/>
          </a:xfrm>
          <a:prstGeom prst="rect">
            <a:avLst/>
          </a:prstGeom>
          <a:noFill/>
          <a:ln/>
        </p:spPr>
        <p:txBody>
          <a:bodyPr wrap="square" lIns="0" tIns="0" rIns="0" bIns="0" rtlCol="0" anchor="ctr"/>
          <a:lstStyle/>
          <a:p>
            <a:pPr indent="0" marL="0">
              <a:buNone/>
            </a:pPr>
            <a:r>
              <a:rPr lang="en-US" sz="1500" b="1" dirty="0">
                <a:solidFill>
                  <a:schemeClr val="bg1"/>
                </a:solidFill>
              </a:rPr>
              <a:t>Export terminal</a:t>
            </a:r>
            <a:endParaRPr lang="en-US" sz="1500" dirty="0"/>
          </a:p>
        </p:txBody>
      </p:sp>
      <p:sp>
        <p:nvSpPr>
          <p:cNvPr id="9" name="chain-step-3"/>
          <p:cNvSpPr/>
          <p:nvPr/>
        </p:nvSpPr>
        <p:spPr>
          <a:xfrm>
            <a:off x="6185916" y="1508760"/>
            <a:ext cx="2635758" cy="685800"/>
          </a:xfrm>
          <a:prstGeom prst="chevron">
            <a:avLst/>
          </a:prstGeom>
          <a:solidFill>
            <a:srgbClr val="60269E"/>
          </a:solidFill>
          <a:ln w="12700">
            <a:solidFill>
              <a:srgbClr val="60269E"/>
            </a:solidFill>
            <a:prstDash val="solid"/>
          </a:ln>
        </p:spPr>
      </p:sp>
      <p:sp>
        <p:nvSpPr>
          <p:cNvPr id="10" name="Text 7"/>
          <p:cNvSpPr txBox="1"/>
          <p:nvPr/>
        </p:nvSpPr>
        <p:spPr>
          <a:xfrm>
            <a:off x="6597396" y="1508760"/>
            <a:ext cx="1949958" cy="685800"/>
          </a:xfrm>
          <a:prstGeom prst="rect">
            <a:avLst/>
          </a:prstGeom>
          <a:noFill/>
          <a:ln/>
        </p:spPr>
        <p:txBody>
          <a:bodyPr wrap="square" lIns="0" tIns="0" rIns="0" bIns="0" rtlCol="0" anchor="ctr"/>
          <a:lstStyle/>
          <a:p>
            <a:pPr indent="0" marL="0">
              <a:buNone/>
            </a:pPr>
            <a:r>
              <a:rPr lang="en-US" sz="1500" b="1" dirty="0">
                <a:solidFill>
                  <a:schemeClr val="bg1"/>
                </a:solidFill>
              </a:rPr>
              <a:t>LH₂ carrier</a:t>
            </a:r>
            <a:endParaRPr lang="en-US" sz="1500" dirty="0"/>
          </a:p>
        </p:txBody>
      </p:sp>
      <p:sp>
        <p:nvSpPr>
          <p:cNvPr id="11" name="chain-step-4"/>
          <p:cNvSpPr/>
          <p:nvPr/>
        </p:nvSpPr>
        <p:spPr>
          <a:xfrm>
            <a:off x="9004554" y="1508760"/>
            <a:ext cx="2635758" cy="685800"/>
          </a:xfrm>
          <a:prstGeom prst="chevron">
            <a:avLst/>
          </a:prstGeom>
          <a:solidFill>
            <a:srgbClr val="60269E"/>
          </a:solidFill>
          <a:ln w="12700">
            <a:solidFill>
              <a:srgbClr val="60269E"/>
            </a:solidFill>
            <a:prstDash val="solid"/>
          </a:ln>
        </p:spPr>
      </p:sp>
      <p:sp>
        <p:nvSpPr>
          <p:cNvPr id="12" name="Text 9"/>
          <p:cNvSpPr txBox="1"/>
          <p:nvPr/>
        </p:nvSpPr>
        <p:spPr>
          <a:xfrm>
            <a:off x="9416034" y="1508760"/>
            <a:ext cx="1949958" cy="685800"/>
          </a:xfrm>
          <a:prstGeom prst="rect">
            <a:avLst/>
          </a:prstGeom>
          <a:noFill/>
          <a:ln/>
        </p:spPr>
        <p:txBody>
          <a:bodyPr wrap="square" lIns="0" tIns="0" rIns="0" bIns="0" rtlCol="0" anchor="ctr"/>
          <a:lstStyle/>
          <a:p>
            <a:pPr indent="0" marL="0">
              <a:buNone/>
            </a:pPr>
            <a:r>
              <a:rPr lang="en-US" sz="1500" b="1" dirty="0">
                <a:solidFill>
                  <a:schemeClr val="bg1"/>
                </a:solidFill>
              </a:rPr>
              <a:t>Import &amp; regasification</a:t>
            </a:r>
            <a:endParaRPr lang="en-US" sz="1500" dirty="0"/>
          </a:p>
        </p:txBody>
      </p:sp>
      <p:sp>
        <p:nvSpPr>
          <p:cNvPr id="13" name="spec-1"/>
          <p:cNvSpPr/>
          <p:nvPr/>
        </p:nvSpPr>
        <p:spPr>
          <a:xfrm>
            <a:off x="548640" y="2377440"/>
            <a:ext cx="2635758" cy="3246120"/>
          </a:xfrm>
          <a:prstGeom prst="roundRect">
            <a:avLst>
              <a:gd name="adj" fmla="val 2082"/>
            </a:avLst>
          </a:prstGeom>
          <a:solidFill>
            <a:srgbClr val="F1EAF6"/>
          </a:solidFill>
          <a:ln w="9525">
            <a:solidFill>
              <a:srgbClr val="F1EAF6"/>
            </a:solidFill>
            <a:prstDash val="solid"/>
          </a:ln>
        </p:spPr>
      </p:sp>
      <p:sp>
        <p:nvSpPr>
          <p:cNvPr id="14" name="Text 11"/>
          <p:cNvSpPr txBox="1"/>
          <p:nvPr/>
        </p:nvSpPr>
        <p:spPr>
          <a:xfrm>
            <a:off x="658368" y="2514600"/>
            <a:ext cx="2407158" cy="3017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115 t/day per train</a:t>
            </a:r>
            <a:endParaRPr lang="en-US" sz="1400" dirty="0"/>
          </a:p>
          <a:p>
            <a:pPr marL="177800" indent="-177800">
              <a:spcAft>
                <a:spcPts val="800"/>
              </a:spcAft>
              <a:buSzPct val="100000"/>
              <a:buChar char="•"/>
            </a:pPr>
            <a:r>
              <a:rPr lang="en-US" sz="1400" dirty="0">
                <a:solidFill>
                  <a:schemeClr val="tx1"/>
                </a:solidFill>
              </a:rPr>
              <a:t>8–9 kWh/kg H₂ now; 6 at large scale, gains expected 2035–2040</a:t>
            </a:r>
            <a:endParaRPr lang="en-US" sz="1400" dirty="0"/>
          </a:p>
          <a:p>
            <a:pPr marL="177800" indent="-177800">
              <a:spcAft>
                <a:spcPts val="800"/>
              </a:spcAft>
              <a:buSzPct val="100000"/>
              <a:buChar char="•"/>
            </a:pPr>
            <a:r>
              <a:rPr lang="en-US" sz="1400" dirty="0">
                <a:solidFill>
                  <a:schemeClr val="tx1"/>
                </a:solidFill>
              </a:rPr>
              <a:t>H₂ Claude cycle with N₂ pre-cooling</a:t>
            </a:r>
            <a:endParaRPr lang="en-US" sz="1400" dirty="0"/>
          </a:p>
          <a:p>
            <a:pPr marL="177800" indent="-177800">
              <a:spcAft>
                <a:spcPts val="800"/>
              </a:spcAft>
              <a:buSzPct val="100000"/>
              <a:buChar char="•"/>
            </a:pPr>
            <a:r>
              <a:rPr lang="en-US" sz="1400" dirty="0">
                <a:solidFill>
                  <a:schemeClr val="tx1"/>
                </a:solidFill>
              </a:rPr>
              <a:t>Iron-based ortho-para catalyst inside the liquefier</a:t>
            </a:r>
            <a:endParaRPr lang="en-US" sz="1400" dirty="0"/>
          </a:p>
          <a:p>
            <a:pPr marL="177800" indent="-177800">
              <a:spcAft>
                <a:spcPts val="800"/>
              </a:spcAft>
              <a:buSzPct val="100000"/>
              <a:buChar char="•"/>
            </a:pPr>
            <a:r>
              <a:rPr lang="en-US" sz="1400" dirty="0">
                <a:solidFill>
                  <a:schemeClr val="tx1"/>
                </a:solidFill>
              </a:rPr>
              <a:t>Minimum economic scale ~10,000 tpa</a:t>
            </a:r>
            <a:endParaRPr lang="en-US" sz="1400" dirty="0"/>
          </a:p>
        </p:txBody>
      </p:sp>
      <p:sp>
        <p:nvSpPr>
          <p:cNvPr id="15" name="spec-2"/>
          <p:cNvSpPr/>
          <p:nvPr/>
        </p:nvSpPr>
        <p:spPr>
          <a:xfrm>
            <a:off x="3367278" y="2377440"/>
            <a:ext cx="2635758" cy="3246120"/>
          </a:xfrm>
          <a:prstGeom prst="roundRect">
            <a:avLst>
              <a:gd name="adj" fmla="val 2082"/>
            </a:avLst>
          </a:prstGeom>
          <a:solidFill>
            <a:srgbClr val="F1EAF6"/>
          </a:solidFill>
          <a:ln w="9525">
            <a:solidFill>
              <a:srgbClr val="F1EAF6"/>
            </a:solidFill>
            <a:prstDash val="solid"/>
          </a:ln>
        </p:spPr>
      </p:sp>
      <p:sp>
        <p:nvSpPr>
          <p:cNvPr id="16" name="Text 13"/>
          <p:cNvSpPr txBox="1"/>
          <p:nvPr/>
        </p:nvSpPr>
        <p:spPr>
          <a:xfrm>
            <a:off x="3477006" y="2514600"/>
            <a:ext cx="2407158" cy="3017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Up to 4,000 t (~56,000 m³) per tank, not yet built</a:t>
            </a:r>
            <a:endParaRPr lang="en-US" sz="1400" dirty="0"/>
          </a:p>
          <a:p>
            <a:pPr marL="177800" indent="-177800">
              <a:spcAft>
                <a:spcPts val="800"/>
              </a:spcAft>
              <a:buSzPct val="100000"/>
              <a:buChar char="•"/>
            </a:pPr>
            <a:r>
              <a:rPr lang="en-US" sz="1400" dirty="0">
                <a:solidFill>
                  <a:schemeClr val="tx1"/>
                </a:solidFill>
              </a:rPr>
              <a:t>Boil-off 0.1 %/day</a:t>
            </a:r>
            <a:endParaRPr lang="en-US" sz="1400" dirty="0"/>
          </a:p>
          <a:p>
            <a:pPr marL="177800" indent="-177800">
              <a:spcAft>
                <a:spcPts val="800"/>
              </a:spcAft>
              <a:buSzPct val="100000"/>
              <a:buChar char="•"/>
            </a:pPr>
            <a:r>
              <a:rPr lang="en-US" sz="1400" dirty="0">
                <a:solidFill>
                  <a:schemeClr val="tx1"/>
                </a:solidFill>
              </a:rPr>
              <a:t>Boil-off re-liquefied at 8 kWh/kg</a:t>
            </a:r>
            <a:endParaRPr lang="en-US" sz="1400" dirty="0"/>
          </a:p>
          <a:p>
            <a:pPr marL="177800" indent="-177800">
              <a:spcAft>
                <a:spcPts val="800"/>
              </a:spcAft>
              <a:buSzPct val="100000"/>
              <a:buChar char="•"/>
            </a:pPr>
            <a:r>
              <a:rPr lang="en-US" sz="1400" dirty="0">
                <a:solidFill>
                  <a:schemeClr val="tx1"/>
                </a:solidFill>
              </a:rPr>
              <a:t>Jetty and loading arms costed on an LNG basis</a:t>
            </a:r>
            <a:endParaRPr lang="en-US" sz="1400" dirty="0"/>
          </a:p>
        </p:txBody>
      </p:sp>
      <p:sp>
        <p:nvSpPr>
          <p:cNvPr id="17" name="spec-3"/>
          <p:cNvSpPr/>
          <p:nvPr/>
        </p:nvSpPr>
        <p:spPr>
          <a:xfrm>
            <a:off x="6185916" y="2377440"/>
            <a:ext cx="2635758" cy="3246120"/>
          </a:xfrm>
          <a:prstGeom prst="roundRect">
            <a:avLst>
              <a:gd name="adj" fmla="val 2082"/>
            </a:avLst>
          </a:prstGeom>
          <a:solidFill>
            <a:srgbClr val="F1EAF6"/>
          </a:solidFill>
          <a:ln w="9525">
            <a:solidFill>
              <a:srgbClr val="F1EAF6"/>
            </a:solidFill>
            <a:prstDash val="solid"/>
          </a:ln>
        </p:spPr>
      </p:sp>
      <p:sp>
        <p:nvSpPr>
          <p:cNvPr id="18" name="Text 15"/>
          <p:cNvSpPr txBox="1"/>
          <p:nvPr/>
        </p:nvSpPr>
        <p:spPr>
          <a:xfrm>
            <a:off x="6295644" y="2514600"/>
            <a:ext cx="2407158" cy="3017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160,000 m³ commercial design; 40,000 m³ being built</a:t>
            </a:r>
            <a:endParaRPr lang="en-US" sz="1400" dirty="0"/>
          </a:p>
          <a:p>
            <a:pPr marL="177800" indent="-177800">
              <a:spcAft>
                <a:spcPts val="800"/>
              </a:spcAft>
              <a:buSzPct val="100000"/>
              <a:buChar char="•"/>
            </a:pPr>
            <a:r>
              <a:rPr lang="en-US" sz="1400" dirty="0">
                <a:solidFill>
                  <a:schemeClr val="tx1"/>
                </a:solidFill>
              </a:rPr>
              <a:t>29.6 km/h (about 16 knots)</a:t>
            </a:r>
            <a:endParaRPr lang="en-US" sz="1400" dirty="0"/>
          </a:p>
          <a:p>
            <a:pPr marL="177800" indent="-177800">
              <a:spcAft>
                <a:spcPts val="800"/>
              </a:spcAft>
              <a:buSzPct val="100000"/>
              <a:buChar char="•"/>
            </a:pPr>
            <a:r>
              <a:rPr lang="en-US" sz="1400" dirty="0">
                <a:solidFill>
                  <a:schemeClr val="tx1"/>
                </a:solidFill>
              </a:rPr>
              <a:t>Boil-off 0.2 %/day, burned in a dual-fuel engine</a:t>
            </a:r>
            <a:endParaRPr lang="en-US" sz="1400" dirty="0"/>
          </a:p>
          <a:p>
            <a:pPr marL="177800" indent="-177800">
              <a:spcAft>
                <a:spcPts val="800"/>
              </a:spcAft>
              <a:buSzPct val="100000"/>
              <a:buChar char="•"/>
            </a:pPr>
            <a:r>
              <a:rPr lang="en-US" sz="1400" dirty="0">
                <a:solidFill>
                  <a:schemeClr val="tx1"/>
                </a:solidFill>
              </a:rPr>
              <a:t>No onboard re-liquefaction</a:t>
            </a:r>
            <a:endParaRPr lang="en-US" sz="1400" dirty="0"/>
          </a:p>
          <a:p>
            <a:pPr marL="177800" indent="-177800">
              <a:spcAft>
                <a:spcPts val="800"/>
              </a:spcAft>
              <a:buSzPct val="100000"/>
              <a:buChar char="•"/>
            </a:pPr>
            <a:r>
              <a:rPr lang="en-US" sz="1400" dirty="0">
                <a:solidFill>
                  <a:schemeClr val="tx1"/>
                </a:solidFill>
              </a:rPr>
              <a:t>1.30 % vaporised at loading, 1.25 % at unloading</a:t>
            </a:r>
            <a:endParaRPr lang="en-US" sz="1400" dirty="0"/>
          </a:p>
        </p:txBody>
      </p:sp>
      <p:sp>
        <p:nvSpPr>
          <p:cNvPr id="19" name="spec-4"/>
          <p:cNvSpPr/>
          <p:nvPr/>
        </p:nvSpPr>
        <p:spPr>
          <a:xfrm>
            <a:off x="9004554" y="2377440"/>
            <a:ext cx="2635758" cy="3246120"/>
          </a:xfrm>
          <a:prstGeom prst="roundRect">
            <a:avLst>
              <a:gd name="adj" fmla="val 2082"/>
            </a:avLst>
          </a:prstGeom>
          <a:solidFill>
            <a:srgbClr val="F1EAF6"/>
          </a:solidFill>
          <a:ln w="9525">
            <a:solidFill>
              <a:srgbClr val="F1EAF6"/>
            </a:solidFill>
            <a:prstDash val="solid"/>
          </a:ln>
        </p:spPr>
      </p:sp>
      <p:sp>
        <p:nvSpPr>
          <p:cNvPr id="20" name="Text 17"/>
          <p:cNvSpPr txBox="1"/>
          <p:nvPr/>
        </p:nvSpPr>
        <p:spPr>
          <a:xfrm>
            <a:off x="9114282" y="2514600"/>
            <a:ext cx="2407158" cy="3017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65,000 m³ tanks, boil-off 0.1 %/day</a:t>
            </a:r>
            <a:endParaRPr lang="en-US" sz="1400" dirty="0"/>
          </a:p>
          <a:p>
            <a:pPr marL="177800" indent="-177800">
              <a:spcAft>
                <a:spcPts val="800"/>
              </a:spcAft>
              <a:buSzPct val="100000"/>
              <a:buChar char="•"/>
            </a:pPr>
            <a:r>
              <a:rPr lang="en-US" sz="1400" dirty="0">
                <a:solidFill>
                  <a:schemeClr val="tx1"/>
                </a:solidFill>
              </a:rPr>
              <a:t>Open-rack vaporiser using seawater</a:t>
            </a:r>
            <a:endParaRPr lang="en-US" sz="1400" dirty="0"/>
          </a:p>
          <a:p>
            <a:pPr marL="177800" indent="-177800">
              <a:spcAft>
                <a:spcPts val="800"/>
              </a:spcAft>
              <a:buSzPct val="100000"/>
              <a:buChar char="•"/>
            </a:pPr>
            <a:r>
              <a:rPr lang="en-US" sz="1400" dirty="0">
                <a:solidFill>
                  <a:schemeClr val="tx1"/>
                </a:solidFill>
              </a:rPr>
              <a:t>3.8 MJ/kg of heat from seawater, not counted as purchased energy</a:t>
            </a:r>
            <a:endParaRPr lang="en-US" sz="1400" dirty="0"/>
          </a:p>
          <a:p>
            <a:pPr marL="177800" indent="-177800">
              <a:spcAft>
                <a:spcPts val="800"/>
              </a:spcAft>
              <a:buSzPct val="100000"/>
              <a:buChar char="•"/>
            </a:pPr>
            <a:r>
              <a:rPr lang="en-US" sz="1400" dirty="0">
                <a:solidFill>
                  <a:schemeClr val="tx1"/>
                </a:solidFill>
              </a:rPr>
              <a:t>Ship-to-ship transfer and floating storage not yet considered</a:t>
            </a:r>
            <a:endParaRPr lang="en-US" sz="1400" dirty="0"/>
          </a:p>
        </p:txBody>
      </p:sp>
      <p:sp>
        <p:nvSpPr>
          <p:cNvPr id="21" name="basis-note"/>
          <p:cNvSpPr txBox="1"/>
          <p:nvPr/>
        </p:nvSpPr>
        <p:spPr>
          <a:xfrm>
            <a:off x="548640" y="5852160"/>
            <a:ext cx="11091672" cy="365760"/>
          </a:xfrm>
          <a:prstGeom prst="rect">
            <a:avLst/>
          </a:prstGeom>
          <a:noFill/>
          <a:ln/>
        </p:spPr>
        <p:txBody>
          <a:bodyPr wrap="square" lIns="0" tIns="0" rIns="0" bIns="0" rtlCol="0" anchor="t"/>
          <a:lstStyle/>
          <a:p>
            <a:pPr indent="0" marL="0">
              <a:buNone/>
            </a:pPr>
            <a:r>
              <a:rPr lang="en-US" sz="1100" dirty="0">
                <a:solidFill>
                  <a:schemeClr val="tx1"/>
                </a:solidFill>
              </a:rPr>
              <a:t>Source: Kawasaki questionnaire reply and supplemental information, as recorded in Section 10. Export-terminal CAPEX factors are in Section 8.2.</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Export-facility cost is a Class 5 estimate (±30–50 %): the liquefier dominates, and its power use should fall from ~10 to ~6 kWh/kg</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Sections 8 and 10.1–10.2 · export-facility CAPEX inputs · USD, cost year not stated</a:t>
            </a:r>
            <a:endParaRPr lang="en-US" sz="1100" dirty="0"/>
          </a:p>
        </p:txBody>
      </p:sp>
      <p:sp>
        <p:nvSpPr>
          <p:cNvPr id="5" name="cost-row-1"/>
          <p:cNvSpPr/>
          <p:nvPr/>
        </p:nvSpPr>
        <p:spPr>
          <a:xfrm>
            <a:off x="548640" y="1508760"/>
            <a:ext cx="6400800" cy="749808"/>
          </a:xfrm>
          <a:prstGeom prst="roundRect">
            <a:avLst>
              <a:gd name="adj" fmla="val 7317"/>
            </a:avLst>
          </a:prstGeom>
          <a:solidFill>
            <a:srgbClr val="F1EAF6"/>
          </a:solidFill>
          <a:ln w="9525">
            <a:solidFill>
              <a:srgbClr val="F1EAF6"/>
            </a:solidFill>
            <a:prstDash val="solid"/>
          </a:ln>
        </p:spPr>
      </p:sp>
      <p:sp>
        <p:nvSpPr>
          <p:cNvPr id="6" name="Text 3"/>
          <p:cNvSpPr txBox="1"/>
          <p:nvPr/>
        </p:nvSpPr>
        <p:spPr>
          <a:xfrm>
            <a:off x="685800" y="1563624"/>
            <a:ext cx="6126480" cy="274320"/>
          </a:xfrm>
          <a:prstGeom prst="rect">
            <a:avLst/>
          </a:prstGeom>
          <a:noFill/>
          <a:ln/>
        </p:spPr>
        <p:txBody>
          <a:bodyPr wrap="square" lIns="0" tIns="0" rIns="0" bIns="0" rtlCol="0" anchor="t"/>
          <a:lstStyle/>
          <a:p>
            <a:pPr indent="0" marL="0">
              <a:buNone/>
            </a:pPr>
            <a:r>
              <a:rPr lang="en-US" sz="1400" b="1" dirty="0">
                <a:solidFill>
                  <a:schemeClr val="tx2"/>
                </a:solidFill>
              </a:rPr>
              <a:t>H₂ liquefier (largest item)</a:t>
            </a:r>
            <a:endParaRPr lang="en-US" sz="1400" dirty="0"/>
          </a:p>
        </p:txBody>
      </p:sp>
      <p:sp>
        <p:nvSpPr>
          <p:cNvPr id="7" name="Text 4"/>
          <p:cNvSpPr txBox="1"/>
          <p:nvPr/>
        </p:nvSpPr>
        <p:spPr>
          <a:xfrm>
            <a:off x="685800" y="1856232"/>
            <a:ext cx="6126480" cy="365760"/>
          </a:xfrm>
          <a:prstGeom prst="rect">
            <a:avLst/>
          </a:prstGeom>
          <a:noFill/>
          <a:ln/>
        </p:spPr>
        <p:txBody>
          <a:bodyPr wrap="square" lIns="0" tIns="0" rIns="0" bIns="0" rtlCol="0" anchor="t"/>
          <a:lstStyle/>
          <a:p>
            <a:pPr indent="0" marL="0">
              <a:buNone/>
            </a:pPr>
            <a:r>
              <a:rPr lang="en-US" sz="1300" dirty="0">
                <a:solidFill>
                  <a:schemeClr val="tx1"/>
                </a:solidFill>
              </a:rPr>
              <a:t>2,250 kUSD per t/day at 30 t/day · scaling exponent −0.38 · fixed O&amp;M 4 %/yr, power extra</a:t>
            </a:r>
            <a:endParaRPr lang="en-US" sz="1300" dirty="0"/>
          </a:p>
        </p:txBody>
      </p:sp>
      <p:sp>
        <p:nvSpPr>
          <p:cNvPr id="8" name="cost-row-2"/>
          <p:cNvSpPr/>
          <p:nvPr/>
        </p:nvSpPr>
        <p:spPr>
          <a:xfrm>
            <a:off x="548640" y="2359152"/>
            <a:ext cx="6400800" cy="749808"/>
          </a:xfrm>
          <a:prstGeom prst="roundRect">
            <a:avLst>
              <a:gd name="adj" fmla="val 7317"/>
            </a:avLst>
          </a:prstGeom>
          <a:solidFill>
            <a:srgbClr val="FFFFFF"/>
          </a:solidFill>
          <a:ln w="9525">
            <a:solidFill>
              <a:srgbClr val="E8E8E4"/>
            </a:solidFill>
            <a:prstDash val="solid"/>
          </a:ln>
        </p:spPr>
      </p:sp>
      <p:sp>
        <p:nvSpPr>
          <p:cNvPr id="9" name="Text 6"/>
          <p:cNvSpPr txBox="1"/>
          <p:nvPr/>
        </p:nvSpPr>
        <p:spPr>
          <a:xfrm>
            <a:off x="685800" y="2414016"/>
            <a:ext cx="6126480" cy="274320"/>
          </a:xfrm>
          <a:prstGeom prst="rect">
            <a:avLst/>
          </a:prstGeom>
          <a:noFill/>
          <a:ln/>
        </p:spPr>
        <p:txBody>
          <a:bodyPr wrap="square" lIns="0" tIns="0" rIns="0" bIns="0" rtlCol="0" anchor="t"/>
          <a:lstStyle/>
          <a:p>
            <a:pPr indent="0" marL="0">
              <a:buNone/>
            </a:pPr>
            <a:r>
              <a:rPr lang="en-US" sz="1400" b="1" dirty="0">
                <a:solidFill>
                  <a:schemeClr val="tx2"/>
                </a:solidFill>
              </a:rPr>
              <a:t>LH₂ storage tanks</a:t>
            </a:r>
            <a:endParaRPr lang="en-US" sz="1400" dirty="0"/>
          </a:p>
        </p:txBody>
      </p:sp>
      <p:sp>
        <p:nvSpPr>
          <p:cNvPr id="10" name="Text 7"/>
          <p:cNvSpPr txBox="1"/>
          <p:nvPr/>
        </p:nvSpPr>
        <p:spPr>
          <a:xfrm>
            <a:off x="685800" y="2706624"/>
            <a:ext cx="6126480" cy="365760"/>
          </a:xfrm>
          <a:prstGeom prst="rect">
            <a:avLst/>
          </a:prstGeom>
          <a:noFill/>
          <a:ln/>
        </p:spPr>
        <p:txBody>
          <a:bodyPr wrap="square" lIns="0" tIns="0" rIns="0" bIns="0" rtlCol="0" anchor="t"/>
          <a:lstStyle/>
          <a:p>
            <a:pPr indent="0" marL="0">
              <a:buNone/>
            </a:pPr>
            <a:r>
              <a:rPr lang="en-US" sz="1300" dirty="0">
                <a:solidFill>
                  <a:schemeClr val="tx1"/>
                </a:solidFill>
              </a:rPr>
              <a:t>24 USD/kg LH₂ (steel sphere ×2.5 for insulation and installation) · scaling factor 0.6</a:t>
            </a:r>
            <a:endParaRPr lang="en-US" sz="1300" dirty="0"/>
          </a:p>
        </p:txBody>
      </p:sp>
      <p:sp>
        <p:nvSpPr>
          <p:cNvPr id="11" name="cost-row-3"/>
          <p:cNvSpPr/>
          <p:nvPr/>
        </p:nvSpPr>
        <p:spPr>
          <a:xfrm>
            <a:off x="548640" y="3209544"/>
            <a:ext cx="6400800" cy="749808"/>
          </a:xfrm>
          <a:prstGeom prst="roundRect">
            <a:avLst>
              <a:gd name="adj" fmla="val 7317"/>
            </a:avLst>
          </a:prstGeom>
          <a:solidFill>
            <a:srgbClr val="FFFFFF"/>
          </a:solidFill>
          <a:ln w="9525">
            <a:solidFill>
              <a:srgbClr val="E8E8E4"/>
            </a:solidFill>
            <a:prstDash val="solid"/>
          </a:ln>
        </p:spPr>
      </p:sp>
      <p:sp>
        <p:nvSpPr>
          <p:cNvPr id="12" name="Text 9"/>
          <p:cNvSpPr txBox="1"/>
          <p:nvPr/>
        </p:nvSpPr>
        <p:spPr>
          <a:xfrm>
            <a:off x="685800" y="3264408"/>
            <a:ext cx="6126480" cy="274320"/>
          </a:xfrm>
          <a:prstGeom prst="rect">
            <a:avLst/>
          </a:prstGeom>
          <a:noFill/>
          <a:ln/>
        </p:spPr>
        <p:txBody>
          <a:bodyPr wrap="square" lIns="0" tIns="0" rIns="0" bIns="0" rtlCol="0" anchor="t"/>
          <a:lstStyle/>
          <a:p>
            <a:pPr indent="0" marL="0">
              <a:buNone/>
            </a:pPr>
            <a:r>
              <a:rPr lang="en-US" sz="1400" b="1" dirty="0">
                <a:solidFill>
                  <a:schemeClr val="tx2"/>
                </a:solidFill>
              </a:rPr>
              <a:t>Boil-off re-liquefaction</a:t>
            </a:r>
            <a:endParaRPr lang="en-US" sz="1400" dirty="0"/>
          </a:p>
        </p:txBody>
      </p:sp>
      <p:sp>
        <p:nvSpPr>
          <p:cNvPr id="13" name="Text 10"/>
          <p:cNvSpPr txBox="1"/>
          <p:nvPr/>
        </p:nvSpPr>
        <p:spPr>
          <a:xfrm>
            <a:off x="685800" y="3557016"/>
            <a:ext cx="6126480" cy="365760"/>
          </a:xfrm>
          <a:prstGeom prst="rect">
            <a:avLst/>
          </a:prstGeom>
          <a:noFill/>
          <a:ln/>
        </p:spPr>
        <p:txBody>
          <a:bodyPr wrap="square" lIns="0" tIns="0" rIns="0" bIns="0" rtlCol="0" anchor="t"/>
          <a:lstStyle/>
          <a:p>
            <a:pPr indent="0" marL="0">
              <a:buNone/>
            </a:pPr>
            <a:r>
              <a:rPr lang="en-US" sz="1300" dirty="0">
                <a:solidFill>
                  <a:schemeClr val="tx1"/>
                </a:solidFill>
              </a:rPr>
              <a:t>30 MUSD for a 6 t/day unit · scaling factor 0.85 · 8 kWh/kg, to be confirmed</a:t>
            </a:r>
            <a:endParaRPr lang="en-US" sz="1300" dirty="0"/>
          </a:p>
        </p:txBody>
      </p:sp>
      <p:sp>
        <p:nvSpPr>
          <p:cNvPr id="14" name="cost-row-4"/>
          <p:cNvSpPr/>
          <p:nvPr/>
        </p:nvSpPr>
        <p:spPr>
          <a:xfrm>
            <a:off x="548640" y="4059936"/>
            <a:ext cx="6400800" cy="749808"/>
          </a:xfrm>
          <a:prstGeom prst="roundRect">
            <a:avLst>
              <a:gd name="adj" fmla="val 7317"/>
            </a:avLst>
          </a:prstGeom>
          <a:solidFill>
            <a:srgbClr val="FFFFFF"/>
          </a:solidFill>
          <a:ln w="9525">
            <a:solidFill>
              <a:srgbClr val="E8E8E4"/>
            </a:solidFill>
            <a:prstDash val="solid"/>
          </a:ln>
        </p:spPr>
      </p:sp>
      <p:sp>
        <p:nvSpPr>
          <p:cNvPr id="15" name="Text 12"/>
          <p:cNvSpPr txBox="1"/>
          <p:nvPr/>
        </p:nvSpPr>
        <p:spPr>
          <a:xfrm>
            <a:off x="685800" y="4114800"/>
            <a:ext cx="6126480" cy="274320"/>
          </a:xfrm>
          <a:prstGeom prst="rect">
            <a:avLst/>
          </a:prstGeom>
          <a:noFill/>
          <a:ln/>
        </p:spPr>
        <p:txBody>
          <a:bodyPr wrap="square" lIns="0" tIns="0" rIns="0" bIns="0" rtlCol="0" anchor="t"/>
          <a:lstStyle/>
          <a:p>
            <a:pPr indent="0" marL="0">
              <a:buNone/>
            </a:pPr>
            <a:r>
              <a:rPr lang="en-US" sz="1400" b="1" dirty="0">
                <a:solidFill>
                  <a:schemeClr val="tx2"/>
                </a:solidFill>
              </a:rPr>
              <a:t>Jetty and cryogenic loading arms</a:t>
            </a:r>
            <a:endParaRPr lang="en-US" sz="1400" dirty="0"/>
          </a:p>
        </p:txBody>
      </p:sp>
      <p:sp>
        <p:nvSpPr>
          <p:cNvPr id="16" name="Text 13"/>
          <p:cNvSpPr txBox="1"/>
          <p:nvPr/>
        </p:nvSpPr>
        <p:spPr>
          <a:xfrm>
            <a:off x="685800" y="4407408"/>
            <a:ext cx="6126480" cy="365760"/>
          </a:xfrm>
          <a:prstGeom prst="rect">
            <a:avLst/>
          </a:prstGeom>
          <a:noFill/>
          <a:ln/>
        </p:spPr>
        <p:txBody>
          <a:bodyPr wrap="square" lIns="0" tIns="0" rIns="0" bIns="0" rtlCol="0" anchor="t"/>
          <a:lstStyle/>
          <a:p>
            <a:pPr indent="0" marL="0">
              <a:buNone/>
            </a:pPr>
            <a:r>
              <a:rPr lang="en-US" sz="1300" dirty="0">
                <a:solidFill>
                  <a:schemeClr val="tx1"/>
                </a:solidFill>
              </a:rPr>
              <a:t>15,960 USD per m³/h of loading rate (LNG benchmark +20 % for LH₂)</a:t>
            </a:r>
            <a:endParaRPr lang="en-US" sz="1300" dirty="0"/>
          </a:p>
        </p:txBody>
      </p:sp>
      <p:sp>
        <p:nvSpPr>
          <p:cNvPr id="17" name="cost-row-5"/>
          <p:cNvSpPr/>
          <p:nvPr/>
        </p:nvSpPr>
        <p:spPr>
          <a:xfrm>
            <a:off x="548640" y="4910328"/>
            <a:ext cx="6400800" cy="749808"/>
          </a:xfrm>
          <a:prstGeom prst="roundRect">
            <a:avLst>
              <a:gd name="adj" fmla="val 7317"/>
            </a:avLst>
          </a:prstGeom>
          <a:solidFill>
            <a:srgbClr val="FFFFFF"/>
          </a:solidFill>
          <a:ln w="9525">
            <a:solidFill>
              <a:srgbClr val="E8E8E4"/>
            </a:solidFill>
            <a:prstDash val="solid"/>
          </a:ln>
        </p:spPr>
      </p:sp>
      <p:sp>
        <p:nvSpPr>
          <p:cNvPr id="18" name="Text 15"/>
          <p:cNvSpPr txBox="1"/>
          <p:nvPr/>
        </p:nvSpPr>
        <p:spPr>
          <a:xfrm>
            <a:off x="685800" y="4965192"/>
            <a:ext cx="6126480" cy="274320"/>
          </a:xfrm>
          <a:prstGeom prst="rect">
            <a:avLst/>
          </a:prstGeom>
          <a:noFill/>
          <a:ln/>
        </p:spPr>
        <p:txBody>
          <a:bodyPr wrap="square" lIns="0" tIns="0" rIns="0" bIns="0" rtlCol="0" anchor="t"/>
          <a:lstStyle/>
          <a:p>
            <a:pPr indent="0" marL="0">
              <a:buNone/>
            </a:pPr>
            <a:r>
              <a:rPr lang="en-US" sz="1400" b="1" dirty="0">
                <a:solidFill>
                  <a:schemeClr val="tx2"/>
                </a:solidFill>
              </a:rPr>
              <a:t>Adders on the subtotal</a:t>
            </a:r>
            <a:endParaRPr lang="en-US" sz="1400" dirty="0"/>
          </a:p>
        </p:txBody>
      </p:sp>
      <p:sp>
        <p:nvSpPr>
          <p:cNvPr id="19" name="Text 16"/>
          <p:cNvSpPr txBox="1"/>
          <p:nvPr/>
        </p:nvSpPr>
        <p:spPr>
          <a:xfrm>
            <a:off x="685800" y="5257800"/>
            <a:ext cx="6126480" cy="365760"/>
          </a:xfrm>
          <a:prstGeom prst="rect">
            <a:avLst/>
          </a:prstGeom>
          <a:noFill/>
          <a:ln/>
        </p:spPr>
        <p:txBody>
          <a:bodyPr wrap="square" lIns="0" tIns="0" rIns="0" bIns="0" rtlCol="0" anchor="t"/>
          <a:lstStyle/>
          <a:p>
            <a:pPr indent="0" marL="0">
              <a:buNone/>
            </a:pPr>
            <a:r>
              <a:rPr lang="en-US" sz="1300" dirty="0">
                <a:solidFill>
                  <a:schemeClr val="tx1"/>
                </a:solidFill>
              </a:rPr>
              <a:t>+25 % utilities and civil · +20 % indirects and contingency · ×0.85 India · O&amp;M 2.5 %/yr</a:t>
            </a:r>
            <a:endParaRPr lang="en-US" sz="1300" dirty="0"/>
          </a:p>
        </p:txBody>
      </p:sp>
      <p:sp>
        <p:nvSpPr>
          <p:cNvPr id="20" name="Text 17"/>
          <p:cNvSpPr txBox="1"/>
          <p:nvPr/>
        </p:nvSpPr>
        <p:spPr>
          <a:xfrm>
            <a:off x="7269480" y="1508760"/>
            <a:ext cx="4389120" cy="274320"/>
          </a:xfrm>
          <a:prstGeom prst="rect">
            <a:avLst/>
          </a:prstGeom>
          <a:noFill/>
          <a:ln/>
        </p:spPr>
        <p:txBody>
          <a:bodyPr wrap="square" lIns="0" tIns="0" rIns="0" bIns="0" rtlCol="0" anchor="t"/>
          <a:lstStyle/>
          <a:p>
            <a:pPr indent="0" marL="0">
              <a:buNone/>
            </a:pPr>
            <a:r>
              <a:rPr lang="en-US" sz="1400" b="1" dirty="0">
                <a:solidFill>
                  <a:schemeClr val="tx2"/>
                </a:solidFill>
              </a:rPr>
              <a:t>Liquefier CAPEX per t/day of capacity, kUSD</a:t>
            </a:r>
            <a:endParaRPr lang="en-US" sz="1400" dirty="0"/>
          </a:p>
        </p:txBody>
      </p:sp>
      <p:graphicFrame>
        <p:nvGraphicFramePr>
          <p:cNvPr id="21" name="capex-scaling-chart" descr=""/>
          <p:cNvGraphicFramePr/>
          <p:nvPr/>
        </p:nvGraphicFramePr>
        <p:xfrm>
          <a:off x="7178040" y="1783080"/>
          <a:ext cx="4526280" cy="2514600"/>
        </p:xfrm>
        <a:graphic xmlns:a="http://schemas.openxmlformats.org/drawingml/2006/main">
          <a:graphicData uri="http://schemas.openxmlformats.org/drawingml/2006/chart">
            <c:chart xmlns:c="http://schemas.openxmlformats.org/drawingml/2006/chart" r:id="rId1"/>
          </a:graphicData>
        </a:graphic>
      </p:graphicFrame>
      <p:sp>
        <p:nvSpPr>
          <p:cNvPr id="22" name="Text 18"/>
          <p:cNvSpPr txBox="1"/>
          <p:nvPr/>
        </p:nvSpPr>
        <p:spPr>
          <a:xfrm>
            <a:off x="7269480" y="4315968"/>
            <a:ext cx="4389120" cy="457200"/>
          </a:xfrm>
          <a:prstGeom prst="rect">
            <a:avLst/>
          </a:prstGeom>
          <a:noFill/>
          <a:ln/>
        </p:spPr>
        <p:txBody>
          <a:bodyPr wrap="square" lIns="0" tIns="0" rIns="0" bIns="0" rtlCol="0" anchor="t"/>
          <a:lstStyle/>
          <a:p>
            <a:pPr indent="0" marL="0">
              <a:buNone/>
            </a:pPr>
            <a:r>
              <a:rPr lang="en-US" sz="1100" dirty="0">
                <a:solidFill>
                  <a:schemeClr val="tx1"/>
                </a:solidFill>
              </a:rPr>
              <a:t>Computed with the Section 10.1 rule: 2,250 × (size ÷ 30)^−0.38, rounded to 10. 115 t/day = one Kawasaki train.</a:t>
            </a:r>
            <a:endParaRPr lang="en-US" sz="1100" dirty="0"/>
          </a:p>
        </p:txBody>
      </p:sp>
      <p:sp>
        <p:nvSpPr>
          <p:cNvPr id="23" name="stat-sec-path"/>
          <p:cNvSpPr txBox="1"/>
          <p:nvPr/>
        </p:nvSpPr>
        <p:spPr>
          <a:xfrm>
            <a:off x="7269480" y="4800600"/>
            <a:ext cx="4389120" cy="457200"/>
          </a:xfrm>
          <a:prstGeom prst="rect">
            <a:avLst/>
          </a:prstGeom>
          <a:noFill/>
          <a:ln/>
        </p:spPr>
        <p:txBody>
          <a:bodyPr wrap="square" lIns="0" tIns="0" rIns="0" bIns="0" rtlCol="0" anchor="b"/>
          <a:lstStyle/>
          <a:p>
            <a:pPr indent="0" marL="0">
              <a:buNone/>
            </a:pPr>
            <a:r>
              <a:rPr lang="en-US" sz="2800" b="1" dirty="0">
                <a:solidFill>
                  <a:schemeClr val="accent4"/>
                </a:solidFill>
              </a:rPr>
              <a:t>10 → 6 kWh/kg</a:t>
            </a:r>
            <a:endParaRPr lang="en-US" sz="2800" dirty="0"/>
          </a:p>
        </p:txBody>
      </p:sp>
      <p:sp>
        <p:nvSpPr>
          <p:cNvPr id="24" name="stat-label-sec-path"/>
          <p:cNvSpPr txBox="1"/>
          <p:nvPr/>
        </p:nvSpPr>
        <p:spPr>
          <a:xfrm>
            <a:off x="7269480" y="5330952"/>
            <a:ext cx="4389120" cy="457200"/>
          </a:xfrm>
          <a:prstGeom prst="rect">
            <a:avLst/>
          </a:prstGeom>
          <a:noFill/>
          <a:ln/>
        </p:spPr>
        <p:txBody>
          <a:bodyPr wrap="square" lIns="0" tIns="0" rIns="0" bIns="0" rtlCol="0" anchor="t"/>
          <a:lstStyle/>
          <a:p>
            <a:pPr indent="0" marL="0">
              <a:buNone/>
            </a:pPr>
            <a:r>
              <a:rPr lang="en-US" sz="1400" dirty="0">
                <a:solidFill>
                  <a:schemeClr val="tx1"/>
                </a:solidFill>
              </a:rPr>
              <a:t>Liquefier power use today and as plants grow (Section 8.1, Figure 10)</a:t>
            </a:r>
            <a:endParaRPr lang="en-US" sz="1400" dirty="0"/>
          </a:p>
        </p:txBody>
      </p:sp>
      <p:sp>
        <p:nvSpPr>
          <p:cNvPr id="25" name="basis-note"/>
          <p:cNvSpPr txBox="1"/>
          <p:nvPr/>
        </p:nvSpPr>
        <p:spPr>
          <a:xfrm>
            <a:off x="548640" y="5897880"/>
            <a:ext cx="11091672" cy="411480"/>
          </a:xfrm>
          <a:prstGeom prst="rect">
            <a:avLst/>
          </a:prstGeom>
          <a:noFill/>
          <a:ln/>
        </p:spPr>
        <p:txBody>
          <a:bodyPr wrap="square" lIns="0" tIns="0" rIns="0" bIns="0" rtlCol="0" anchor="t"/>
          <a:lstStyle/>
          <a:p>
            <a:pPr indent="0" marL="0">
              <a:buNone/>
            </a:pPr>
            <a:r>
              <a:rPr lang="en-US" sz="1100" dirty="0">
                <a:solidFill>
                  <a:schemeClr val="tx1"/>
                </a:solidFill>
              </a:rPr>
              <a:t>Tank cost reference size is still ‘xx m³’ in Section 10.2. Storage is sized from plant output, ship size and calls a year (6 loadings a year, 5 % minimum heel assumed).</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There is no dedicated LH₂ regulation yet: Japan has approved projects case by case, so a permitting timeline cannot be set</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 11 · regulatory compliance</a:t>
            </a:r>
            <a:endParaRPr lang="en-US" sz="1100" dirty="0"/>
          </a:p>
        </p:txBody>
      </p:sp>
      <p:sp>
        <p:nvSpPr>
          <p:cNvPr id="5" name="exists-panel"/>
          <p:cNvSpPr/>
          <p:nvPr/>
        </p:nvSpPr>
        <p:spPr>
          <a:xfrm>
            <a:off x="548640" y="1508760"/>
            <a:ext cx="4114800" cy="4114800"/>
          </a:xfrm>
          <a:prstGeom prst="roundRect">
            <a:avLst>
              <a:gd name="adj" fmla="val 1333"/>
            </a:avLst>
          </a:prstGeom>
          <a:solidFill>
            <a:srgbClr val="60269E"/>
          </a:solidFill>
          <a:ln w="9525">
            <a:solidFill>
              <a:srgbClr val="60269E"/>
            </a:solidFill>
            <a:prstDash val="solid"/>
          </a:ln>
        </p:spPr>
      </p:sp>
      <p:sp>
        <p:nvSpPr>
          <p:cNvPr id="6" name="Text 3"/>
          <p:cNvSpPr txBox="1"/>
          <p:nvPr/>
        </p:nvSpPr>
        <p:spPr>
          <a:xfrm>
            <a:off x="822960" y="1691640"/>
            <a:ext cx="3566160" cy="365760"/>
          </a:xfrm>
          <a:prstGeom prst="rect">
            <a:avLst/>
          </a:prstGeom>
          <a:noFill/>
          <a:ln/>
        </p:spPr>
        <p:txBody>
          <a:bodyPr wrap="square" lIns="0" tIns="0" rIns="0" bIns="0" rtlCol="0" anchor="t"/>
          <a:lstStyle/>
          <a:p>
            <a:pPr indent="0" marL="0">
              <a:buNone/>
            </a:pPr>
            <a:r>
              <a:rPr lang="en-US" sz="1800" b="1" dirty="0">
                <a:solidFill>
                  <a:schemeClr val="bg1"/>
                </a:solidFill>
              </a:rPr>
              <a:t>What exists today</a:t>
            </a:r>
            <a:endParaRPr lang="en-US" sz="1800" dirty="0"/>
          </a:p>
        </p:txBody>
      </p:sp>
      <p:sp>
        <p:nvSpPr>
          <p:cNvPr id="7" name="Text 4"/>
          <p:cNvSpPr txBox="1"/>
          <p:nvPr/>
        </p:nvSpPr>
        <p:spPr>
          <a:xfrm>
            <a:off x="822960" y="2194560"/>
            <a:ext cx="3566160" cy="320040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chemeClr val="bg1"/>
                </a:solidFill>
              </a:rPr>
              <a:t>Japan: project elements not covered by existing rules were reviewed and approved by a special evaluation committee</a:t>
            </a:r>
            <a:endParaRPr lang="en-US" sz="1500" dirty="0"/>
          </a:p>
          <a:p>
            <a:pPr marL="177800" indent="-177800">
              <a:spcAft>
                <a:spcPts val="1000"/>
              </a:spcAft>
              <a:buSzPct val="100000"/>
              <a:buChar char="•"/>
            </a:pPr>
            <a:r>
              <a:rPr lang="en-US" sz="1500" dirty="0">
                <a:solidFill>
                  <a:schemeClr val="bg1"/>
                </a:solidFill>
              </a:rPr>
              <a:t>Elsewhere: a similar country-by-country approach may follow, but this is not confirmed</a:t>
            </a:r>
            <a:endParaRPr lang="en-US" sz="1500" dirty="0"/>
          </a:p>
        </p:txBody>
      </p:sp>
      <p:sp>
        <p:nvSpPr>
          <p:cNvPr id="8" name="Text 5"/>
          <p:cNvSpPr txBox="1"/>
          <p:nvPr/>
        </p:nvSpPr>
        <p:spPr>
          <a:xfrm>
            <a:off x="4937760" y="1508760"/>
            <a:ext cx="6675120" cy="365760"/>
          </a:xfrm>
          <a:prstGeom prst="rect">
            <a:avLst/>
          </a:prstGeom>
          <a:noFill/>
          <a:ln/>
        </p:spPr>
        <p:txBody>
          <a:bodyPr wrap="square" lIns="0" tIns="0" rIns="0" bIns="0" rtlCol="0" anchor="t"/>
          <a:lstStyle/>
          <a:p>
            <a:pPr indent="0" marL="0">
              <a:buNone/>
            </a:pPr>
            <a:r>
              <a:rPr lang="en-US" sz="1800" b="1" dirty="0">
                <a:solidFill>
                  <a:schemeClr val="tx2"/>
                </a:solidFill>
              </a:rPr>
              <a:t>Not yet identified in the sources reviewed</a:t>
            </a:r>
            <a:endParaRPr lang="en-US" sz="1800" dirty="0"/>
          </a:p>
        </p:txBody>
      </p:sp>
      <p:sp>
        <p:nvSpPr>
          <p:cNvPr id="9" name="gap-icon-1"/>
          <p:cNvSpPr/>
          <p:nvPr/>
        </p:nvSpPr>
        <p:spPr>
          <a:xfrm>
            <a:off x="4937760" y="2084832"/>
            <a:ext cx="384048" cy="384048"/>
          </a:xfrm>
          <a:prstGeom prst="ellipse">
            <a:avLst/>
          </a:prstGeom>
          <a:solidFill>
            <a:srgbClr val="7030A0"/>
          </a:solidFill>
          <a:ln w="12700">
            <a:solidFill>
              <a:srgbClr val="7030A0"/>
            </a:solidFill>
            <a:prstDash val="solid"/>
          </a:ln>
        </p:spPr>
      </p:sp>
      <p:sp>
        <p:nvSpPr>
          <p:cNvPr id="10" name="Text 7"/>
          <p:cNvSpPr txBox="1"/>
          <p:nvPr/>
        </p:nvSpPr>
        <p:spPr>
          <a:xfrm>
            <a:off x="4937760" y="2084832"/>
            <a:ext cx="384048" cy="384048"/>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1" name="Text 8"/>
          <p:cNvSpPr txBox="1"/>
          <p:nvPr/>
        </p:nvSpPr>
        <p:spPr>
          <a:xfrm>
            <a:off x="5486400" y="2011680"/>
            <a:ext cx="6126480" cy="548640"/>
          </a:xfrm>
          <a:prstGeom prst="rect">
            <a:avLst/>
          </a:prstGeom>
          <a:noFill/>
          <a:ln/>
        </p:spPr>
        <p:txBody>
          <a:bodyPr wrap="square" lIns="0" tIns="0" rIns="0" bIns="0" rtlCol="0" anchor="ctr"/>
          <a:lstStyle/>
          <a:p>
            <a:pPr indent="0" marL="0">
              <a:buNone/>
            </a:pPr>
            <a:r>
              <a:rPr lang="en-US" sz="1500" dirty="0">
                <a:solidFill>
                  <a:schemeClr val="tx1"/>
                </a:solidFill>
              </a:rPr>
              <a:t>Classification-society rules or Approval in Principle for LH₂ carriers</a:t>
            </a:r>
            <a:endParaRPr lang="en-US" sz="1500" dirty="0"/>
          </a:p>
        </p:txBody>
      </p:sp>
      <p:sp>
        <p:nvSpPr>
          <p:cNvPr id="12" name="gap-icon-2"/>
          <p:cNvSpPr/>
          <p:nvPr/>
        </p:nvSpPr>
        <p:spPr>
          <a:xfrm>
            <a:off x="4937760" y="2798064"/>
            <a:ext cx="384048" cy="384048"/>
          </a:xfrm>
          <a:prstGeom prst="ellipse">
            <a:avLst/>
          </a:prstGeom>
          <a:solidFill>
            <a:srgbClr val="7030A0"/>
          </a:solidFill>
          <a:ln w="12700">
            <a:solidFill>
              <a:srgbClr val="7030A0"/>
            </a:solidFill>
            <a:prstDash val="solid"/>
          </a:ln>
        </p:spPr>
      </p:sp>
      <p:sp>
        <p:nvSpPr>
          <p:cNvPr id="13" name="Text 10"/>
          <p:cNvSpPr txBox="1"/>
          <p:nvPr/>
        </p:nvSpPr>
        <p:spPr>
          <a:xfrm>
            <a:off x="4937760" y="2798064"/>
            <a:ext cx="384048" cy="384048"/>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4" name="Text 11"/>
          <p:cNvSpPr txBox="1"/>
          <p:nvPr/>
        </p:nvSpPr>
        <p:spPr>
          <a:xfrm>
            <a:off x="5486400" y="2724912"/>
            <a:ext cx="6126480" cy="548640"/>
          </a:xfrm>
          <a:prstGeom prst="rect">
            <a:avLst/>
          </a:prstGeom>
          <a:noFill/>
          <a:ln/>
        </p:spPr>
        <p:txBody>
          <a:bodyPr wrap="square" lIns="0" tIns="0" rIns="0" bIns="0" rtlCol="0" anchor="ctr"/>
          <a:lstStyle/>
          <a:p>
            <a:pPr indent="0" marL="0">
              <a:buNone/>
            </a:pPr>
            <a:r>
              <a:rPr lang="en-US" sz="1500" dirty="0">
                <a:solidFill>
                  <a:schemeClr val="tx1"/>
                </a:solidFill>
              </a:rPr>
              <a:t>Classification of ship cargo tanks</a:t>
            </a:r>
            <a:endParaRPr lang="en-US" sz="1500" dirty="0"/>
          </a:p>
        </p:txBody>
      </p:sp>
      <p:sp>
        <p:nvSpPr>
          <p:cNvPr id="15" name="gap-icon-3"/>
          <p:cNvSpPr/>
          <p:nvPr/>
        </p:nvSpPr>
        <p:spPr>
          <a:xfrm>
            <a:off x="4937760" y="3511296"/>
            <a:ext cx="384048" cy="384048"/>
          </a:xfrm>
          <a:prstGeom prst="ellipse">
            <a:avLst/>
          </a:prstGeom>
          <a:solidFill>
            <a:srgbClr val="7030A0"/>
          </a:solidFill>
          <a:ln w="12700">
            <a:solidFill>
              <a:srgbClr val="7030A0"/>
            </a:solidFill>
            <a:prstDash val="solid"/>
          </a:ln>
        </p:spPr>
      </p:sp>
      <p:sp>
        <p:nvSpPr>
          <p:cNvPr id="16" name="Text 13"/>
          <p:cNvSpPr txBox="1"/>
          <p:nvPr/>
        </p:nvSpPr>
        <p:spPr>
          <a:xfrm>
            <a:off x="4937760" y="3511296"/>
            <a:ext cx="384048" cy="384048"/>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Text 14"/>
          <p:cNvSpPr txBox="1"/>
          <p:nvPr/>
        </p:nvSpPr>
        <p:spPr>
          <a:xfrm>
            <a:off x="5486400" y="3438144"/>
            <a:ext cx="6126480" cy="548640"/>
          </a:xfrm>
          <a:prstGeom prst="rect">
            <a:avLst/>
          </a:prstGeom>
          <a:noFill/>
          <a:ln/>
        </p:spPr>
        <p:txBody>
          <a:bodyPr wrap="square" lIns="0" tIns="0" rIns="0" bIns="0" rtlCol="0" anchor="ctr"/>
          <a:lstStyle/>
          <a:p>
            <a:pPr indent="0" marL="0">
              <a:buNone/>
            </a:pPr>
            <a:r>
              <a:rPr lang="en-US" sz="1500" dirty="0">
                <a:solidFill>
                  <a:schemeClr val="tx1"/>
                </a:solidFill>
              </a:rPr>
              <a:t>Design and safety standards for liquefiers, ships and terminals</a:t>
            </a:r>
            <a:endParaRPr lang="en-US" sz="1500" dirty="0"/>
          </a:p>
        </p:txBody>
      </p:sp>
      <p:sp>
        <p:nvSpPr>
          <p:cNvPr id="18" name="gap-icon-4"/>
          <p:cNvSpPr/>
          <p:nvPr/>
        </p:nvSpPr>
        <p:spPr>
          <a:xfrm>
            <a:off x="4937760" y="4224528"/>
            <a:ext cx="384048" cy="384048"/>
          </a:xfrm>
          <a:prstGeom prst="ellipse">
            <a:avLst/>
          </a:prstGeom>
          <a:solidFill>
            <a:srgbClr val="7030A0"/>
          </a:solidFill>
          <a:ln w="12700">
            <a:solidFill>
              <a:srgbClr val="7030A0"/>
            </a:solidFill>
            <a:prstDash val="solid"/>
          </a:ln>
        </p:spPr>
      </p:sp>
      <p:sp>
        <p:nvSpPr>
          <p:cNvPr id="19" name="Text 16"/>
          <p:cNvSpPr txBox="1"/>
          <p:nvPr/>
        </p:nvSpPr>
        <p:spPr>
          <a:xfrm>
            <a:off x="4937760" y="4224528"/>
            <a:ext cx="384048" cy="384048"/>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0" name="Text 17"/>
          <p:cNvSpPr txBox="1"/>
          <p:nvPr/>
        </p:nvSpPr>
        <p:spPr>
          <a:xfrm>
            <a:off x="5486400" y="4151376"/>
            <a:ext cx="6126480" cy="548640"/>
          </a:xfrm>
          <a:prstGeom prst="rect">
            <a:avLst/>
          </a:prstGeom>
          <a:noFill/>
          <a:ln/>
        </p:spPr>
        <p:txBody>
          <a:bodyPr wrap="square" lIns="0" tIns="0" rIns="0" bIns="0" rtlCol="0" anchor="ctr"/>
          <a:lstStyle/>
          <a:p>
            <a:pPr indent="0" marL="0">
              <a:buNone/>
            </a:pPr>
            <a:r>
              <a:rPr lang="en-US" sz="1500" dirty="0">
                <a:solidFill>
                  <a:schemeClr val="tx1"/>
                </a:solidFill>
              </a:rPr>
              <a:t>Carbon-border or emissions-reporting requirements</a:t>
            </a:r>
            <a:endParaRPr lang="en-US" sz="1500" dirty="0"/>
          </a:p>
        </p:txBody>
      </p:sp>
      <p:sp>
        <p:nvSpPr>
          <p:cNvPr id="21" name="gap-icon-5"/>
          <p:cNvSpPr/>
          <p:nvPr/>
        </p:nvSpPr>
        <p:spPr>
          <a:xfrm>
            <a:off x="4937760" y="4937760"/>
            <a:ext cx="384048" cy="384048"/>
          </a:xfrm>
          <a:prstGeom prst="ellipse">
            <a:avLst/>
          </a:prstGeom>
          <a:solidFill>
            <a:srgbClr val="2977D6"/>
          </a:solidFill>
          <a:ln w="12700">
            <a:solidFill>
              <a:srgbClr val="2977D6"/>
            </a:solidFill>
            <a:prstDash val="solid"/>
          </a:ln>
        </p:spPr>
      </p:sp>
      <p:sp>
        <p:nvSpPr>
          <p:cNvPr id="22" name="Text 19"/>
          <p:cNvSpPr txBox="1"/>
          <p:nvPr/>
        </p:nvSpPr>
        <p:spPr>
          <a:xfrm>
            <a:off x="4937760" y="4937760"/>
            <a:ext cx="384048" cy="384048"/>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3" name="Text 20"/>
          <p:cNvSpPr txBox="1"/>
          <p:nvPr/>
        </p:nvSpPr>
        <p:spPr>
          <a:xfrm>
            <a:off x="5486400" y="4864608"/>
            <a:ext cx="6126480" cy="548640"/>
          </a:xfrm>
          <a:prstGeom prst="rect">
            <a:avLst/>
          </a:prstGeom>
          <a:noFill/>
          <a:ln/>
        </p:spPr>
        <p:txBody>
          <a:bodyPr wrap="square" lIns="0" tIns="0" rIns="0" bIns="0" rtlCol="0" anchor="ctr"/>
          <a:lstStyle/>
          <a:p>
            <a:pPr indent="0" marL="0">
              <a:buNone/>
            </a:pPr>
            <a:r>
              <a:rPr lang="en-US" sz="1500" dirty="0">
                <a:solidFill>
                  <a:schemeClr val="tx1"/>
                </a:solidFill>
              </a:rPr>
              <a:t>Carbon-intensity disclosure for the liquefier: needs a feasibility study, as it varies with plant size</a:t>
            </a:r>
            <a:endParaRPr lang="en-US" sz="15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Two challenges dominate: liquefying 100,000 t a year needs about 103 MW non-stop, and ship boil-off is still unproven at full scale</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 12 · key challenges</a:t>
            </a:r>
            <a:endParaRPr lang="en-US" sz="1100" dirty="0"/>
          </a:p>
        </p:txBody>
      </p:sp>
      <p:sp>
        <p:nvSpPr>
          <p:cNvPr id="5" name="challenge-energy"/>
          <p:cNvSpPr/>
          <p:nvPr/>
        </p:nvSpPr>
        <p:spPr>
          <a:xfrm>
            <a:off x="548640" y="1508760"/>
            <a:ext cx="5394960" cy="1965960"/>
          </a:xfrm>
          <a:prstGeom prst="roundRect">
            <a:avLst>
              <a:gd name="adj" fmla="val 2791"/>
            </a:avLst>
          </a:prstGeom>
          <a:solidFill>
            <a:srgbClr val="F1EAF6"/>
          </a:solidFill>
          <a:ln w="9525">
            <a:solidFill>
              <a:srgbClr val="F1EAF6"/>
            </a:solidFill>
            <a:prstDash val="solid"/>
          </a:ln>
        </p:spPr>
      </p:sp>
      <p:sp>
        <p:nvSpPr>
          <p:cNvPr id="6" name="stat-103"/>
          <p:cNvSpPr txBox="1"/>
          <p:nvPr/>
        </p:nvSpPr>
        <p:spPr>
          <a:xfrm>
            <a:off x="822960" y="1645920"/>
            <a:ext cx="4846320" cy="640080"/>
          </a:xfrm>
          <a:prstGeom prst="rect">
            <a:avLst/>
          </a:prstGeom>
          <a:noFill/>
          <a:ln/>
        </p:spPr>
        <p:txBody>
          <a:bodyPr wrap="square" lIns="0" tIns="0" rIns="0" bIns="0" rtlCol="0" anchor="b"/>
          <a:lstStyle/>
          <a:p>
            <a:pPr indent="0" marL="0">
              <a:buNone/>
            </a:pPr>
            <a:r>
              <a:rPr lang="en-US" sz="4000" b="1" dirty="0">
                <a:solidFill>
                  <a:schemeClr val="accent4"/>
                </a:solidFill>
              </a:rPr>
              <a:t>103 MW</a:t>
            </a:r>
            <a:endParaRPr lang="en-US" sz="4000" dirty="0"/>
          </a:p>
        </p:txBody>
      </p:sp>
      <p:sp>
        <p:nvSpPr>
          <p:cNvPr id="7" name="stat-label-103"/>
          <p:cNvSpPr txBox="1"/>
          <p:nvPr/>
        </p:nvSpPr>
        <p:spPr>
          <a:xfrm>
            <a:off x="822960" y="2359152"/>
            <a:ext cx="4846320" cy="1005840"/>
          </a:xfrm>
          <a:prstGeom prst="rect">
            <a:avLst/>
          </a:prstGeom>
          <a:noFill/>
          <a:ln/>
        </p:spPr>
        <p:txBody>
          <a:bodyPr wrap="square" lIns="0" tIns="0" rIns="0" bIns="0" rtlCol="0" anchor="t"/>
          <a:lstStyle/>
          <a:p>
            <a:pPr indent="0" marL="0">
              <a:buNone/>
            </a:pPr>
            <a:r>
              <a:rPr lang="en-US" sz="1400" dirty="0">
                <a:solidFill>
                  <a:schemeClr val="tx1"/>
                </a:solidFill>
              </a:rPr>
              <a:t>of power running all the time, just to liquefy 100,000 t of hydrogen a year. Finding that much low-carbon power at a low price is critical.</a:t>
            </a:r>
            <a:endParaRPr lang="en-US" sz="1400" dirty="0"/>
          </a:p>
        </p:txBody>
      </p:sp>
      <p:sp>
        <p:nvSpPr>
          <p:cNvPr id="8" name="challenge-bog"/>
          <p:cNvSpPr/>
          <p:nvPr/>
        </p:nvSpPr>
        <p:spPr>
          <a:xfrm>
            <a:off x="548640" y="3657600"/>
            <a:ext cx="5394960" cy="1965960"/>
          </a:xfrm>
          <a:prstGeom prst="roundRect">
            <a:avLst>
              <a:gd name="adj" fmla="val 2791"/>
            </a:avLst>
          </a:prstGeom>
          <a:solidFill>
            <a:srgbClr val="F1EAF6"/>
          </a:solidFill>
          <a:ln w="9525">
            <a:solidFill>
              <a:srgbClr val="F1EAF6"/>
            </a:solidFill>
            <a:prstDash val="solid"/>
          </a:ln>
        </p:spPr>
      </p:sp>
      <p:sp>
        <p:nvSpPr>
          <p:cNvPr id="9" name="stat-bog"/>
          <p:cNvSpPr txBox="1"/>
          <p:nvPr/>
        </p:nvSpPr>
        <p:spPr>
          <a:xfrm>
            <a:off x="822960" y="3794760"/>
            <a:ext cx="4846320" cy="640080"/>
          </a:xfrm>
          <a:prstGeom prst="rect">
            <a:avLst/>
          </a:prstGeom>
          <a:noFill/>
          <a:ln/>
        </p:spPr>
        <p:txBody>
          <a:bodyPr wrap="square" lIns="0" tIns="0" rIns="0" bIns="0" rtlCol="0" anchor="b"/>
          <a:lstStyle/>
          <a:p>
            <a:pPr indent="0" marL="0">
              <a:buNone/>
            </a:pPr>
            <a:r>
              <a:rPr lang="en-US" sz="3400" b="1" dirty="0">
                <a:solidFill>
                  <a:schemeClr val="accent4"/>
                </a:solidFill>
              </a:rPr>
              <a:t>0.2 vs ~3.4 %/day</a:t>
            </a:r>
            <a:endParaRPr lang="en-US" sz="3400" dirty="0"/>
          </a:p>
        </p:txBody>
      </p:sp>
      <p:sp>
        <p:nvSpPr>
          <p:cNvPr id="10" name="stat-label-bog"/>
          <p:cNvSpPr txBox="1"/>
          <p:nvPr/>
        </p:nvSpPr>
        <p:spPr>
          <a:xfrm>
            <a:off x="822960" y="4507992"/>
            <a:ext cx="4846320" cy="1005840"/>
          </a:xfrm>
          <a:prstGeom prst="rect">
            <a:avLst/>
          </a:prstGeom>
          <a:noFill/>
          <a:ln/>
        </p:spPr>
        <p:txBody>
          <a:bodyPr wrap="square" lIns="0" tIns="0" rIns="0" bIns="0" rtlCol="0" anchor="t"/>
          <a:lstStyle/>
          <a:p>
            <a:pPr indent="0" marL="0">
              <a:buNone/>
            </a:pPr>
            <a:r>
              <a:rPr lang="en-US" sz="1400" dirty="0">
                <a:solidFill>
                  <a:schemeClr val="tx1"/>
                </a:solidFill>
              </a:rPr>
              <a:t>Planned ship boil-off against rates reported in smaller-scale Suiso Frontier studies. No full-scale vessel data yet; one voyage vented significant hydrogen.</a:t>
            </a:r>
            <a:endParaRPr lang="en-US" sz="1400" dirty="0"/>
          </a:p>
        </p:txBody>
      </p:sp>
      <p:sp>
        <p:nvSpPr>
          <p:cNvPr id="11" name="Text 8"/>
          <p:cNvSpPr txBox="1"/>
          <p:nvPr/>
        </p:nvSpPr>
        <p:spPr>
          <a:xfrm>
            <a:off x="6263640" y="1508760"/>
            <a:ext cx="5376672" cy="365760"/>
          </a:xfrm>
          <a:prstGeom prst="rect">
            <a:avLst/>
          </a:prstGeom>
          <a:noFill/>
          <a:ln/>
        </p:spPr>
        <p:txBody>
          <a:bodyPr wrap="square" lIns="0" tIns="0" rIns="0" bIns="0" rtlCol="0" anchor="t"/>
          <a:lstStyle/>
          <a:p>
            <a:pPr indent="0" marL="0">
              <a:buNone/>
            </a:pPr>
            <a:r>
              <a:rPr lang="en-US" sz="1800" b="1" dirty="0">
                <a:solidFill>
                  <a:schemeClr val="tx2"/>
                </a:solidFill>
              </a:rPr>
              <a:t>Other challenges</a:t>
            </a:r>
            <a:endParaRPr lang="en-US" sz="1800" dirty="0"/>
          </a:p>
        </p:txBody>
      </p:sp>
      <p:sp>
        <p:nvSpPr>
          <p:cNvPr id="12" name="challenge-num-1"/>
          <p:cNvSpPr/>
          <p:nvPr/>
        </p:nvSpPr>
        <p:spPr>
          <a:xfrm>
            <a:off x="6263640" y="2057400"/>
            <a:ext cx="384048" cy="384048"/>
          </a:xfrm>
          <a:prstGeom prst="ellipse">
            <a:avLst/>
          </a:prstGeom>
          <a:solidFill>
            <a:srgbClr val="60269E"/>
          </a:solidFill>
          <a:ln w="12700">
            <a:solidFill>
              <a:srgbClr val="60269E"/>
            </a:solidFill>
            <a:prstDash val="solid"/>
          </a:ln>
        </p:spPr>
      </p:sp>
      <p:sp>
        <p:nvSpPr>
          <p:cNvPr id="13" name="Text 10"/>
          <p:cNvSpPr txBox="1"/>
          <p:nvPr/>
        </p:nvSpPr>
        <p:spPr>
          <a:xfrm>
            <a:off x="6263640" y="205740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4" name="Text 11"/>
          <p:cNvSpPr txBox="1"/>
          <p:nvPr/>
        </p:nvSpPr>
        <p:spPr>
          <a:xfrm>
            <a:off x="6812280" y="2011680"/>
            <a:ext cx="4828032" cy="292608"/>
          </a:xfrm>
          <a:prstGeom prst="rect">
            <a:avLst/>
          </a:prstGeom>
          <a:noFill/>
          <a:ln/>
        </p:spPr>
        <p:txBody>
          <a:bodyPr wrap="square" lIns="0" tIns="0" rIns="0" bIns="0" rtlCol="0" anchor="t"/>
          <a:lstStyle/>
          <a:p>
            <a:pPr indent="0" marL="0">
              <a:buNone/>
            </a:pPr>
            <a:r>
              <a:rPr lang="en-US" sz="1500" b="1" dirty="0">
                <a:solidFill>
                  <a:schemeClr val="tx2"/>
                </a:solidFill>
              </a:rPr>
              <a:t>Bigger ships cost more</a:t>
            </a:r>
            <a:endParaRPr lang="en-US" sz="1500" dirty="0"/>
          </a:p>
        </p:txBody>
      </p:sp>
      <p:sp>
        <p:nvSpPr>
          <p:cNvPr id="15" name="Text 12"/>
          <p:cNvSpPr txBox="1"/>
          <p:nvPr/>
        </p:nvSpPr>
        <p:spPr>
          <a:xfrm>
            <a:off x="6812280" y="2322576"/>
            <a:ext cx="4828032" cy="548640"/>
          </a:xfrm>
          <a:prstGeom prst="rect">
            <a:avLst/>
          </a:prstGeom>
          <a:noFill/>
          <a:ln/>
        </p:spPr>
        <p:txBody>
          <a:bodyPr wrap="square" lIns="0" tIns="0" rIns="0" bIns="0" rtlCol="0" anchor="t"/>
          <a:lstStyle/>
          <a:p>
            <a:pPr indent="0" marL="0">
              <a:buNone/>
            </a:pPr>
            <a:r>
              <a:rPr lang="en-US" sz="1400" dirty="0">
                <a:solidFill>
                  <a:schemeClr val="tx1"/>
                </a:solidFill>
              </a:rPr>
              <a:t>Only a demo ship has sailed; large cargo tanks are hard to build; ship price not shared</a:t>
            </a:r>
            <a:endParaRPr lang="en-US" sz="1400" dirty="0"/>
          </a:p>
        </p:txBody>
      </p:sp>
      <p:sp>
        <p:nvSpPr>
          <p:cNvPr id="16" name="challenge-num-2"/>
          <p:cNvSpPr/>
          <p:nvPr/>
        </p:nvSpPr>
        <p:spPr>
          <a:xfrm>
            <a:off x="6263640" y="2971800"/>
            <a:ext cx="384048" cy="384048"/>
          </a:xfrm>
          <a:prstGeom prst="ellipse">
            <a:avLst/>
          </a:prstGeom>
          <a:solidFill>
            <a:srgbClr val="60269E"/>
          </a:solidFill>
          <a:ln w="12700">
            <a:solidFill>
              <a:srgbClr val="60269E"/>
            </a:solidFill>
            <a:prstDash val="solid"/>
          </a:ln>
        </p:spPr>
      </p:sp>
      <p:sp>
        <p:nvSpPr>
          <p:cNvPr id="17" name="Text 14"/>
          <p:cNvSpPr txBox="1"/>
          <p:nvPr/>
        </p:nvSpPr>
        <p:spPr>
          <a:xfrm>
            <a:off x="6263640" y="297180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8" name="Text 15"/>
          <p:cNvSpPr txBox="1"/>
          <p:nvPr/>
        </p:nvSpPr>
        <p:spPr>
          <a:xfrm>
            <a:off x="6812280" y="2926080"/>
            <a:ext cx="4828032" cy="292608"/>
          </a:xfrm>
          <a:prstGeom prst="rect">
            <a:avLst/>
          </a:prstGeom>
          <a:noFill/>
          <a:ln/>
        </p:spPr>
        <p:txBody>
          <a:bodyPr wrap="square" lIns="0" tIns="0" rIns="0" bIns="0" rtlCol="0" anchor="t"/>
          <a:lstStyle/>
          <a:p>
            <a:pPr indent="0" marL="0">
              <a:buNone/>
            </a:pPr>
            <a:r>
              <a:rPr lang="en-US" sz="1500" b="1" dirty="0">
                <a:solidFill>
                  <a:schemeClr val="tx2"/>
                </a:solidFill>
              </a:rPr>
              <a:t>Costs are still unclear</a:t>
            </a:r>
            <a:endParaRPr lang="en-US" sz="1500" dirty="0"/>
          </a:p>
        </p:txBody>
      </p:sp>
      <p:sp>
        <p:nvSpPr>
          <p:cNvPr id="19" name="Text 16"/>
          <p:cNvSpPr txBox="1"/>
          <p:nvPr/>
        </p:nvSpPr>
        <p:spPr>
          <a:xfrm>
            <a:off x="6812280" y="3236976"/>
            <a:ext cx="4828032" cy="548640"/>
          </a:xfrm>
          <a:prstGeom prst="rect">
            <a:avLst/>
          </a:prstGeom>
          <a:noFill/>
          <a:ln/>
        </p:spPr>
        <p:txBody>
          <a:bodyPr wrap="square" lIns="0" tIns="0" rIns="0" bIns="0" rtlCol="0" anchor="t"/>
          <a:lstStyle/>
          <a:p>
            <a:pPr indent="0" marL="0">
              <a:buNone/>
            </a:pPr>
            <a:r>
              <a:rPr lang="en-US" sz="1400" dirty="0">
                <a:solidFill>
                  <a:schemeClr val="tx1"/>
                </a:solidFill>
              </a:rPr>
              <a:t>Liquefaction and regas cost per kg not shared; needs a feasibility study</a:t>
            </a:r>
            <a:endParaRPr lang="en-US" sz="1400" dirty="0"/>
          </a:p>
        </p:txBody>
      </p:sp>
      <p:sp>
        <p:nvSpPr>
          <p:cNvPr id="20" name="challenge-num-3"/>
          <p:cNvSpPr/>
          <p:nvPr/>
        </p:nvSpPr>
        <p:spPr>
          <a:xfrm>
            <a:off x="6263640" y="3886200"/>
            <a:ext cx="384048" cy="384048"/>
          </a:xfrm>
          <a:prstGeom prst="ellipse">
            <a:avLst/>
          </a:prstGeom>
          <a:solidFill>
            <a:srgbClr val="60269E"/>
          </a:solidFill>
          <a:ln w="12700">
            <a:solidFill>
              <a:srgbClr val="60269E"/>
            </a:solidFill>
            <a:prstDash val="solid"/>
          </a:ln>
        </p:spPr>
      </p:sp>
      <p:sp>
        <p:nvSpPr>
          <p:cNvPr id="21" name="Text 18"/>
          <p:cNvSpPr txBox="1"/>
          <p:nvPr/>
        </p:nvSpPr>
        <p:spPr>
          <a:xfrm>
            <a:off x="6263640" y="388620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2" name="Text 19"/>
          <p:cNvSpPr txBox="1"/>
          <p:nvPr/>
        </p:nvSpPr>
        <p:spPr>
          <a:xfrm>
            <a:off x="6812280" y="3840480"/>
            <a:ext cx="4828032" cy="292608"/>
          </a:xfrm>
          <a:prstGeom prst="rect">
            <a:avLst/>
          </a:prstGeom>
          <a:noFill/>
          <a:ln/>
        </p:spPr>
        <p:txBody>
          <a:bodyPr wrap="square" lIns="0" tIns="0" rIns="0" bIns="0" rtlCol="0" anchor="t"/>
          <a:lstStyle/>
          <a:p>
            <a:pPr indent="0" marL="0">
              <a:buNone/>
            </a:pPr>
            <a:r>
              <a:rPr lang="en-US" sz="1500" b="1" dirty="0">
                <a:solidFill>
                  <a:schemeClr val="tx2"/>
                </a:solidFill>
              </a:rPr>
              <a:t>Rules and permits uncertain</a:t>
            </a:r>
            <a:endParaRPr lang="en-US" sz="1500" dirty="0"/>
          </a:p>
        </p:txBody>
      </p:sp>
      <p:sp>
        <p:nvSpPr>
          <p:cNvPr id="23" name="Text 20"/>
          <p:cNvSpPr txBox="1"/>
          <p:nvPr/>
        </p:nvSpPr>
        <p:spPr>
          <a:xfrm>
            <a:off x="6812280" y="4151376"/>
            <a:ext cx="4828032" cy="548640"/>
          </a:xfrm>
          <a:prstGeom prst="rect">
            <a:avLst/>
          </a:prstGeom>
          <a:noFill/>
          <a:ln/>
        </p:spPr>
        <p:txBody>
          <a:bodyPr wrap="square" lIns="0" tIns="0" rIns="0" bIns="0" rtlCol="0" anchor="t"/>
          <a:lstStyle/>
          <a:p>
            <a:pPr indent="0" marL="0">
              <a:buNone/>
            </a:pPr>
            <a:r>
              <a:rPr lang="en-US" sz="1400" dirty="0">
                <a:solidFill>
                  <a:schemeClr val="tx1"/>
                </a:solidFill>
              </a:rPr>
              <a:t>Case by case so far, mainly in Japan (see previous slide)</a:t>
            </a:r>
            <a:endParaRPr lang="en-US" sz="1400" dirty="0"/>
          </a:p>
        </p:txBody>
      </p:sp>
      <p:sp>
        <p:nvSpPr>
          <p:cNvPr id="24" name="challenge-num-4"/>
          <p:cNvSpPr/>
          <p:nvPr/>
        </p:nvSpPr>
        <p:spPr>
          <a:xfrm>
            <a:off x="6263640" y="4800600"/>
            <a:ext cx="384048" cy="384048"/>
          </a:xfrm>
          <a:prstGeom prst="ellipse">
            <a:avLst/>
          </a:prstGeom>
          <a:solidFill>
            <a:srgbClr val="60269E"/>
          </a:solidFill>
          <a:ln w="12700">
            <a:solidFill>
              <a:srgbClr val="60269E"/>
            </a:solidFill>
            <a:prstDash val="solid"/>
          </a:ln>
        </p:spPr>
      </p:sp>
      <p:sp>
        <p:nvSpPr>
          <p:cNvPr id="25" name="Text 22"/>
          <p:cNvSpPr txBox="1"/>
          <p:nvPr/>
        </p:nvSpPr>
        <p:spPr>
          <a:xfrm>
            <a:off x="6263640" y="480060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6" name="Text 23"/>
          <p:cNvSpPr txBox="1"/>
          <p:nvPr/>
        </p:nvSpPr>
        <p:spPr>
          <a:xfrm>
            <a:off x="6812280" y="4754880"/>
            <a:ext cx="4828032" cy="292608"/>
          </a:xfrm>
          <a:prstGeom prst="rect">
            <a:avLst/>
          </a:prstGeom>
          <a:noFill/>
          <a:ln/>
        </p:spPr>
        <p:txBody>
          <a:bodyPr wrap="square" lIns="0" tIns="0" rIns="0" bIns="0" rtlCol="0" anchor="t"/>
          <a:lstStyle/>
          <a:p>
            <a:pPr indent="0" marL="0">
              <a:buNone/>
            </a:pPr>
            <a:r>
              <a:rPr lang="en-US" sz="1500" b="1" dirty="0">
                <a:solidFill>
                  <a:schemeClr val="tx2"/>
                </a:solidFill>
              </a:rPr>
              <a:t>Materials and safety need detail</a:t>
            </a:r>
            <a:endParaRPr lang="en-US" sz="1500" dirty="0"/>
          </a:p>
        </p:txBody>
      </p:sp>
      <p:sp>
        <p:nvSpPr>
          <p:cNvPr id="27" name="Text 24"/>
          <p:cNvSpPr txBox="1"/>
          <p:nvPr/>
        </p:nvSpPr>
        <p:spPr>
          <a:xfrm>
            <a:off x="6812280" y="5065776"/>
            <a:ext cx="4828032" cy="548640"/>
          </a:xfrm>
          <a:prstGeom prst="rect">
            <a:avLst/>
          </a:prstGeom>
          <a:noFill/>
          <a:ln/>
        </p:spPr>
        <p:txBody>
          <a:bodyPr wrap="square" lIns="0" tIns="0" rIns="0" bIns="0" rtlCol="0" anchor="t"/>
          <a:lstStyle/>
          <a:p>
            <a:pPr indent="0" marL="0">
              <a:buNone/>
            </a:pPr>
            <a:r>
              <a:rPr lang="en-US" sz="1400" dirty="0">
                <a:solidFill>
                  <a:schemeClr val="tx1"/>
                </a:solidFill>
              </a:rPr>
              <a:t>Cargo-tank metal not confirmed; likely needs a bigger safety zone than ammonia</a:t>
            </a:r>
            <a:endParaRPr lang="en-US" sz="14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LH₂ and NH₃ are compared on the same job: one 40,000 m³ cargo, from hydrogen gas at the export plant to hydrogen gas at the import terminal</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 13.1 · basis of the LH₂ vs NH₃ comparison</a:t>
            </a:r>
            <a:endParaRPr lang="en-US" sz="1100" dirty="0"/>
          </a:p>
        </p:txBody>
      </p:sp>
      <p:sp>
        <p:nvSpPr>
          <p:cNvPr id="5" name="lane-1"/>
          <p:cNvSpPr/>
          <p:nvPr/>
        </p:nvSpPr>
        <p:spPr>
          <a:xfrm>
            <a:off x="548640" y="1508760"/>
            <a:ext cx="2103120" cy="1783080"/>
          </a:xfrm>
          <a:prstGeom prst="roundRect">
            <a:avLst>
              <a:gd name="adj" fmla="val 3077"/>
            </a:avLst>
          </a:prstGeom>
          <a:solidFill>
            <a:srgbClr val="4A3AA7"/>
          </a:solidFill>
          <a:ln w="9525">
            <a:solidFill>
              <a:srgbClr val="4A3AA7"/>
            </a:solidFill>
            <a:prstDash val="solid"/>
          </a:ln>
        </p:spPr>
      </p:sp>
      <p:sp>
        <p:nvSpPr>
          <p:cNvPr id="6" name="Text 3"/>
          <p:cNvSpPr txBox="1"/>
          <p:nvPr/>
        </p:nvSpPr>
        <p:spPr>
          <a:xfrm>
            <a:off x="713232" y="1691640"/>
            <a:ext cx="1828800" cy="411480"/>
          </a:xfrm>
          <a:prstGeom prst="rect">
            <a:avLst/>
          </a:prstGeom>
          <a:noFill/>
          <a:ln/>
        </p:spPr>
        <p:txBody>
          <a:bodyPr wrap="square" lIns="0" tIns="0" rIns="0" bIns="0" rtlCol="0" anchor="t"/>
          <a:lstStyle/>
          <a:p>
            <a:pPr indent="0" marL="0">
              <a:buNone/>
            </a:pPr>
            <a:r>
              <a:rPr lang="en-US" sz="1800" b="1" dirty="0">
                <a:solidFill>
                  <a:schemeClr val="bg1"/>
                </a:solidFill>
              </a:rPr>
              <a:t>LH₂ route</a:t>
            </a:r>
            <a:endParaRPr lang="en-US" sz="1800" dirty="0"/>
          </a:p>
        </p:txBody>
      </p:sp>
      <p:sp>
        <p:nvSpPr>
          <p:cNvPr id="7" name="Text 4"/>
          <p:cNvSpPr txBox="1"/>
          <p:nvPr/>
        </p:nvSpPr>
        <p:spPr>
          <a:xfrm>
            <a:off x="713232" y="2194560"/>
            <a:ext cx="1828800" cy="914400"/>
          </a:xfrm>
          <a:prstGeom prst="rect">
            <a:avLst/>
          </a:prstGeom>
          <a:noFill/>
          <a:ln/>
        </p:spPr>
        <p:txBody>
          <a:bodyPr wrap="square" lIns="0" tIns="0" rIns="0" bIns="0" rtlCol="0" anchor="t"/>
          <a:lstStyle/>
          <a:p>
            <a:pPr indent="0" marL="0">
              <a:buNone/>
            </a:pPr>
            <a:r>
              <a:rPr lang="en-US" sz="1400" dirty="0">
                <a:solidFill>
                  <a:schemeClr val="bg1"/>
                </a:solidFill>
              </a:rPr>
              <a:t>2,832 t of H₂ per cargo</a:t>
            </a:r>
            <a:endParaRPr lang="en-US" sz="1400" dirty="0"/>
          </a:p>
        </p:txBody>
      </p:sp>
      <p:sp>
        <p:nvSpPr>
          <p:cNvPr id="8" name="lane-1-step-1"/>
          <p:cNvSpPr/>
          <p:nvPr/>
        </p:nvSpPr>
        <p:spPr>
          <a:xfrm>
            <a:off x="2834640" y="1508760"/>
            <a:ext cx="2064258" cy="1783080"/>
          </a:xfrm>
          <a:prstGeom prst="roundRect">
            <a:avLst>
              <a:gd name="adj" fmla="val 3077"/>
            </a:avLst>
          </a:prstGeom>
          <a:solidFill>
            <a:srgbClr val="F1EAF6"/>
          </a:solidFill>
          <a:ln w="9525">
            <a:solidFill>
              <a:srgbClr val="F1EAF6"/>
            </a:solidFill>
            <a:prstDash val="solid"/>
          </a:ln>
        </p:spPr>
      </p:sp>
      <p:sp>
        <p:nvSpPr>
          <p:cNvPr id="9" name="Text 6"/>
          <p:cNvSpPr txBox="1"/>
          <p:nvPr/>
        </p:nvSpPr>
        <p:spPr>
          <a:xfrm>
            <a:off x="2971800" y="1645920"/>
            <a:ext cx="1789938" cy="320040"/>
          </a:xfrm>
          <a:prstGeom prst="rect">
            <a:avLst/>
          </a:prstGeom>
          <a:noFill/>
          <a:ln/>
        </p:spPr>
        <p:txBody>
          <a:bodyPr wrap="square" lIns="0" tIns="0" rIns="0" bIns="0" rtlCol="0" anchor="t"/>
          <a:lstStyle/>
          <a:p>
            <a:pPr indent="0" marL="0">
              <a:buNone/>
            </a:pPr>
            <a:r>
              <a:rPr lang="en-US" sz="1500" b="1" dirty="0">
                <a:solidFill>
                  <a:schemeClr val="tx2"/>
                </a:solidFill>
              </a:rPr>
              <a:t>Prepare cargo</a:t>
            </a:r>
            <a:endParaRPr lang="en-US" sz="1500" dirty="0"/>
          </a:p>
        </p:txBody>
      </p:sp>
      <p:sp>
        <p:nvSpPr>
          <p:cNvPr id="10" name="Text 7"/>
          <p:cNvSpPr txBox="1"/>
          <p:nvPr/>
        </p:nvSpPr>
        <p:spPr>
          <a:xfrm>
            <a:off x="2971800" y="2011680"/>
            <a:ext cx="1789938" cy="1188720"/>
          </a:xfrm>
          <a:prstGeom prst="rect">
            <a:avLst/>
          </a:prstGeom>
          <a:noFill/>
          <a:ln/>
        </p:spPr>
        <p:txBody>
          <a:bodyPr wrap="square" lIns="0" tIns="0" rIns="0" bIns="0" rtlCol="0" anchor="t"/>
          <a:lstStyle/>
          <a:p>
            <a:pPr indent="0" marL="0">
              <a:buNone/>
            </a:pPr>
            <a:r>
              <a:rPr lang="en-US" sz="1400" dirty="0">
                <a:solidFill>
                  <a:schemeClr val="tx1"/>
                </a:solidFill>
              </a:rPr>
              <a:t>Liquefier, 9 kWh/kg H₂</a:t>
            </a:r>
            <a:endParaRPr lang="en-US" sz="1400" dirty="0"/>
          </a:p>
        </p:txBody>
      </p:sp>
      <p:sp>
        <p:nvSpPr>
          <p:cNvPr id="11" name="lane-1-step-2"/>
          <p:cNvSpPr/>
          <p:nvPr/>
        </p:nvSpPr>
        <p:spPr>
          <a:xfrm>
            <a:off x="5081778" y="1508760"/>
            <a:ext cx="2064258" cy="1783080"/>
          </a:xfrm>
          <a:prstGeom prst="roundRect">
            <a:avLst>
              <a:gd name="adj" fmla="val 3077"/>
            </a:avLst>
          </a:prstGeom>
          <a:solidFill>
            <a:srgbClr val="F1EAF6"/>
          </a:solidFill>
          <a:ln w="9525">
            <a:solidFill>
              <a:srgbClr val="F1EAF6"/>
            </a:solidFill>
            <a:prstDash val="solid"/>
          </a:ln>
        </p:spPr>
      </p:sp>
      <p:sp>
        <p:nvSpPr>
          <p:cNvPr id="12" name="Text 9"/>
          <p:cNvSpPr txBox="1"/>
          <p:nvPr/>
        </p:nvSpPr>
        <p:spPr>
          <a:xfrm>
            <a:off x="5218938" y="1645920"/>
            <a:ext cx="1789938" cy="320040"/>
          </a:xfrm>
          <a:prstGeom prst="rect">
            <a:avLst/>
          </a:prstGeom>
          <a:noFill/>
          <a:ln/>
        </p:spPr>
        <p:txBody>
          <a:bodyPr wrap="square" lIns="0" tIns="0" rIns="0" bIns="0" rtlCol="0" anchor="t"/>
          <a:lstStyle/>
          <a:p>
            <a:pPr indent="0" marL="0">
              <a:buNone/>
            </a:pPr>
            <a:r>
              <a:rPr lang="en-US" sz="1500" b="1" dirty="0">
                <a:solidFill>
                  <a:schemeClr val="tx2"/>
                </a:solidFill>
              </a:rPr>
              <a:t>Export tank</a:t>
            </a:r>
            <a:endParaRPr lang="en-US" sz="1500" dirty="0"/>
          </a:p>
        </p:txBody>
      </p:sp>
      <p:sp>
        <p:nvSpPr>
          <p:cNvPr id="13" name="Text 10"/>
          <p:cNvSpPr txBox="1"/>
          <p:nvPr/>
        </p:nvSpPr>
        <p:spPr>
          <a:xfrm>
            <a:off x="5218938" y="2011680"/>
            <a:ext cx="1789938" cy="1188720"/>
          </a:xfrm>
          <a:prstGeom prst="rect">
            <a:avLst/>
          </a:prstGeom>
          <a:noFill/>
          <a:ln/>
        </p:spPr>
        <p:txBody>
          <a:bodyPr wrap="square" lIns="0" tIns="0" rIns="0" bIns="0" rtlCol="0" anchor="t"/>
          <a:lstStyle/>
          <a:p>
            <a:pPr indent="0" marL="0">
              <a:buNone/>
            </a:pPr>
            <a:r>
              <a:rPr lang="en-US" sz="1400" dirty="0">
                <a:solidFill>
                  <a:schemeClr val="tx1"/>
                </a:solidFill>
              </a:rPr>
              <a:t>Boil-off 0.1 %/day, re-liquefied</a:t>
            </a:r>
            <a:endParaRPr lang="en-US" sz="1400" dirty="0"/>
          </a:p>
        </p:txBody>
      </p:sp>
      <p:sp>
        <p:nvSpPr>
          <p:cNvPr id="14" name="lane-1-step-3"/>
          <p:cNvSpPr/>
          <p:nvPr/>
        </p:nvSpPr>
        <p:spPr>
          <a:xfrm>
            <a:off x="7328916" y="1508760"/>
            <a:ext cx="2064258" cy="1783080"/>
          </a:xfrm>
          <a:prstGeom prst="roundRect">
            <a:avLst>
              <a:gd name="adj" fmla="val 3077"/>
            </a:avLst>
          </a:prstGeom>
          <a:solidFill>
            <a:srgbClr val="F1EAF6"/>
          </a:solidFill>
          <a:ln w="9525">
            <a:solidFill>
              <a:srgbClr val="F1EAF6"/>
            </a:solidFill>
            <a:prstDash val="solid"/>
          </a:ln>
        </p:spPr>
      </p:sp>
      <p:sp>
        <p:nvSpPr>
          <p:cNvPr id="15" name="Text 12"/>
          <p:cNvSpPr txBox="1"/>
          <p:nvPr/>
        </p:nvSpPr>
        <p:spPr>
          <a:xfrm>
            <a:off x="7466076" y="1645920"/>
            <a:ext cx="1789938" cy="320040"/>
          </a:xfrm>
          <a:prstGeom prst="rect">
            <a:avLst/>
          </a:prstGeom>
          <a:noFill/>
          <a:ln/>
        </p:spPr>
        <p:txBody>
          <a:bodyPr wrap="square" lIns="0" tIns="0" rIns="0" bIns="0" rtlCol="0" anchor="t"/>
          <a:lstStyle/>
          <a:p>
            <a:pPr indent="0" marL="0">
              <a:buNone/>
            </a:pPr>
            <a:r>
              <a:rPr lang="en-US" sz="1500" b="1" dirty="0">
                <a:solidFill>
                  <a:schemeClr val="tx2"/>
                </a:solidFill>
              </a:rPr>
              <a:t>Voyage, 20 days</a:t>
            </a:r>
            <a:endParaRPr lang="en-US" sz="1500" dirty="0"/>
          </a:p>
        </p:txBody>
      </p:sp>
      <p:sp>
        <p:nvSpPr>
          <p:cNvPr id="16" name="Text 13"/>
          <p:cNvSpPr txBox="1"/>
          <p:nvPr/>
        </p:nvSpPr>
        <p:spPr>
          <a:xfrm>
            <a:off x="7466076" y="2011680"/>
            <a:ext cx="1789938" cy="1188720"/>
          </a:xfrm>
          <a:prstGeom prst="rect">
            <a:avLst/>
          </a:prstGeom>
          <a:noFill/>
          <a:ln/>
        </p:spPr>
        <p:txBody>
          <a:bodyPr wrap="square" lIns="0" tIns="0" rIns="0" bIns="0" rtlCol="0" anchor="t"/>
          <a:lstStyle/>
          <a:p>
            <a:pPr indent="0" marL="0">
              <a:buNone/>
            </a:pPr>
            <a:r>
              <a:rPr lang="en-US" sz="1400" dirty="0">
                <a:solidFill>
                  <a:schemeClr val="tx1"/>
                </a:solidFill>
              </a:rPr>
              <a:t>Boil-off 0.40 %/day burned as engine fuel</a:t>
            </a:r>
            <a:endParaRPr lang="en-US" sz="1400" dirty="0"/>
          </a:p>
        </p:txBody>
      </p:sp>
      <p:sp>
        <p:nvSpPr>
          <p:cNvPr id="17" name="lane-1-step-4"/>
          <p:cNvSpPr/>
          <p:nvPr/>
        </p:nvSpPr>
        <p:spPr>
          <a:xfrm>
            <a:off x="9576054" y="1508760"/>
            <a:ext cx="2064258" cy="1783080"/>
          </a:xfrm>
          <a:prstGeom prst="roundRect">
            <a:avLst>
              <a:gd name="adj" fmla="val 3077"/>
            </a:avLst>
          </a:prstGeom>
          <a:solidFill>
            <a:srgbClr val="F1EAF6"/>
          </a:solidFill>
          <a:ln w="9525">
            <a:solidFill>
              <a:srgbClr val="F1EAF6"/>
            </a:solidFill>
            <a:prstDash val="solid"/>
          </a:ln>
        </p:spPr>
      </p:sp>
      <p:sp>
        <p:nvSpPr>
          <p:cNvPr id="18" name="Text 15"/>
          <p:cNvSpPr txBox="1"/>
          <p:nvPr/>
        </p:nvSpPr>
        <p:spPr>
          <a:xfrm>
            <a:off x="9713214" y="1645920"/>
            <a:ext cx="1789938" cy="320040"/>
          </a:xfrm>
          <a:prstGeom prst="rect">
            <a:avLst/>
          </a:prstGeom>
          <a:noFill/>
          <a:ln/>
        </p:spPr>
        <p:txBody>
          <a:bodyPr wrap="square" lIns="0" tIns="0" rIns="0" bIns="0" rtlCol="0" anchor="t"/>
          <a:lstStyle/>
          <a:p>
            <a:pPr indent="0" marL="0">
              <a:buNone/>
            </a:pPr>
            <a:r>
              <a:rPr lang="en-US" sz="1500" b="1" dirty="0">
                <a:solidFill>
                  <a:schemeClr val="tx2"/>
                </a:solidFill>
              </a:rPr>
              <a:t>Import terminal</a:t>
            </a:r>
            <a:endParaRPr lang="en-US" sz="1500" dirty="0"/>
          </a:p>
        </p:txBody>
      </p:sp>
      <p:sp>
        <p:nvSpPr>
          <p:cNvPr id="19" name="Text 16"/>
          <p:cNvSpPr txBox="1"/>
          <p:nvPr/>
        </p:nvSpPr>
        <p:spPr>
          <a:xfrm>
            <a:off x="9713214" y="2011680"/>
            <a:ext cx="1789938" cy="1188720"/>
          </a:xfrm>
          <a:prstGeom prst="rect">
            <a:avLst/>
          </a:prstGeom>
          <a:noFill/>
          <a:ln/>
        </p:spPr>
        <p:txBody>
          <a:bodyPr wrap="square" lIns="0" tIns="0" rIns="0" bIns="0" rtlCol="0" anchor="t"/>
          <a:lstStyle/>
          <a:p>
            <a:pPr indent="0" marL="0">
              <a:buNone/>
            </a:pPr>
            <a:r>
              <a:rPr lang="en-US" sz="1400" dirty="0">
                <a:solidFill>
                  <a:schemeClr val="tx1"/>
                </a:solidFill>
              </a:rPr>
              <a:t>Seawater vaporiser, 3.8 MJ/kg of free heat</a:t>
            </a:r>
            <a:endParaRPr lang="en-US" sz="1400" dirty="0"/>
          </a:p>
        </p:txBody>
      </p:sp>
      <p:sp>
        <p:nvSpPr>
          <p:cNvPr id="20" name="lane-2"/>
          <p:cNvSpPr/>
          <p:nvPr/>
        </p:nvSpPr>
        <p:spPr>
          <a:xfrm>
            <a:off x="548640" y="3474720"/>
            <a:ext cx="2103120" cy="1783080"/>
          </a:xfrm>
          <a:prstGeom prst="roundRect">
            <a:avLst>
              <a:gd name="adj" fmla="val 3077"/>
            </a:avLst>
          </a:prstGeom>
          <a:solidFill>
            <a:srgbClr val="2977D6"/>
          </a:solidFill>
          <a:ln w="9525">
            <a:solidFill>
              <a:srgbClr val="2977D6"/>
            </a:solidFill>
            <a:prstDash val="solid"/>
          </a:ln>
        </p:spPr>
      </p:sp>
      <p:sp>
        <p:nvSpPr>
          <p:cNvPr id="21" name="Text 18"/>
          <p:cNvSpPr txBox="1"/>
          <p:nvPr/>
        </p:nvSpPr>
        <p:spPr>
          <a:xfrm>
            <a:off x="713232" y="3657600"/>
            <a:ext cx="1828800" cy="411480"/>
          </a:xfrm>
          <a:prstGeom prst="rect">
            <a:avLst/>
          </a:prstGeom>
          <a:noFill/>
          <a:ln/>
        </p:spPr>
        <p:txBody>
          <a:bodyPr wrap="square" lIns="0" tIns="0" rIns="0" bIns="0" rtlCol="0" anchor="t"/>
          <a:lstStyle/>
          <a:p>
            <a:pPr indent="0" marL="0">
              <a:buNone/>
            </a:pPr>
            <a:r>
              <a:rPr lang="en-US" sz="1800" b="1" dirty="0">
                <a:solidFill>
                  <a:schemeClr val="bg1"/>
                </a:solidFill>
              </a:rPr>
              <a:t>NH₃ route</a:t>
            </a:r>
            <a:endParaRPr lang="en-US" sz="1800" dirty="0"/>
          </a:p>
        </p:txBody>
      </p:sp>
      <p:sp>
        <p:nvSpPr>
          <p:cNvPr id="22" name="Text 19"/>
          <p:cNvSpPr txBox="1"/>
          <p:nvPr/>
        </p:nvSpPr>
        <p:spPr>
          <a:xfrm>
            <a:off x="713232" y="4160520"/>
            <a:ext cx="1828800" cy="914400"/>
          </a:xfrm>
          <a:prstGeom prst="rect">
            <a:avLst/>
          </a:prstGeom>
          <a:noFill/>
          <a:ln/>
        </p:spPr>
        <p:txBody>
          <a:bodyPr wrap="square" lIns="0" tIns="0" rIns="0" bIns="0" rtlCol="0" anchor="t"/>
          <a:lstStyle/>
          <a:p>
            <a:pPr indent="0" marL="0">
              <a:buNone/>
            </a:pPr>
            <a:r>
              <a:rPr lang="en-US" sz="1400" dirty="0">
                <a:solidFill>
                  <a:schemeClr val="bg1"/>
                </a:solidFill>
              </a:rPr>
              <a:t>27,280 t of NH₃ = 4,871 t of H₂</a:t>
            </a:r>
            <a:endParaRPr lang="en-US" sz="1400" dirty="0"/>
          </a:p>
        </p:txBody>
      </p:sp>
      <p:sp>
        <p:nvSpPr>
          <p:cNvPr id="23" name="lane-2-step-1"/>
          <p:cNvSpPr/>
          <p:nvPr/>
        </p:nvSpPr>
        <p:spPr>
          <a:xfrm>
            <a:off x="2834640" y="3474720"/>
            <a:ext cx="2064258" cy="1783080"/>
          </a:xfrm>
          <a:prstGeom prst="roundRect">
            <a:avLst>
              <a:gd name="adj" fmla="val 3077"/>
            </a:avLst>
          </a:prstGeom>
          <a:solidFill>
            <a:srgbClr val="F1EAF6"/>
          </a:solidFill>
          <a:ln w="9525">
            <a:solidFill>
              <a:srgbClr val="F1EAF6"/>
            </a:solidFill>
            <a:prstDash val="solid"/>
          </a:ln>
        </p:spPr>
      </p:sp>
      <p:sp>
        <p:nvSpPr>
          <p:cNvPr id="24" name="Text 21"/>
          <p:cNvSpPr txBox="1"/>
          <p:nvPr/>
        </p:nvSpPr>
        <p:spPr>
          <a:xfrm>
            <a:off x="2971800" y="3611880"/>
            <a:ext cx="1789938" cy="320040"/>
          </a:xfrm>
          <a:prstGeom prst="rect">
            <a:avLst/>
          </a:prstGeom>
          <a:noFill/>
          <a:ln/>
        </p:spPr>
        <p:txBody>
          <a:bodyPr wrap="square" lIns="0" tIns="0" rIns="0" bIns="0" rtlCol="0" anchor="t"/>
          <a:lstStyle/>
          <a:p>
            <a:pPr indent="0" marL="0">
              <a:buNone/>
            </a:pPr>
            <a:r>
              <a:rPr lang="en-US" sz="1500" b="1" dirty="0">
                <a:solidFill>
                  <a:schemeClr val="tx2"/>
                </a:solidFill>
              </a:rPr>
              <a:t>Prepare cargo</a:t>
            </a:r>
            <a:endParaRPr lang="en-US" sz="1500" dirty="0"/>
          </a:p>
        </p:txBody>
      </p:sp>
      <p:sp>
        <p:nvSpPr>
          <p:cNvPr id="25" name="Text 22"/>
          <p:cNvSpPr txBox="1"/>
          <p:nvPr/>
        </p:nvSpPr>
        <p:spPr>
          <a:xfrm>
            <a:off x="2971800" y="3977640"/>
            <a:ext cx="1789938" cy="1188720"/>
          </a:xfrm>
          <a:prstGeom prst="rect">
            <a:avLst/>
          </a:prstGeom>
          <a:noFill/>
          <a:ln/>
        </p:spPr>
        <p:txBody>
          <a:bodyPr wrap="square" lIns="0" tIns="0" rIns="0" bIns="0" rtlCol="0" anchor="t"/>
          <a:lstStyle/>
          <a:p>
            <a:pPr indent="0" marL="0">
              <a:buNone/>
            </a:pPr>
            <a:r>
              <a:rPr lang="en-US" sz="1400" dirty="0">
                <a:solidFill>
                  <a:schemeClr val="tx1"/>
                </a:solidFill>
              </a:rPr>
              <a:t>Haber-Bosch, 1 kWh/kg H₂ (team input)</a:t>
            </a:r>
            <a:endParaRPr lang="en-US" sz="1400" dirty="0"/>
          </a:p>
        </p:txBody>
      </p:sp>
      <p:sp>
        <p:nvSpPr>
          <p:cNvPr id="26" name="lane-2-step-2"/>
          <p:cNvSpPr/>
          <p:nvPr/>
        </p:nvSpPr>
        <p:spPr>
          <a:xfrm>
            <a:off x="5081778" y="3474720"/>
            <a:ext cx="2064258" cy="1783080"/>
          </a:xfrm>
          <a:prstGeom prst="roundRect">
            <a:avLst>
              <a:gd name="adj" fmla="val 3077"/>
            </a:avLst>
          </a:prstGeom>
          <a:solidFill>
            <a:srgbClr val="F1EAF6"/>
          </a:solidFill>
          <a:ln w="9525">
            <a:solidFill>
              <a:srgbClr val="F1EAF6"/>
            </a:solidFill>
            <a:prstDash val="solid"/>
          </a:ln>
        </p:spPr>
      </p:sp>
      <p:sp>
        <p:nvSpPr>
          <p:cNvPr id="27" name="Text 24"/>
          <p:cNvSpPr txBox="1"/>
          <p:nvPr/>
        </p:nvSpPr>
        <p:spPr>
          <a:xfrm>
            <a:off x="5218938" y="3611880"/>
            <a:ext cx="1789938" cy="320040"/>
          </a:xfrm>
          <a:prstGeom prst="rect">
            <a:avLst/>
          </a:prstGeom>
          <a:noFill/>
          <a:ln/>
        </p:spPr>
        <p:txBody>
          <a:bodyPr wrap="square" lIns="0" tIns="0" rIns="0" bIns="0" rtlCol="0" anchor="t"/>
          <a:lstStyle/>
          <a:p>
            <a:pPr indent="0" marL="0">
              <a:buNone/>
            </a:pPr>
            <a:r>
              <a:rPr lang="en-US" sz="1500" b="1" dirty="0">
                <a:solidFill>
                  <a:schemeClr val="tx2"/>
                </a:solidFill>
              </a:rPr>
              <a:t>Export tank</a:t>
            </a:r>
            <a:endParaRPr lang="en-US" sz="1500" dirty="0"/>
          </a:p>
        </p:txBody>
      </p:sp>
      <p:sp>
        <p:nvSpPr>
          <p:cNvPr id="28" name="Text 25"/>
          <p:cNvSpPr txBox="1"/>
          <p:nvPr/>
        </p:nvSpPr>
        <p:spPr>
          <a:xfrm>
            <a:off x="5218938" y="3977640"/>
            <a:ext cx="1789938" cy="1188720"/>
          </a:xfrm>
          <a:prstGeom prst="rect">
            <a:avLst/>
          </a:prstGeom>
          <a:noFill/>
          <a:ln/>
        </p:spPr>
        <p:txBody>
          <a:bodyPr wrap="square" lIns="0" tIns="0" rIns="0" bIns="0" rtlCol="0" anchor="t"/>
          <a:lstStyle/>
          <a:p>
            <a:pPr indent="0" marL="0">
              <a:buNone/>
            </a:pPr>
            <a:r>
              <a:rPr lang="en-US" sz="1400" dirty="0">
                <a:solidFill>
                  <a:schemeClr val="tx1"/>
                </a:solidFill>
              </a:rPr>
              <a:t>Boil-off 0.05 %/day, re-liquefied</a:t>
            </a:r>
            <a:endParaRPr lang="en-US" sz="1400" dirty="0"/>
          </a:p>
        </p:txBody>
      </p:sp>
      <p:sp>
        <p:nvSpPr>
          <p:cNvPr id="29" name="lane-2-step-3"/>
          <p:cNvSpPr/>
          <p:nvPr/>
        </p:nvSpPr>
        <p:spPr>
          <a:xfrm>
            <a:off x="7328916" y="3474720"/>
            <a:ext cx="2064258" cy="1783080"/>
          </a:xfrm>
          <a:prstGeom prst="roundRect">
            <a:avLst>
              <a:gd name="adj" fmla="val 3077"/>
            </a:avLst>
          </a:prstGeom>
          <a:solidFill>
            <a:srgbClr val="F1EAF6"/>
          </a:solidFill>
          <a:ln w="9525">
            <a:solidFill>
              <a:srgbClr val="F1EAF6"/>
            </a:solidFill>
            <a:prstDash val="solid"/>
          </a:ln>
        </p:spPr>
      </p:sp>
      <p:sp>
        <p:nvSpPr>
          <p:cNvPr id="30" name="Text 27"/>
          <p:cNvSpPr txBox="1"/>
          <p:nvPr/>
        </p:nvSpPr>
        <p:spPr>
          <a:xfrm>
            <a:off x="7466076" y="3611880"/>
            <a:ext cx="1789938" cy="320040"/>
          </a:xfrm>
          <a:prstGeom prst="rect">
            <a:avLst/>
          </a:prstGeom>
          <a:noFill/>
          <a:ln/>
        </p:spPr>
        <p:txBody>
          <a:bodyPr wrap="square" lIns="0" tIns="0" rIns="0" bIns="0" rtlCol="0" anchor="t"/>
          <a:lstStyle/>
          <a:p>
            <a:pPr indent="0" marL="0">
              <a:buNone/>
            </a:pPr>
            <a:r>
              <a:rPr lang="en-US" sz="1500" b="1" dirty="0">
                <a:solidFill>
                  <a:schemeClr val="tx2"/>
                </a:solidFill>
              </a:rPr>
              <a:t>Voyage, 20 days</a:t>
            </a:r>
            <a:endParaRPr lang="en-US" sz="1500" dirty="0"/>
          </a:p>
        </p:txBody>
      </p:sp>
      <p:sp>
        <p:nvSpPr>
          <p:cNvPr id="31" name="Text 28"/>
          <p:cNvSpPr txBox="1"/>
          <p:nvPr/>
        </p:nvSpPr>
        <p:spPr>
          <a:xfrm>
            <a:off x="7466076" y="3977640"/>
            <a:ext cx="1789938" cy="1188720"/>
          </a:xfrm>
          <a:prstGeom prst="rect">
            <a:avLst/>
          </a:prstGeom>
          <a:noFill/>
          <a:ln/>
        </p:spPr>
        <p:txBody>
          <a:bodyPr wrap="square" lIns="0" tIns="0" rIns="0" bIns="0" rtlCol="0" anchor="t"/>
          <a:lstStyle/>
          <a:p>
            <a:pPr indent="0" marL="0">
              <a:buNone/>
            </a:pPr>
            <a:r>
              <a:rPr lang="en-US" sz="1400" dirty="0">
                <a:solidFill>
                  <a:schemeClr val="tx1"/>
                </a:solidFill>
              </a:rPr>
              <a:t>Boil-off 0.15 %/day re-liquefied; ammonia bought as fuel</a:t>
            </a:r>
            <a:endParaRPr lang="en-US" sz="1400" dirty="0"/>
          </a:p>
        </p:txBody>
      </p:sp>
      <p:sp>
        <p:nvSpPr>
          <p:cNvPr id="32" name="lane-2-step-4"/>
          <p:cNvSpPr/>
          <p:nvPr/>
        </p:nvSpPr>
        <p:spPr>
          <a:xfrm>
            <a:off x="9576054" y="3474720"/>
            <a:ext cx="2064258" cy="1783080"/>
          </a:xfrm>
          <a:prstGeom prst="roundRect">
            <a:avLst>
              <a:gd name="adj" fmla="val 3077"/>
            </a:avLst>
          </a:prstGeom>
          <a:solidFill>
            <a:srgbClr val="F1EAF6"/>
          </a:solidFill>
          <a:ln w="9525">
            <a:solidFill>
              <a:srgbClr val="F1EAF6"/>
            </a:solidFill>
            <a:prstDash val="solid"/>
          </a:ln>
        </p:spPr>
      </p:sp>
      <p:sp>
        <p:nvSpPr>
          <p:cNvPr id="33" name="Text 30"/>
          <p:cNvSpPr txBox="1"/>
          <p:nvPr/>
        </p:nvSpPr>
        <p:spPr>
          <a:xfrm>
            <a:off x="9713214" y="3611880"/>
            <a:ext cx="1789938" cy="320040"/>
          </a:xfrm>
          <a:prstGeom prst="rect">
            <a:avLst/>
          </a:prstGeom>
          <a:noFill/>
          <a:ln/>
        </p:spPr>
        <p:txBody>
          <a:bodyPr wrap="square" lIns="0" tIns="0" rIns="0" bIns="0" rtlCol="0" anchor="t"/>
          <a:lstStyle/>
          <a:p>
            <a:pPr indent="0" marL="0">
              <a:buNone/>
            </a:pPr>
            <a:r>
              <a:rPr lang="en-US" sz="1500" b="1" dirty="0">
                <a:solidFill>
                  <a:schemeClr val="tx2"/>
                </a:solidFill>
              </a:rPr>
              <a:t>Import terminal</a:t>
            </a:r>
            <a:endParaRPr lang="en-US" sz="1500" dirty="0"/>
          </a:p>
        </p:txBody>
      </p:sp>
      <p:sp>
        <p:nvSpPr>
          <p:cNvPr id="34" name="Text 31"/>
          <p:cNvSpPr txBox="1"/>
          <p:nvPr/>
        </p:nvSpPr>
        <p:spPr>
          <a:xfrm>
            <a:off x="9713214" y="3977640"/>
            <a:ext cx="1789938" cy="1188720"/>
          </a:xfrm>
          <a:prstGeom prst="rect">
            <a:avLst/>
          </a:prstGeom>
          <a:noFill/>
          <a:ln/>
        </p:spPr>
        <p:txBody>
          <a:bodyPr wrap="square" lIns="0" tIns="0" rIns="0" bIns="0" rtlCol="0" anchor="t"/>
          <a:lstStyle/>
          <a:p>
            <a:pPr indent="0" marL="0">
              <a:buNone/>
            </a:pPr>
            <a:r>
              <a:rPr lang="en-US" sz="1400" dirty="0">
                <a:solidFill>
                  <a:schemeClr val="tx1"/>
                </a:solidFill>
              </a:rPr>
              <a:t>Cracker: 6.5 kg NH₃ per kg H₂ gas-fired, 7.2 clean fuel</a:t>
            </a:r>
            <a:endParaRPr lang="en-US" sz="1400" dirty="0"/>
          </a:p>
        </p:txBody>
      </p:sp>
      <p:sp>
        <p:nvSpPr>
          <p:cNvPr id="35" name="basis-note"/>
          <p:cNvSpPr txBox="1"/>
          <p:nvPr/>
        </p:nvSpPr>
        <p:spPr>
          <a:xfrm>
            <a:off x="548640" y="5532120"/>
            <a:ext cx="11091672" cy="685800"/>
          </a:xfrm>
          <a:prstGeom prst="rect">
            <a:avLst/>
          </a:prstGeom>
          <a:noFill/>
          <a:ln/>
        </p:spPr>
        <p:txBody>
          <a:bodyPr wrap="square" lIns="0" tIns="0" rIns="0" bIns="0" rtlCol="0" anchor="t"/>
          <a:lstStyle/>
          <a:p>
            <a:pPr indent="0" marL="0">
              <a:buNone/>
            </a:pPr>
            <a:r>
              <a:rPr lang="en-US" sz="1100" dirty="0">
                <a:solidFill>
                  <a:schemeClr val="tx1"/>
                </a:solidFill>
              </a:rPr>
              <a:t>Both export tanks 60,000 m³ with 5 days per cargo. Energy on a lower-heating-value basis; electricity as delivered kWh. Chosen values: 20 sea days, tank size and storage time, 3.94 kWh/kg to re-liquefy LH₂ boil-off. Several NH₃ values are team inputs or estimates that still need sources.</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On current inputs, ammonia with a gas-fired cracker uses about 14 % less energy than LH₂: 11.36 against 13.27 kWh/kg of hydrogen delivered</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 13.6 · end-to-end energy · kWh per kg H₂ delivered</a:t>
            </a:r>
            <a:endParaRPr lang="en-US" sz="1100" dirty="0"/>
          </a:p>
        </p:txBody>
      </p:sp>
      <p:graphicFrame>
        <p:nvGraphicFramePr>
          <p:cNvPr id="5" name="full-chain-chart" descr=""/>
          <p:cNvGraphicFramePr/>
          <p:nvPr/>
        </p:nvGraphicFramePr>
        <p:xfrm>
          <a:off x="457200" y="141732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138160" y="1508760"/>
            <a:ext cx="3502152" cy="320040"/>
          </a:xfrm>
          <a:prstGeom prst="rect">
            <a:avLst/>
          </a:prstGeom>
          <a:noFill/>
          <a:ln/>
        </p:spPr>
        <p:txBody>
          <a:bodyPr wrap="square" lIns="0" tIns="0" rIns="0" bIns="0" rtlCol="0" anchor="t"/>
          <a:lstStyle/>
          <a:p>
            <a:pPr indent="0" marL="0">
              <a:buNone/>
            </a:pPr>
            <a:r>
              <a:rPr lang="en-US" sz="1500" b="1" dirty="0">
                <a:solidFill>
                  <a:schemeClr val="tx2"/>
                </a:solidFill>
              </a:rPr>
              <a:t>Share of hydrogen delivered</a:t>
            </a:r>
            <a:endParaRPr lang="en-US" sz="1500" dirty="0"/>
          </a:p>
        </p:txBody>
      </p:sp>
      <p:graphicFrame>
        <p:nvGraphicFramePr>
          <p:cNvPr id="15" name="delivered-table"/>
          <p:cNvGraphicFramePr>
            <a:graphicFrameLocks noGrp="1"/>
          </p:cNvGraphicFramePr>
          <p:nvPr>
            <p:extLst>
              <p:ext uri="{D42A27DB-BD31-4B8C-83A1-F6EECF244321}">
                <p14:modId xmlns:p14="http://schemas.microsoft.com/office/powerpoint/2010/main" val="1579011935"/>
              </p:ext>
            </p:extLst>
          </p:nvPr>
        </p:nvGraphicFramePr>
        <p:xfrm>
          <a:off x="8138160" y="1920240"/>
          <a:ext cx="3502152" cy="914400"/>
        </p:xfrm>
        <a:graphic>
          <a:graphicData uri="http://schemas.openxmlformats.org/drawingml/2006/table">
            <a:tbl>
              <a:tblPr/>
              <a:tblGrid>
                <a:gridCol w="1143000"/>
                <a:gridCol w="1399032"/>
                <a:gridCol w="960120"/>
              </a:tblGrid>
              <a:tr h="43891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Route</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Burned on the way</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Delivered</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r>
              <a:tr h="438912">
                <a:tc>
                  <a:txBody>
                    <a:bodyPr/>
                    <a:lstStyle/>
                    <a:p>
                      <a:pPr indent="0" marL="0">
                        <a:buNone/>
                      </a:pPr>
                      <a:r>
                        <a:rPr lang="en-US" sz="1300" b="1" dirty="0">
                          <a:solidFill>
                            <a:srgbClr val="3A3935"/>
                          </a:solidFill>
                          <a:latin typeface="Calibri" pitchFamily="34" charset="0"/>
                          <a:ea typeface="Calibri" pitchFamily="34" charset="-122"/>
                          <a:cs typeface="Calibri" pitchFamily="34" charset="-120"/>
                        </a:rPr>
                        <a:t>LH₂</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227 t as ship fuel</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b="1" dirty="0">
                          <a:solidFill>
                            <a:srgbClr val="7030A0"/>
                          </a:solidFill>
                          <a:latin typeface="Calibri" pitchFamily="34" charset="0"/>
                          <a:ea typeface="Calibri" pitchFamily="34" charset="-122"/>
                          <a:cs typeface="Calibri" pitchFamily="34" charset="-120"/>
                        </a:rPr>
                        <a:t>92.0 %</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438912">
                <a:tc>
                  <a:txBody>
                    <a:bodyPr/>
                    <a:lstStyle/>
                    <a:p>
                      <a:pPr indent="0" marL="0">
                        <a:buNone/>
                      </a:pPr>
                      <a:r>
                        <a:rPr lang="en-US" sz="1300" b="1" dirty="0">
                          <a:solidFill>
                            <a:srgbClr val="3A3935"/>
                          </a:solidFill>
                          <a:latin typeface="Calibri" pitchFamily="34" charset="0"/>
                          <a:ea typeface="Calibri" pitchFamily="34" charset="-122"/>
                          <a:cs typeface="Calibri" pitchFamily="34" charset="-120"/>
                        </a:rPr>
                        <a:t>NH₃, gas-fired</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675 t in cracker</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86.2 %</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438912">
                <a:tc>
                  <a:txBody>
                    <a:bodyPr/>
                    <a:lstStyle/>
                    <a:p>
                      <a:pPr indent="0" marL="0">
                        <a:buNone/>
                      </a:pPr>
                      <a:r>
                        <a:rPr lang="en-US" sz="1300" b="1" dirty="0">
                          <a:solidFill>
                            <a:srgbClr val="3A3935"/>
                          </a:solidFill>
                          <a:latin typeface="Calibri" pitchFamily="34" charset="0"/>
                          <a:ea typeface="Calibri" pitchFamily="34" charset="-122"/>
                          <a:cs typeface="Calibri" pitchFamily="34" charset="-120"/>
                        </a:rPr>
                        <a:t>NH₃, clean fuel</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1,083 t in cracker</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77.8 %</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bl>
          </a:graphicData>
        </a:graphic>
      </p:graphicFrame>
      <p:sp>
        <p:nvSpPr>
          <p:cNvPr id="8" name="Text 3"/>
          <p:cNvSpPr txBox="1"/>
          <p:nvPr/>
        </p:nvSpPr>
        <p:spPr>
          <a:xfrm>
            <a:off x="8138160" y="3886200"/>
            <a:ext cx="3502152" cy="914400"/>
          </a:xfrm>
          <a:prstGeom prst="rect">
            <a:avLst/>
          </a:prstGeom>
          <a:noFill/>
          <a:ln/>
        </p:spPr>
        <p:txBody>
          <a:bodyPr wrap="square" lIns="0" tIns="0" rIns="0" bIns="0" rtlCol="0" anchor="t"/>
          <a:lstStyle/>
          <a:p>
            <a:pPr indent="0" marL="0">
              <a:buNone/>
            </a:pPr>
            <a:r>
              <a:rPr lang="en-US" sz="1200" dirty="0">
                <a:solidFill>
                  <a:schemeClr val="tx1"/>
                </a:solidFill>
              </a:rPr>
              <a:t>Tonnes are per 40,000 m³ cargo (H₂ or H₂ equivalent). NH₃ ship fuel is bought separately, so the NH₃ cargo arrives whole (assumption).</a:t>
            </a:r>
            <a:endParaRPr lang="en-US" sz="1200" dirty="0"/>
          </a:p>
        </p:txBody>
      </p:sp>
      <p:sp>
        <p:nvSpPr>
          <p:cNvPr id="9" name="basis-note"/>
          <p:cNvSpPr txBox="1"/>
          <p:nvPr/>
        </p:nvSpPr>
        <p:spPr>
          <a:xfrm>
            <a:off x="548640" y="5852160"/>
            <a:ext cx="11091672" cy="411480"/>
          </a:xfrm>
          <a:prstGeom prst="rect">
            <a:avLst/>
          </a:prstGeom>
          <a:noFill/>
          <a:ln/>
        </p:spPr>
        <p:txBody>
          <a:bodyPr wrap="square" lIns="0" tIns="0" rIns="0" bIns="0" rtlCol="0" anchor="t"/>
          <a:lstStyle/>
          <a:p>
            <a:pPr indent="0" marL="0">
              <a:buNone/>
            </a:pPr>
            <a:r>
              <a:rPr lang="en-US" sz="1100" dirty="0">
                <a:solidFill>
                  <a:schemeClr val="tx1"/>
                </a:solidFill>
              </a:rPr>
              <a:t>Labels under 0.6 kWh/kg hidden (export-tank boil-off 0.01–0.03; LH₂ ship fuel bought 0.51; LH₂ regas 0.05). LH₂ ship boil-off 0.40 %/day; Haber-Bosch 1 kWh/kg H₂ (team input). Totals are 34 % and 40 % of the hydrogen LHV.</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LH₂ pays 8.6 kWh/kg more upstream and 1.8 more at sea, then wins back 8.5 downstream because vaporising needs almost no energy</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Sections 13.2–13.6 · energy by stream, LH₂ against gas-fired NH₃ · kWh per kg H₂ delivered</a:t>
            </a:r>
            <a:endParaRPr lang="en-US" sz="1100" dirty="0"/>
          </a:p>
        </p:txBody>
      </p:sp>
      <p:sp>
        <p:nvSpPr>
          <p:cNvPr id="5" name="Text 2"/>
          <p:cNvSpPr txBox="1"/>
          <p:nvPr/>
        </p:nvSpPr>
        <p:spPr>
          <a:xfrm>
            <a:off x="548640" y="1463040"/>
            <a:ext cx="5760720" cy="320040"/>
          </a:xfrm>
          <a:prstGeom prst="rect">
            <a:avLst/>
          </a:prstGeom>
          <a:noFill/>
          <a:ln/>
        </p:spPr>
        <p:txBody>
          <a:bodyPr wrap="square" lIns="0" tIns="0" rIns="0" bIns="0" rtlCol="0" anchor="t"/>
          <a:lstStyle/>
          <a:p>
            <a:pPr indent="0" marL="0">
              <a:buNone/>
            </a:pPr>
            <a:r>
              <a:rPr lang="en-US" sz="1500" b="1" dirty="0">
                <a:solidFill>
                  <a:schemeClr val="tx2"/>
                </a:solidFill>
              </a:rPr>
              <a:t>LH₂ minus NH₃ (gas-fired cracker), kWh/kg H₂</a:t>
            </a:r>
            <a:endParaRPr lang="en-US" sz="1500" dirty="0"/>
          </a:p>
        </p:txBody>
      </p:sp>
      <p:graphicFrame>
        <p:nvGraphicFramePr>
          <p:cNvPr id="6" name="stream-chart" descr=""/>
          <p:cNvGraphicFramePr/>
          <p:nvPr/>
        </p:nvGraphicFramePr>
        <p:xfrm>
          <a:off x="457200" y="1783080"/>
          <a:ext cx="585216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stream-table"/>
          <p:cNvGraphicFramePr>
            <a:graphicFrameLocks noGrp="1"/>
          </p:cNvGraphicFramePr>
          <p:nvPr>
            <p:extLst>
              <p:ext uri="{D42A27DB-BD31-4B8C-83A1-F6EECF244321}">
                <p14:modId xmlns:p14="http://schemas.microsoft.com/office/powerpoint/2010/main" val="1579011935"/>
              </p:ext>
            </p:extLst>
          </p:nvPr>
        </p:nvGraphicFramePr>
        <p:xfrm>
          <a:off x="6675120" y="1783080"/>
          <a:ext cx="4965192" cy="914400"/>
        </p:xfrm>
        <a:graphic>
          <a:graphicData uri="http://schemas.openxmlformats.org/drawingml/2006/table">
            <a:tbl>
              <a:tblPr/>
              <a:tblGrid>
                <a:gridCol w="1463040"/>
                <a:gridCol w="1143000"/>
                <a:gridCol w="1143000"/>
                <a:gridCol w="1216152"/>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Stream</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LH₂</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NH₃</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Difference</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r>
              <a:tr h="457200">
                <a:tc>
                  <a:txBody>
                    <a:bodyPr/>
                    <a:lstStyle/>
                    <a:p>
                      <a:pPr algn="l" indent="0" marL="0">
                        <a:buNone/>
                      </a:pPr>
                      <a:r>
                        <a:rPr lang="en-US" sz="1400" b="1" dirty="0">
                          <a:solidFill>
                            <a:srgbClr val="3A3935"/>
                          </a:solidFill>
                          <a:latin typeface="Calibri" pitchFamily="34" charset="0"/>
                          <a:ea typeface="Calibri" pitchFamily="34" charset="-122"/>
                          <a:cs typeface="Calibri" pitchFamily="34" charset="-120"/>
                        </a:rPr>
                        <a:t>Upstream</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algn="l" indent="0" marL="0">
                        <a:buNone/>
                      </a:pPr>
                      <a:r>
                        <a:rPr lang="en-US" sz="1400" dirty="0">
                          <a:solidFill>
                            <a:srgbClr val="3A3935"/>
                          </a:solidFill>
                          <a:latin typeface="Calibri" pitchFamily="34" charset="0"/>
                          <a:ea typeface="Calibri" pitchFamily="34" charset="-122"/>
                          <a:cs typeface="Calibri" pitchFamily="34" charset="-120"/>
                        </a:rPr>
                        <a:t>9.81</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algn="l" indent="0" marL="0">
                        <a:buNone/>
                      </a:pPr>
                      <a:r>
                        <a:rPr lang="en-US" sz="1400" dirty="0">
                          <a:solidFill>
                            <a:srgbClr val="3A3935"/>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algn="l" indent="0" marL="0">
                        <a:buNone/>
                      </a:pPr>
                      <a:r>
                        <a:rPr lang="en-US" sz="1400" dirty="0">
                          <a:solidFill>
                            <a:srgbClr val="3A3935"/>
                          </a:solidFill>
                          <a:latin typeface="Calibri" pitchFamily="34" charset="0"/>
                          <a:ea typeface="Calibri" pitchFamily="34" charset="-122"/>
                          <a:cs typeface="Calibri" pitchFamily="34" charset="-120"/>
                        </a:rPr>
                        <a:t>+8.6</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457200">
                <a:tc>
                  <a:txBody>
                    <a:bodyPr/>
                    <a:lstStyle/>
                    <a:p>
                      <a:pPr algn="l" indent="0" marL="0">
                        <a:buNone/>
                      </a:pPr>
                      <a:r>
                        <a:rPr lang="en-US" sz="1400" b="1" dirty="0">
                          <a:solidFill>
                            <a:srgbClr val="3A3935"/>
                          </a:solidFill>
                          <a:latin typeface="Calibri" pitchFamily="34" charset="0"/>
                          <a:ea typeface="Calibri" pitchFamily="34" charset="-122"/>
                          <a:cs typeface="Calibri" pitchFamily="34" charset="-120"/>
                        </a:rPr>
                        <a:t>At sea</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algn="l" indent="0" marL="0">
                        <a:buNone/>
                      </a:pPr>
                      <a:r>
                        <a:rPr lang="en-US" sz="1400" dirty="0">
                          <a:solidFill>
                            <a:srgbClr val="3A3935"/>
                          </a:solidFill>
                          <a:latin typeface="Calibri" pitchFamily="34" charset="0"/>
                          <a:ea typeface="Calibri" pitchFamily="34" charset="-122"/>
                          <a:cs typeface="Calibri" pitchFamily="34" charset="-120"/>
                        </a:rPr>
                        <a:t>3.41</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algn="l" indent="0" marL="0">
                        <a:buNone/>
                      </a:pPr>
                      <a:r>
                        <a:rPr lang="en-US" sz="1400" dirty="0">
                          <a:solidFill>
                            <a:srgbClr val="3A3935"/>
                          </a:solidFill>
                          <a:latin typeface="Calibri" pitchFamily="34" charset="0"/>
                          <a:ea typeface="Calibri" pitchFamily="34" charset="-122"/>
                          <a:cs typeface="Calibri" pitchFamily="34" charset="-120"/>
                        </a:rPr>
                        <a:t>1.63</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algn="l" indent="0" marL="0">
                        <a:buNone/>
                      </a:pPr>
                      <a:r>
                        <a:rPr lang="en-US" sz="1400" dirty="0">
                          <a:solidFill>
                            <a:srgbClr val="3A3935"/>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457200">
                <a:tc>
                  <a:txBody>
                    <a:bodyPr/>
                    <a:lstStyle/>
                    <a:p>
                      <a:pPr algn="l" indent="0" marL="0">
                        <a:buNone/>
                      </a:pPr>
                      <a:r>
                        <a:rPr lang="en-US" sz="1400" b="1" dirty="0">
                          <a:solidFill>
                            <a:srgbClr val="3A3935"/>
                          </a:solidFill>
                          <a:latin typeface="Calibri" pitchFamily="34" charset="0"/>
                          <a:ea typeface="Calibri" pitchFamily="34" charset="-122"/>
                          <a:cs typeface="Calibri" pitchFamily="34" charset="-120"/>
                        </a:rPr>
                        <a:t>Downstream</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algn="l" indent="0" marL="0">
                        <a:buNone/>
                      </a:pPr>
                      <a:r>
                        <a:rPr lang="en-US" sz="1400" dirty="0">
                          <a:solidFill>
                            <a:srgbClr val="3A3935"/>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algn="l" indent="0" marL="0">
                        <a:buNone/>
                      </a:pPr>
                      <a:r>
                        <a:rPr lang="en-US" sz="1400" dirty="0">
                          <a:solidFill>
                            <a:srgbClr val="3A3935"/>
                          </a:solidFill>
                          <a:latin typeface="Calibri" pitchFamily="34" charset="0"/>
                          <a:ea typeface="Calibri" pitchFamily="34" charset="-122"/>
                          <a:cs typeface="Calibri" pitchFamily="34" charset="-120"/>
                        </a:rPr>
                        <a:t>8.56</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algn="l" indent="0" marL="0">
                        <a:buNone/>
                      </a:pPr>
                      <a:r>
                        <a:rPr lang="en-US" sz="1400" dirty="0">
                          <a:solidFill>
                            <a:srgbClr val="3A3935"/>
                          </a:solidFill>
                          <a:latin typeface="Calibri" pitchFamily="34" charset="0"/>
                          <a:ea typeface="Calibri" pitchFamily="34" charset="-122"/>
                          <a:cs typeface="Calibri" pitchFamily="34" charset="-120"/>
                        </a:rPr>
                        <a:t>−8.5</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457200">
                <a:tc>
                  <a:txBody>
                    <a:bodyPr/>
                    <a:lstStyle/>
                    <a:p>
                      <a:pPr algn="l" indent="0" marL="0">
                        <a:buNone/>
                      </a:pPr>
                      <a:r>
                        <a:rPr lang="en-US" sz="1400" b="1" dirty="0">
                          <a:solidFill>
                            <a:srgbClr val="3A3935"/>
                          </a:solidFill>
                          <a:latin typeface="Calibri" pitchFamily="34" charset="0"/>
                          <a:ea typeface="Calibri" pitchFamily="34" charset="-122"/>
                          <a:cs typeface="Calibri" pitchFamily="34" charset="-120"/>
                        </a:rPr>
                        <a:t>Full chain</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algn="l" indent="0" marL="0">
                        <a:buNone/>
                      </a:pPr>
                      <a:r>
                        <a:rPr lang="en-US" sz="1400" b="1" dirty="0">
                          <a:solidFill>
                            <a:srgbClr val="3A3935"/>
                          </a:solidFill>
                          <a:latin typeface="Calibri" pitchFamily="34" charset="0"/>
                          <a:ea typeface="Calibri" pitchFamily="34" charset="-122"/>
                          <a:cs typeface="Calibri" pitchFamily="34" charset="-120"/>
                        </a:rPr>
                        <a:t>13.27</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algn="l" indent="0" marL="0">
                        <a:buNone/>
                      </a:pPr>
                      <a:r>
                        <a:rPr lang="en-US" sz="1400" b="1" dirty="0">
                          <a:solidFill>
                            <a:srgbClr val="3A3935"/>
                          </a:solidFill>
                          <a:latin typeface="Calibri" pitchFamily="34" charset="0"/>
                          <a:ea typeface="Calibri" pitchFamily="34" charset="-122"/>
                          <a:cs typeface="Calibri" pitchFamily="34" charset="-120"/>
                        </a:rPr>
                        <a:t>11.36</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algn="l" indent="0" marL="0">
                        <a:buNone/>
                      </a:pPr>
                      <a:r>
                        <a:rPr lang="en-US" sz="1400" b="1" dirty="0">
                          <a:solidFill>
                            <a:srgbClr val="7030A0"/>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bl>
          </a:graphicData>
        </a:graphic>
      </p:graphicFrame>
      <p:sp>
        <p:nvSpPr>
          <p:cNvPr id="8" name="Text 3"/>
          <p:cNvSpPr txBox="1"/>
          <p:nvPr/>
        </p:nvSpPr>
        <p:spPr>
          <a:xfrm>
            <a:off x="6675120" y="4206240"/>
            <a:ext cx="4965192" cy="146304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Upstream: the liquefier needs about nine times the energy per kg of the ammonia plant</a:t>
            </a:r>
            <a:endParaRPr lang="en-US" sz="1400" dirty="0"/>
          </a:p>
          <a:p>
            <a:pPr marL="177800" indent="-177800">
              <a:spcAft>
                <a:spcPts val="400"/>
              </a:spcAft>
              <a:buSzPct val="100000"/>
              <a:buChar char="•"/>
            </a:pPr>
            <a:r>
              <a:rPr lang="en-US" sz="1400" dirty="0">
                <a:solidFill>
                  <a:schemeClr val="tx1"/>
                </a:solidFill>
              </a:rPr>
              <a:t>At sea: LH₂ burns 227 t of its own cargo as engine fuel</a:t>
            </a:r>
            <a:endParaRPr lang="en-US" sz="1400" dirty="0"/>
          </a:p>
          <a:p>
            <a:pPr marL="177800" indent="-177800">
              <a:spcAft>
                <a:spcPts val="400"/>
              </a:spcAft>
              <a:buSzPct val="100000"/>
              <a:buChar char="•"/>
            </a:pPr>
            <a:r>
              <a:rPr lang="en-US" sz="1400" dirty="0">
                <a:solidFill>
                  <a:schemeClr val="tx1"/>
                </a:solidFill>
              </a:rPr>
              <a:t>Downstream: the cracker burns ammonia and natural gas; LH₂ regas uses free seawater heat</a:t>
            </a:r>
            <a:endParaRPr lang="en-US" sz="1400" dirty="0"/>
          </a:p>
        </p:txBody>
      </p:sp>
      <p:sp>
        <p:nvSpPr>
          <p:cNvPr id="9" name="basis-note"/>
          <p:cNvSpPr txBox="1"/>
          <p:nvPr/>
        </p:nvSpPr>
        <p:spPr>
          <a:xfrm>
            <a:off x="548640" y="5852160"/>
            <a:ext cx="11091672" cy="411480"/>
          </a:xfrm>
          <a:prstGeom prst="rect">
            <a:avLst/>
          </a:prstGeom>
          <a:noFill/>
          <a:ln/>
        </p:spPr>
        <p:txBody>
          <a:bodyPr wrap="square" lIns="0" tIns="0" rIns="0" bIns="0" rtlCol="0" anchor="t"/>
          <a:lstStyle/>
          <a:p>
            <a:pPr indent="0" marL="0">
              <a:buNone/>
            </a:pPr>
            <a:r>
              <a:rPr lang="en-US" sz="1100" dirty="0">
                <a:solidFill>
                  <a:schemeClr val="tx1"/>
                </a:solidFill>
              </a:rPr>
              <a:t>Positive = LH₂ uses more energy. At sea includes the cargo hydrogen LH₂ burns. Haber-Bosch power and sea days are still placeholders, so the net figure will move with them.</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To match the ammonia plant a liquefier would need 3.27 kWh/kg H₂, below the 3.9 minimum, so no liquefier can close the upstream gap</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 13.3 · power at the plant fence, MW · 100,000 t H₂ a year, 8,000 operating hours a year</a:t>
            </a:r>
            <a:endParaRPr lang="en-US" sz="1100" dirty="0"/>
          </a:p>
        </p:txBody>
      </p:sp>
      <p:sp>
        <p:nvSpPr>
          <p:cNvPr id="5" name="Text 2"/>
          <p:cNvSpPr txBox="1"/>
          <p:nvPr/>
        </p:nvSpPr>
        <p:spPr>
          <a:xfrm>
            <a:off x="548640" y="1417320"/>
            <a:ext cx="3657600" cy="274320"/>
          </a:xfrm>
          <a:prstGeom prst="rect">
            <a:avLst/>
          </a:prstGeom>
          <a:noFill/>
          <a:ln/>
        </p:spPr>
        <p:txBody>
          <a:bodyPr wrap="square" lIns="0" tIns="0" rIns="0" bIns="0" rtlCol="0" anchor="t"/>
          <a:lstStyle/>
          <a:p>
            <a:pPr indent="0" marL="0">
              <a:buNone/>
            </a:pPr>
            <a:r>
              <a:rPr lang="en-US" sz="1200" b="1" dirty="0">
                <a:solidFill>
                  <a:schemeClr val="tx2"/>
                </a:solidFill>
              </a:rPr>
              <a:t>Power at the plant fence, MW</a:t>
            </a:r>
            <a:endParaRPr lang="en-US" sz="1200" dirty="0"/>
          </a:p>
        </p:txBody>
      </p:sp>
      <p:sp>
        <p:nvSpPr>
          <p:cNvPr id="6" name="liq-unreachable-zone"/>
          <p:cNvSpPr/>
          <p:nvPr/>
        </p:nvSpPr>
        <p:spPr>
          <a:xfrm>
            <a:off x="1143000" y="1783080"/>
            <a:ext cx="2095119" cy="2971800"/>
          </a:xfrm>
          <a:prstGeom prst="rect">
            <a:avLst/>
          </a:prstGeom>
          <a:solidFill>
            <a:srgbClr val="F1EAF6"/>
          </a:solidFill>
          <a:ln w="12700">
            <a:solidFill>
              <a:srgbClr val="F1EAF6"/>
            </a:solidFill>
            <a:prstDash val="solid"/>
          </a:ln>
        </p:spPr>
      </p:sp>
      <p:sp>
        <p:nvSpPr>
          <p:cNvPr id="7" name="liq-khi-band"/>
          <p:cNvSpPr/>
          <p:nvPr/>
        </p:nvSpPr>
        <p:spPr>
          <a:xfrm>
            <a:off x="5440680" y="1783080"/>
            <a:ext cx="537210" cy="2971800"/>
          </a:xfrm>
          <a:prstGeom prst="rect">
            <a:avLst/>
          </a:prstGeom>
          <a:solidFill>
            <a:srgbClr val="B4AAE6">
              <a:alpha val="55000"/>
            </a:srgbClr>
          </a:solidFill>
          <a:ln/>
        </p:spPr>
      </p:sp>
      <p:sp>
        <p:nvSpPr>
          <p:cNvPr id="8" name="Shape 5"/>
          <p:cNvSpPr/>
          <p:nvPr/>
        </p:nvSpPr>
        <p:spPr>
          <a:xfrm>
            <a:off x="1143000" y="4754880"/>
            <a:ext cx="6446520" cy="0"/>
          </a:xfrm>
          <a:prstGeom prst="line">
            <a:avLst/>
          </a:prstGeom>
          <a:noFill/>
          <a:ln w="9525">
            <a:solidFill>
              <a:srgbClr val="E8E8E4"/>
            </a:solidFill>
            <a:prstDash val="solid"/>
          </a:ln>
        </p:spPr>
      </p:sp>
      <p:sp>
        <p:nvSpPr>
          <p:cNvPr id="9" name="Text 6"/>
          <p:cNvSpPr txBox="1"/>
          <p:nvPr/>
        </p:nvSpPr>
        <p:spPr>
          <a:xfrm>
            <a:off x="548640" y="4645152"/>
            <a:ext cx="457200" cy="219456"/>
          </a:xfrm>
          <a:prstGeom prst="rect">
            <a:avLst/>
          </a:prstGeom>
          <a:noFill/>
          <a:ln/>
        </p:spPr>
        <p:txBody>
          <a:bodyPr wrap="square" lIns="0" tIns="0" rIns="0" bIns="0" rtlCol="0" anchor="ctr"/>
          <a:lstStyle/>
          <a:p>
            <a:pPr algn="r" indent="0" marL="0">
              <a:buNone/>
            </a:pPr>
            <a:r>
              <a:rPr lang="en-US" sz="1100" dirty="0">
                <a:solidFill>
                  <a:schemeClr val="tx1"/>
                </a:solidFill>
              </a:rPr>
              <a:t>0</a:t>
            </a:r>
            <a:endParaRPr lang="en-US" sz="1100" dirty="0"/>
          </a:p>
        </p:txBody>
      </p:sp>
      <p:sp>
        <p:nvSpPr>
          <p:cNvPr id="10" name="Shape 7"/>
          <p:cNvSpPr/>
          <p:nvPr/>
        </p:nvSpPr>
        <p:spPr>
          <a:xfrm>
            <a:off x="1143000" y="3764280"/>
            <a:ext cx="6446520" cy="0"/>
          </a:xfrm>
          <a:prstGeom prst="line">
            <a:avLst/>
          </a:prstGeom>
          <a:noFill/>
          <a:ln w="9525">
            <a:solidFill>
              <a:srgbClr val="E8E8E4"/>
            </a:solidFill>
            <a:prstDash val="solid"/>
          </a:ln>
        </p:spPr>
      </p:sp>
      <p:sp>
        <p:nvSpPr>
          <p:cNvPr id="11" name="Text 8"/>
          <p:cNvSpPr txBox="1"/>
          <p:nvPr/>
        </p:nvSpPr>
        <p:spPr>
          <a:xfrm>
            <a:off x="548640" y="3654552"/>
            <a:ext cx="457200" cy="219456"/>
          </a:xfrm>
          <a:prstGeom prst="rect">
            <a:avLst/>
          </a:prstGeom>
          <a:noFill/>
          <a:ln/>
        </p:spPr>
        <p:txBody>
          <a:bodyPr wrap="square" lIns="0" tIns="0" rIns="0" bIns="0" rtlCol="0" anchor="ctr"/>
          <a:lstStyle/>
          <a:p>
            <a:pPr algn="r" indent="0" marL="0">
              <a:buNone/>
            </a:pPr>
            <a:r>
              <a:rPr lang="en-US" sz="1100" dirty="0">
                <a:solidFill>
                  <a:schemeClr val="tx1"/>
                </a:solidFill>
              </a:rPr>
              <a:t>50</a:t>
            </a:r>
            <a:endParaRPr lang="en-US" sz="1100" dirty="0"/>
          </a:p>
        </p:txBody>
      </p:sp>
      <p:sp>
        <p:nvSpPr>
          <p:cNvPr id="12" name="Shape 9"/>
          <p:cNvSpPr/>
          <p:nvPr/>
        </p:nvSpPr>
        <p:spPr>
          <a:xfrm>
            <a:off x="1143000" y="2773680"/>
            <a:ext cx="6446520" cy="0"/>
          </a:xfrm>
          <a:prstGeom prst="line">
            <a:avLst/>
          </a:prstGeom>
          <a:noFill/>
          <a:ln w="9525">
            <a:solidFill>
              <a:srgbClr val="E8E8E4"/>
            </a:solidFill>
            <a:prstDash val="solid"/>
          </a:ln>
        </p:spPr>
      </p:sp>
      <p:sp>
        <p:nvSpPr>
          <p:cNvPr id="13" name="Text 10"/>
          <p:cNvSpPr txBox="1"/>
          <p:nvPr/>
        </p:nvSpPr>
        <p:spPr>
          <a:xfrm>
            <a:off x="548640" y="2663952"/>
            <a:ext cx="457200" cy="219456"/>
          </a:xfrm>
          <a:prstGeom prst="rect">
            <a:avLst/>
          </a:prstGeom>
          <a:noFill/>
          <a:ln/>
        </p:spPr>
        <p:txBody>
          <a:bodyPr wrap="square" lIns="0" tIns="0" rIns="0" bIns="0" rtlCol="0" anchor="ctr"/>
          <a:lstStyle/>
          <a:p>
            <a:pPr algn="r" indent="0" marL="0">
              <a:buNone/>
            </a:pPr>
            <a:r>
              <a:rPr lang="en-US" sz="1100" dirty="0">
                <a:solidFill>
                  <a:schemeClr val="tx1"/>
                </a:solidFill>
              </a:rPr>
              <a:t>100</a:t>
            </a:r>
            <a:endParaRPr lang="en-US" sz="1100" dirty="0"/>
          </a:p>
        </p:txBody>
      </p:sp>
      <p:sp>
        <p:nvSpPr>
          <p:cNvPr id="14" name="Shape 11"/>
          <p:cNvSpPr/>
          <p:nvPr/>
        </p:nvSpPr>
        <p:spPr>
          <a:xfrm>
            <a:off x="1143000" y="1783080"/>
            <a:ext cx="6446520" cy="0"/>
          </a:xfrm>
          <a:prstGeom prst="line">
            <a:avLst/>
          </a:prstGeom>
          <a:noFill/>
          <a:ln w="9525">
            <a:solidFill>
              <a:srgbClr val="E8E8E4"/>
            </a:solidFill>
            <a:prstDash val="solid"/>
          </a:ln>
        </p:spPr>
      </p:sp>
      <p:sp>
        <p:nvSpPr>
          <p:cNvPr id="15" name="Text 12"/>
          <p:cNvSpPr txBox="1"/>
          <p:nvPr/>
        </p:nvSpPr>
        <p:spPr>
          <a:xfrm>
            <a:off x="548640" y="1673352"/>
            <a:ext cx="457200" cy="219456"/>
          </a:xfrm>
          <a:prstGeom prst="rect">
            <a:avLst/>
          </a:prstGeom>
          <a:noFill/>
          <a:ln/>
        </p:spPr>
        <p:txBody>
          <a:bodyPr wrap="square" lIns="0" tIns="0" rIns="0" bIns="0" rtlCol="0" anchor="ctr"/>
          <a:lstStyle/>
          <a:p>
            <a:pPr algn="r" indent="0" marL="0">
              <a:buNone/>
            </a:pPr>
            <a:r>
              <a:rPr lang="en-US" sz="1100" dirty="0">
                <a:solidFill>
                  <a:schemeClr val="tx1"/>
                </a:solidFill>
              </a:rPr>
              <a:t>150</a:t>
            </a:r>
            <a:endParaRPr lang="en-US" sz="1100" dirty="0"/>
          </a:p>
        </p:txBody>
      </p:sp>
      <p:sp>
        <p:nvSpPr>
          <p:cNvPr id="16" name="Shape 13"/>
          <p:cNvSpPr/>
          <p:nvPr/>
        </p:nvSpPr>
        <p:spPr>
          <a:xfrm>
            <a:off x="1143000" y="4754880"/>
            <a:ext cx="0" cy="73152"/>
          </a:xfrm>
          <a:prstGeom prst="line">
            <a:avLst/>
          </a:prstGeom>
          <a:noFill/>
          <a:ln w="9525">
            <a:solidFill>
              <a:srgbClr val="3A3935"/>
            </a:solidFill>
            <a:prstDash val="solid"/>
          </a:ln>
        </p:spPr>
      </p:sp>
      <p:sp>
        <p:nvSpPr>
          <p:cNvPr id="17" name="Text 14"/>
          <p:cNvSpPr txBox="1"/>
          <p:nvPr/>
        </p:nvSpPr>
        <p:spPr>
          <a:xfrm>
            <a:off x="868680" y="4846320"/>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0</a:t>
            </a:r>
            <a:endParaRPr lang="en-US" sz="1100" dirty="0"/>
          </a:p>
        </p:txBody>
      </p:sp>
      <p:sp>
        <p:nvSpPr>
          <p:cNvPr id="18" name="Shape 15"/>
          <p:cNvSpPr/>
          <p:nvPr/>
        </p:nvSpPr>
        <p:spPr>
          <a:xfrm>
            <a:off x="2217420" y="4754880"/>
            <a:ext cx="0" cy="73152"/>
          </a:xfrm>
          <a:prstGeom prst="line">
            <a:avLst/>
          </a:prstGeom>
          <a:noFill/>
          <a:ln w="9525">
            <a:solidFill>
              <a:srgbClr val="3A3935"/>
            </a:solidFill>
            <a:prstDash val="solid"/>
          </a:ln>
        </p:spPr>
      </p:sp>
      <p:sp>
        <p:nvSpPr>
          <p:cNvPr id="19" name="Text 16"/>
          <p:cNvSpPr txBox="1"/>
          <p:nvPr/>
        </p:nvSpPr>
        <p:spPr>
          <a:xfrm>
            <a:off x="1943100" y="4846320"/>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2</a:t>
            </a:r>
            <a:endParaRPr lang="en-US" sz="1100" dirty="0"/>
          </a:p>
        </p:txBody>
      </p:sp>
      <p:sp>
        <p:nvSpPr>
          <p:cNvPr id="20" name="Shape 17"/>
          <p:cNvSpPr/>
          <p:nvPr/>
        </p:nvSpPr>
        <p:spPr>
          <a:xfrm>
            <a:off x="3291840" y="4754880"/>
            <a:ext cx="0" cy="73152"/>
          </a:xfrm>
          <a:prstGeom prst="line">
            <a:avLst/>
          </a:prstGeom>
          <a:noFill/>
          <a:ln w="9525">
            <a:solidFill>
              <a:srgbClr val="3A3935"/>
            </a:solidFill>
            <a:prstDash val="solid"/>
          </a:ln>
        </p:spPr>
      </p:sp>
      <p:sp>
        <p:nvSpPr>
          <p:cNvPr id="21" name="Text 18"/>
          <p:cNvSpPr txBox="1"/>
          <p:nvPr/>
        </p:nvSpPr>
        <p:spPr>
          <a:xfrm>
            <a:off x="3017520" y="4846320"/>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4</a:t>
            </a:r>
            <a:endParaRPr lang="en-US" sz="1100" dirty="0"/>
          </a:p>
        </p:txBody>
      </p:sp>
      <p:sp>
        <p:nvSpPr>
          <p:cNvPr id="22" name="Shape 19"/>
          <p:cNvSpPr/>
          <p:nvPr/>
        </p:nvSpPr>
        <p:spPr>
          <a:xfrm>
            <a:off x="4366260" y="4754880"/>
            <a:ext cx="0" cy="73152"/>
          </a:xfrm>
          <a:prstGeom prst="line">
            <a:avLst/>
          </a:prstGeom>
          <a:noFill/>
          <a:ln w="9525">
            <a:solidFill>
              <a:srgbClr val="3A3935"/>
            </a:solidFill>
            <a:prstDash val="solid"/>
          </a:ln>
        </p:spPr>
      </p:sp>
      <p:sp>
        <p:nvSpPr>
          <p:cNvPr id="23" name="Text 20"/>
          <p:cNvSpPr txBox="1"/>
          <p:nvPr/>
        </p:nvSpPr>
        <p:spPr>
          <a:xfrm>
            <a:off x="4091940" y="4846320"/>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6</a:t>
            </a:r>
            <a:endParaRPr lang="en-US" sz="1100" dirty="0"/>
          </a:p>
        </p:txBody>
      </p:sp>
      <p:sp>
        <p:nvSpPr>
          <p:cNvPr id="24" name="Shape 21"/>
          <p:cNvSpPr/>
          <p:nvPr/>
        </p:nvSpPr>
        <p:spPr>
          <a:xfrm>
            <a:off x="5440680" y="4754880"/>
            <a:ext cx="0" cy="73152"/>
          </a:xfrm>
          <a:prstGeom prst="line">
            <a:avLst/>
          </a:prstGeom>
          <a:noFill/>
          <a:ln w="9525">
            <a:solidFill>
              <a:srgbClr val="3A3935"/>
            </a:solidFill>
            <a:prstDash val="solid"/>
          </a:ln>
        </p:spPr>
      </p:sp>
      <p:sp>
        <p:nvSpPr>
          <p:cNvPr id="25" name="Text 22"/>
          <p:cNvSpPr txBox="1"/>
          <p:nvPr/>
        </p:nvSpPr>
        <p:spPr>
          <a:xfrm>
            <a:off x="5166360" y="4846320"/>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8</a:t>
            </a:r>
            <a:endParaRPr lang="en-US" sz="1100" dirty="0"/>
          </a:p>
        </p:txBody>
      </p:sp>
      <p:sp>
        <p:nvSpPr>
          <p:cNvPr id="26" name="Shape 23"/>
          <p:cNvSpPr/>
          <p:nvPr/>
        </p:nvSpPr>
        <p:spPr>
          <a:xfrm>
            <a:off x="6515100" y="4754880"/>
            <a:ext cx="0" cy="73152"/>
          </a:xfrm>
          <a:prstGeom prst="line">
            <a:avLst/>
          </a:prstGeom>
          <a:noFill/>
          <a:ln w="9525">
            <a:solidFill>
              <a:srgbClr val="3A3935"/>
            </a:solidFill>
            <a:prstDash val="solid"/>
          </a:ln>
        </p:spPr>
      </p:sp>
      <p:sp>
        <p:nvSpPr>
          <p:cNvPr id="27" name="Text 24"/>
          <p:cNvSpPr txBox="1"/>
          <p:nvPr/>
        </p:nvSpPr>
        <p:spPr>
          <a:xfrm>
            <a:off x="6240780" y="4846320"/>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10</a:t>
            </a:r>
            <a:endParaRPr lang="en-US" sz="1100" dirty="0"/>
          </a:p>
        </p:txBody>
      </p:sp>
      <p:sp>
        <p:nvSpPr>
          <p:cNvPr id="28" name="Shape 25"/>
          <p:cNvSpPr/>
          <p:nvPr/>
        </p:nvSpPr>
        <p:spPr>
          <a:xfrm>
            <a:off x="7589520" y="4754880"/>
            <a:ext cx="0" cy="73152"/>
          </a:xfrm>
          <a:prstGeom prst="line">
            <a:avLst/>
          </a:prstGeom>
          <a:noFill/>
          <a:ln w="9525">
            <a:solidFill>
              <a:srgbClr val="3A3935"/>
            </a:solidFill>
            <a:prstDash val="solid"/>
          </a:ln>
        </p:spPr>
      </p:sp>
      <p:sp>
        <p:nvSpPr>
          <p:cNvPr id="29" name="Text 26"/>
          <p:cNvSpPr txBox="1"/>
          <p:nvPr/>
        </p:nvSpPr>
        <p:spPr>
          <a:xfrm>
            <a:off x="7315200" y="4846320"/>
            <a:ext cx="548640" cy="228600"/>
          </a:xfrm>
          <a:prstGeom prst="rect">
            <a:avLst/>
          </a:prstGeom>
          <a:noFill/>
          <a:ln/>
        </p:spPr>
        <p:txBody>
          <a:bodyPr wrap="square" lIns="0" tIns="0" rIns="0" bIns="0" rtlCol="0" anchor="t"/>
          <a:lstStyle/>
          <a:p>
            <a:pPr algn="ctr" indent="0" marL="0">
              <a:buNone/>
            </a:pPr>
            <a:r>
              <a:rPr lang="en-US" sz="1100" dirty="0">
                <a:solidFill>
                  <a:schemeClr val="tx1"/>
                </a:solidFill>
              </a:rPr>
              <a:t>12</a:t>
            </a:r>
            <a:endParaRPr lang="en-US" sz="1100" dirty="0"/>
          </a:p>
        </p:txBody>
      </p:sp>
      <p:sp>
        <p:nvSpPr>
          <p:cNvPr id="30" name="liq-axis"/>
          <p:cNvSpPr/>
          <p:nvPr/>
        </p:nvSpPr>
        <p:spPr>
          <a:xfrm>
            <a:off x="1143000" y="4754880"/>
            <a:ext cx="6446520" cy="0"/>
          </a:xfrm>
          <a:prstGeom prst="line">
            <a:avLst/>
          </a:prstGeom>
          <a:noFill/>
          <a:ln w="9525">
            <a:solidFill>
              <a:srgbClr val="3A3935"/>
            </a:solidFill>
            <a:prstDash val="solid"/>
          </a:ln>
        </p:spPr>
      </p:sp>
      <p:sp>
        <p:nvSpPr>
          <p:cNvPr id="31" name="Text 28"/>
          <p:cNvSpPr txBox="1"/>
          <p:nvPr/>
        </p:nvSpPr>
        <p:spPr>
          <a:xfrm>
            <a:off x="4846320" y="5084064"/>
            <a:ext cx="2743200" cy="228600"/>
          </a:xfrm>
          <a:prstGeom prst="rect">
            <a:avLst/>
          </a:prstGeom>
          <a:noFill/>
          <a:ln/>
        </p:spPr>
        <p:txBody>
          <a:bodyPr wrap="square" lIns="0" tIns="0" rIns="0" bIns="0" rtlCol="0" anchor="t"/>
          <a:lstStyle/>
          <a:p>
            <a:pPr algn="r" indent="0" marL="0">
              <a:buNone/>
            </a:pPr>
            <a:r>
              <a:rPr lang="en-US" sz="1100" dirty="0">
                <a:solidFill>
                  <a:schemeClr val="tx1"/>
                </a:solidFill>
              </a:rPr>
              <a:t>Liquefier energy, kWh per kg H₂</a:t>
            </a:r>
            <a:endParaRPr lang="en-US" sz="1100" dirty="0"/>
          </a:p>
        </p:txBody>
      </p:sp>
      <p:sp>
        <p:nvSpPr>
          <p:cNvPr id="32" name="liq-min-3.3"/>
          <p:cNvSpPr/>
          <p:nvPr/>
        </p:nvSpPr>
        <p:spPr>
          <a:xfrm>
            <a:off x="2915793" y="1783080"/>
            <a:ext cx="0" cy="2971800"/>
          </a:xfrm>
          <a:prstGeom prst="line">
            <a:avLst/>
          </a:prstGeom>
          <a:noFill/>
          <a:ln w="15875">
            <a:solidFill>
              <a:srgbClr val="7030A0"/>
            </a:solidFill>
            <a:prstDash val="dash"/>
          </a:ln>
        </p:spPr>
      </p:sp>
      <p:sp>
        <p:nvSpPr>
          <p:cNvPr id="33" name="liq-min-3.9"/>
          <p:cNvSpPr/>
          <p:nvPr/>
        </p:nvSpPr>
        <p:spPr>
          <a:xfrm>
            <a:off x="3238119" y="1783080"/>
            <a:ext cx="0" cy="2971800"/>
          </a:xfrm>
          <a:prstGeom prst="line">
            <a:avLst/>
          </a:prstGeom>
          <a:noFill/>
          <a:ln w="15875">
            <a:solidFill>
              <a:srgbClr val="7030A0"/>
            </a:solidFill>
            <a:prstDash val="solid"/>
          </a:ln>
        </p:spPr>
      </p:sp>
      <p:sp>
        <p:nvSpPr>
          <p:cNvPr id="34" name="Text 31"/>
          <p:cNvSpPr txBox="1"/>
          <p:nvPr/>
        </p:nvSpPr>
        <p:spPr>
          <a:xfrm>
            <a:off x="1216152" y="1856232"/>
            <a:ext cx="1645920" cy="1005840"/>
          </a:xfrm>
          <a:prstGeom prst="rect">
            <a:avLst/>
          </a:prstGeom>
          <a:noFill/>
          <a:ln/>
        </p:spPr>
        <p:txBody>
          <a:bodyPr wrap="square" lIns="0" tIns="0" rIns="0" bIns="0" rtlCol="0" anchor="t"/>
          <a:lstStyle/>
          <a:p>
            <a:pPr indent="0" marL="0">
              <a:buNone/>
            </a:pPr>
            <a:r>
              <a:rPr lang="en-US" sz="1100" dirty="0">
                <a:solidFill>
                  <a:schemeClr val="accent1"/>
                </a:solidFill>
              </a:rPr>
              <a:t>Unreachable: below the minimum work to liquefy, 3.3 kWh/kg (dashed) or 3.9 with ortho-para conversion</a:t>
            </a:r>
            <a:endParaRPr lang="en-US" sz="1100" dirty="0"/>
          </a:p>
        </p:txBody>
      </p:sp>
      <p:sp>
        <p:nvSpPr>
          <p:cNvPr id="35" name="Text 32"/>
          <p:cNvSpPr txBox="1"/>
          <p:nvPr/>
        </p:nvSpPr>
        <p:spPr>
          <a:xfrm>
            <a:off x="5257800" y="1828800"/>
            <a:ext cx="902970" cy="228600"/>
          </a:xfrm>
          <a:prstGeom prst="rect">
            <a:avLst/>
          </a:prstGeom>
          <a:noFill/>
          <a:ln/>
        </p:spPr>
        <p:txBody>
          <a:bodyPr wrap="square" lIns="0" tIns="0" rIns="0" bIns="0" rtlCol="0" anchor="t"/>
          <a:lstStyle/>
          <a:p>
            <a:pPr algn="ctr" indent="0" marL="0">
              <a:buNone/>
            </a:pPr>
            <a:r>
              <a:rPr lang="en-US" sz="1100" b="1" dirty="0">
                <a:solidFill>
                  <a:schemeClr val="tx1"/>
                </a:solidFill>
              </a:rPr>
              <a:t>KHI 8–9</a:t>
            </a:r>
            <a:endParaRPr lang="en-US" sz="1100" dirty="0"/>
          </a:p>
        </p:txBody>
      </p:sp>
      <p:sp>
        <p:nvSpPr>
          <p:cNvPr id="36" name="liq-lh2-line"/>
          <p:cNvSpPr/>
          <p:nvPr/>
        </p:nvSpPr>
        <p:spPr>
          <a:xfrm flipV="1">
            <a:off x="1143000" y="1783080"/>
            <a:ext cx="6417167" cy="2958268"/>
          </a:xfrm>
          <a:prstGeom prst="line">
            <a:avLst/>
          </a:prstGeom>
          <a:noFill/>
          <a:ln w="38100">
            <a:solidFill>
              <a:srgbClr val="4A3AA7"/>
            </a:solidFill>
            <a:prstDash val="solid"/>
          </a:ln>
        </p:spPr>
      </p:sp>
      <p:sp>
        <p:nvSpPr>
          <p:cNvPr id="37" name="liq-nh3-placeholder"/>
          <p:cNvSpPr/>
          <p:nvPr/>
        </p:nvSpPr>
        <p:spPr>
          <a:xfrm>
            <a:off x="1143000" y="3930701"/>
            <a:ext cx="6446520" cy="0"/>
          </a:xfrm>
          <a:prstGeom prst="line">
            <a:avLst/>
          </a:prstGeom>
          <a:noFill/>
          <a:ln w="38100">
            <a:solidFill>
              <a:srgbClr val="2977D6"/>
            </a:solidFill>
            <a:prstDash val="solid"/>
          </a:ln>
        </p:spPr>
      </p:sp>
      <p:sp>
        <p:nvSpPr>
          <p:cNvPr id="38" name="liq-nh3-team"/>
          <p:cNvSpPr/>
          <p:nvPr/>
        </p:nvSpPr>
        <p:spPr>
          <a:xfrm>
            <a:off x="1143000" y="4507230"/>
            <a:ext cx="6446520" cy="0"/>
          </a:xfrm>
          <a:prstGeom prst="line">
            <a:avLst/>
          </a:prstGeom>
          <a:noFill/>
          <a:ln w="38100">
            <a:solidFill>
              <a:srgbClr val="2977D6"/>
            </a:solidFill>
            <a:prstDash val="dash"/>
          </a:ln>
        </p:spPr>
      </p:sp>
      <p:sp>
        <p:nvSpPr>
          <p:cNvPr id="39" name="liq-parity-1"/>
          <p:cNvSpPr/>
          <p:nvPr/>
        </p:nvSpPr>
        <p:spPr>
          <a:xfrm>
            <a:off x="2808237" y="3839261"/>
            <a:ext cx="182880" cy="182880"/>
          </a:xfrm>
          <a:prstGeom prst="ellipse">
            <a:avLst/>
          </a:prstGeom>
          <a:solidFill>
            <a:srgbClr val="1F2933"/>
          </a:solidFill>
          <a:ln w="19050">
            <a:solidFill>
              <a:srgbClr val="FFFFFF"/>
            </a:solidFill>
            <a:prstDash val="solid"/>
          </a:ln>
        </p:spPr>
      </p:sp>
      <p:sp>
        <p:nvSpPr>
          <p:cNvPr id="40" name="liq-parity-2"/>
          <p:cNvSpPr/>
          <p:nvPr/>
        </p:nvSpPr>
        <p:spPr>
          <a:xfrm>
            <a:off x="1556537" y="4415790"/>
            <a:ext cx="182880" cy="182880"/>
          </a:xfrm>
          <a:prstGeom prst="ellipse">
            <a:avLst/>
          </a:prstGeom>
          <a:solidFill>
            <a:srgbClr val="1F2933"/>
          </a:solidFill>
          <a:ln w="19050">
            <a:solidFill>
              <a:srgbClr val="FFFFFF"/>
            </a:solidFill>
            <a:prstDash val="solid"/>
          </a:ln>
        </p:spPr>
      </p:sp>
      <p:sp>
        <p:nvSpPr>
          <p:cNvPr id="41" name="Text 38"/>
          <p:cNvSpPr txBox="1"/>
          <p:nvPr/>
        </p:nvSpPr>
        <p:spPr>
          <a:xfrm>
            <a:off x="2277885" y="3647237"/>
            <a:ext cx="457200" cy="228600"/>
          </a:xfrm>
          <a:prstGeom prst="rect">
            <a:avLst/>
          </a:prstGeom>
          <a:noFill/>
          <a:ln/>
        </p:spPr>
        <p:txBody>
          <a:bodyPr wrap="square" lIns="0" tIns="0" rIns="0" bIns="0" rtlCol="0" anchor="t"/>
          <a:lstStyle/>
          <a:p>
            <a:pPr algn="r" indent="0" marL="0">
              <a:buNone/>
            </a:pPr>
            <a:r>
              <a:rPr lang="en-US" sz="1200" b="1" dirty="0">
                <a:solidFill>
                  <a:schemeClr val="tx1"/>
                </a:solidFill>
              </a:rPr>
              <a:t>3.27</a:t>
            </a:r>
            <a:endParaRPr lang="en-US" sz="1200" dirty="0"/>
          </a:p>
        </p:txBody>
      </p:sp>
      <p:sp>
        <p:nvSpPr>
          <p:cNvPr id="42" name="Text 39"/>
          <p:cNvSpPr txBox="1"/>
          <p:nvPr/>
        </p:nvSpPr>
        <p:spPr>
          <a:xfrm>
            <a:off x="1830857" y="4552950"/>
            <a:ext cx="640080" cy="201168"/>
          </a:xfrm>
          <a:prstGeom prst="rect">
            <a:avLst/>
          </a:prstGeom>
          <a:noFill/>
          <a:ln/>
        </p:spPr>
        <p:txBody>
          <a:bodyPr wrap="square" lIns="0" tIns="0" rIns="0" bIns="0" rtlCol="0" anchor="t"/>
          <a:lstStyle/>
          <a:p>
            <a:pPr indent="0" marL="0">
              <a:buNone/>
            </a:pPr>
            <a:r>
              <a:rPr lang="en-US" sz="1200" b="1" dirty="0">
                <a:solidFill>
                  <a:schemeClr val="tx1"/>
                </a:solidFill>
              </a:rPr>
              <a:t>0.94</a:t>
            </a:r>
            <a:endParaRPr lang="en-US" sz="1200" dirty="0"/>
          </a:p>
        </p:txBody>
      </p:sp>
      <p:sp>
        <p:nvSpPr>
          <p:cNvPr id="43" name="liq-legend-line-1"/>
          <p:cNvSpPr/>
          <p:nvPr/>
        </p:nvSpPr>
        <p:spPr>
          <a:xfrm>
            <a:off x="1143000" y="5504688"/>
            <a:ext cx="365760" cy="0"/>
          </a:xfrm>
          <a:prstGeom prst="line">
            <a:avLst/>
          </a:prstGeom>
          <a:noFill/>
          <a:ln w="38100">
            <a:solidFill>
              <a:srgbClr val="4A3AA7"/>
            </a:solidFill>
            <a:prstDash val="solid"/>
          </a:ln>
        </p:spPr>
      </p:sp>
      <p:sp>
        <p:nvSpPr>
          <p:cNvPr id="44" name="Text 41"/>
          <p:cNvSpPr txBox="1"/>
          <p:nvPr/>
        </p:nvSpPr>
        <p:spPr>
          <a:xfrm>
            <a:off x="1600200" y="5376672"/>
            <a:ext cx="914400" cy="256032"/>
          </a:xfrm>
          <a:prstGeom prst="rect">
            <a:avLst/>
          </a:prstGeom>
          <a:noFill/>
          <a:ln/>
        </p:spPr>
        <p:txBody>
          <a:bodyPr wrap="square" lIns="0" tIns="0" rIns="0" bIns="0" rtlCol="0" anchor="ctr"/>
          <a:lstStyle/>
          <a:p>
            <a:pPr indent="0" marL="0">
              <a:buNone/>
            </a:pPr>
            <a:r>
              <a:rPr lang="en-US" sz="1200" dirty="0">
                <a:solidFill>
                  <a:schemeClr val="tx1"/>
                </a:solidFill>
              </a:rPr>
              <a:t>LH₂ route</a:t>
            </a:r>
            <a:endParaRPr lang="en-US" sz="1200" dirty="0"/>
          </a:p>
        </p:txBody>
      </p:sp>
      <p:sp>
        <p:nvSpPr>
          <p:cNvPr id="45" name="liq-legend-line-2"/>
          <p:cNvSpPr/>
          <p:nvPr/>
        </p:nvSpPr>
        <p:spPr>
          <a:xfrm>
            <a:off x="2834640" y="5504688"/>
            <a:ext cx="365760" cy="0"/>
          </a:xfrm>
          <a:prstGeom prst="line">
            <a:avLst/>
          </a:prstGeom>
          <a:noFill/>
          <a:ln w="38100">
            <a:solidFill>
              <a:srgbClr val="2977D6"/>
            </a:solidFill>
            <a:prstDash val="solid"/>
          </a:ln>
        </p:spPr>
      </p:sp>
      <p:sp>
        <p:nvSpPr>
          <p:cNvPr id="46" name="Text 43"/>
          <p:cNvSpPr txBox="1"/>
          <p:nvPr/>
        </p:nvSpPr>
        <p:spPr>
          <a:xfrm>
            <a:off x="3291840" y="5376672"/>
            <a:ext cx="2240280" cy="256032"/>
          </a:xfrm>
          <a:prstGeom prst="rect">
            <a:avLst/>
          </a:prstGeom>
          <a:noFill/>
          <a:ln/>
        </p:spPr>
        <p:txBody>
          <a:bodyPr wrap="square" lIns="0" tIns="0" rIns="0" bIns="0" rtlCol="0" anchor="ctr"/>
          <a:lstStyle/>
          <a:p>
            <a:pPr indent="0" marL="0">
              <a:buNone/>
            </a:pPr>
            <a:r>
              <a:rPr lang="en-US" sz="1200" dirty="0">
                <a:solidFill>
                  <a:schemeClr val="tx1"/>
                </a:solidFill>
              </a:rPr>
              <a:t>NH₃ placeholder Haber-Bosch</a:t>
            </a:r>
            <a:endParaRPr lang="en-US" sz="1200" dirty="0"/>
          </a:p>
        </p:txBody>
      </p:sp>
      <p:sp>
        <p:nvSpPr>
          <p:cNvPr id="47" name="liq-legend-line-3"/>
          <p:cNvSpPr/>
          <p:nvPr/>
        </p:nvSpPr>
        <p:spPr>
          <a:xfrm>
            <a:off x="5806440" y="5504688"/>
            <a:ext cx="365760" cy="0"/>
          </a:xfrm>
          <a:prstGeom prst="line">
            <a:avLst/>
          </a:prstGeom>
          <a:noFill/>
          <a:ln w="38100">
            <a:solidFill>
              <a:srgbClr val="2977D6"/>
            </a:solidFill>
            <a:prstDash val="dash"/>
          </a:ln>
        </p:spPr>
      </p:sp>
      <p:sp>
        <p:nvSpPr>
          <p:cNvPr id="48" name="Text 45"/>
          <p:cNvSpPr txBox="1"/>
          <p:nvPr/>
        </p:nvSpPr>
        <p:spPr>
          <a:xfrm>
            <a:off x="6263640" y="5376672"/>
            <a:ext cx="1828800" cy="256032"/>
          </a:xfrm>
          <a:prstGeom prst="rect">
            <a:avLst/>
          </a:prstGeom>
          <a:noFill/>
          <a:ln/>
        </p:spPr>
        <p:txBody>
          <a:bodyPr wrap="square" lIns="0" tIns="0" rIns="0" bIns="0" rtlCol="0" anchor="ctr"/>
          <a:lstStyle/>
          <a:p>
            <a:pPr indent="0" marL="0">
              <a:buNone/>
            </a:pPr>
            <a:r>
              <a:rPr lang="en-US" sz="1200" dirty="0">
                <a:solidFill>
                  <a:schemeClr val="tx1"/>
                </a:solidFill>
              </a:rPr>
              <a:t>NH₃ team input (dashed)</a:t>
            </a:r>
            <a:endParaRPr lang="en-US" sz="1200" dirty="0"/>
          </a:p>
        </p:txBody>
      </p:sp>
      <p:sp>
        <p:nvSpPr>
          <p:cNvPr id="49" name="liq-stats"/>
          <p:cNvSpPr/>
          <p:nvPr/>
        </p:nvSpPr>
        <p:spPr>
          <a:xfrm>
            <a:off x="7909560" y="1508760"/>
            <a:ext cx="3730752" cy="4069080"/>
          </a:xfrm>
          <a:prstGeom prst="roundRect">
            <a:avLst>
              <a:gd name="adj" fmla="val 1471"/>
            </a:avLst>
          </a:prstGeom>
          <a:solidFill>
            <a:srgbClr val="F1EAF6"/>
          </a:solidFill>
          <a:ln w="9525">
            <a:solidFill>
              <a:srgbClr val="F1EAF6"/>
            </a:solidFill>
            <a:prstDash val="solid"/>
          </a:ln>
        </p:spPr>
      </p:sp>
      <p:sp>
        <p:nvSpPr>
          <p:cNvPr id="50" name="stat-liq-power"/>
          <p:cNvSpPr txBox="1"/>
          <p:nvPr/>
        </p:nvSpPr>
        <p:spPr>
          <a:xfrm>
            <a:off x="8138160" y="1645920"/>
            <a:ext cx="3291840" cy="457200"/>
          </a:xfrm>
          <a:prstGeom prst="rect">
            <a:avLst/>
          </a:prstGeom>
          <a:noFill/>
          <a:ln/>
        </p:spPr>
        <p:txBody>
          <a:bodyPr wrap="square" lIns="0" tIns="0" rIns="0" bIns="0" rtlCol="0" anchor="b"/>
          <a:lstStyle/>
          <a:p>
            <a:pPr indent="0" marL="0">
              <a:buNone/>
            </a:pPr>
            <a:r>
              <a:rPr lang="en-US" sz="2600" b="1" dirty="0">
                <a:solidFill>
                  <a:schemeClr val="accent4"/>
                </a:solidFill>
              </a:rPr>
              <a:t>113 vs 42 MW</a:t>
            </a:r>
            <a:endParaRPr lang="en-US" sz="2600" dirty="0"/>
          </a:p>
        </p:txBody>
      </p:sp>
      <p:sp>
        <p:nvSpPr>
          <p:cNvPr id="51" name="stat-label-liq-power"/>
          <p:cNvSpPr txBox="1"/>
          <p:nvPr/>
        </p:nvSpPr>
        <p:spPr>
          <a:xfrm>
            <a:off x="8138160" y="2176272"/>
            <a:ext cx="3291840" cy="594360"/>
          </a:xfrm>
          <a:prstGeom prst="rect">
            <a:avLst/>
          </a:prstGeom>
          <a:noFill/>
          <a:ln/>
        </p:spPr>
        <p:txBody>
          <a:bodyPr wrap="square" lIns="0" tIns="0" rIns="0" bIns="0" rtlCol="0" anchor="t"/>
          <a:lstStyle/>
          <a:p>
            <a:pPr indent="0" marL="0">
              <a:buNone/>
            </a:pPr>
            <a:r>
              <a:rPr lang="en-US" sz="1400" dirty="0">
                <a:solidFill>
                  <a:schemeClr val="tx1"/>
                </a:solidFill>
              </a:rPr>
              <a:t>LH₂ liquefier route against the ammonia route at 9 kWh/kg: 2.7 times the power</a:t>
            </a:r>
            <a:endParaRPr lang="en-US" sz="1400" dirty="0"/>
          </a:p>
        </p:txBody>
      </p:sp>
      <p:sp>
        <p:nvSpPr>
          <p:cNvPr id="52" name="stat-liq-parity"/>
          <p:cNvSpPr txBox="1"/>
          <p:nvPr/>
        </p:nvSpPr>
        <p:spPr>
          <a:xfrm>
            <a:off x="8138160" y="2834640"/>
            <a:ext cx="3291840" cy="457200"/>
          </a:xfrm>
          <a:prstGeom prst="rect">
            <a:avLst/>
          </a:prstGeom>
          <a:noFill/>
          <a:ln/>
        </p:spPr>
        <p:txBody>
          <a:bodyPr wrap="square" lIns="0" tIns="0" rIns="0" bIns="0" rtlCol="0" anchor="b"/>
          <a:lstStyle/>
          <a:p>
            <a:pPr indent="0" marL="0">
              <a:buNone/>
            </a:pPr>
            <a:r>
              <a:rPr lang="en-US" sz="2400" b="1" dirty="0">
                <a:solidFill>
                  <a:schemeClr val="accent4"/>
                </a:solidFill>
              </a:rPr>
              <a:t>3.27 → 0.94 kWh/kg</a:t>
            </a:r>
            <a:endParaRPr lang="en-US" sz="2400" dirty="0"/>
          </a:p>
        </p:txBody>
      </p:sp>
      <p:sp>
        <p:nvSpPr>
          <p:cNvPr id="53" name="stat-label-liq-parity"/>
          <p:cNvSpPr txBox="1"/>
          <p:nvPr/>
        </p:nvSpPr>
        <p:spPr>
          <a:xfrm>
            <a:off x="8138160" y="3364992"/>
            <a:ext cx="3291840" cy="731520"/>
          </a:xfrm>
          <a:prstGeom prst="rect">
            <a:avLst/>
          </a:prstGeom>
          <a:noFill/>
          <a:ln/>
        </p:spPr>
        <p:txBody>
          <a:bodyPr wrap="square" lIns="0" tIns="0" rIns="0" bIns="0" rtlCol="0" anchor="t"/>
          <a:lstStyle/>
          <a:p>
            <a:pPr indent="0" marL="0">
              <a:buNone/>
            </a:pPr>
            <a:r>
              <a:rPr lang="en-US" sz="1400" dirty="0">
                <a:solidFill>
                  <a:schemeClr val="tx1"/>
                </a:solidFill>
              </a:rPr>
              <a:t>Liquefier energy that would match ammonia, with the placeholder and then the team Haber-Bosch input</a:t>
            </a:r>
            <a:endParaRPr lang="en-US" sz="1400" dirty="0"/>
          </a:p>
        </p:txBody>
      </p:sp>
      <p:sp>
        <p:nvSpPr>
          <p:cNvPr id="54" name="stat-liq-min"/>
          <p:cNvSpPr txBox="1"/>
          <p:nvPr/>
        </p:nvSpPr>
        <p:spPr>
          <a:xfrm>
            <a:off x="8138160" y="4206240"/>
            <a:ext cx="3291840" cy="457200"/>
          </a:xfrm>
          <a:prstGeom prst="rect">
            <a:avLst/>
          </a:prstGeom>
          <a:noFill/>
          <a:ln/>
        </p:spPr>
        <p:txBody>
          <a:bodyPr wrap="square" lIns="0" tIns="0" rIns="0" bIns="0" rtlCol="0" anchor="b"/>
          <a:lstStyle/>
          <a:p>
            <a:pPr indent="0" marL="0">
              <a:buNone/>
            </a:pPr>
            <a:r>
              <a:rPr lang="en-US" sz="2600" b="1" dirty="0">
                <a:solidFill>
                  <a:schemeClr val="accent4"/>
                </a:solidFill>
              </a:rPr>
              <a:t>3.9 kWh/kg</a:t>
            </a:r>
            <a:endParaRPr lang="en-US" sz="2600" dirty="0"/>
          </a:p>
        </p:txBody>
      </p:sp>
      <p:sp>
        <p:nvSpPr>
          <p:cNvPr id="55" name="stat-label-liq-min"/>
          <p:cNvSpPr txBox="1"/>
          <p:nvPr/>
        </p:nvSpPr>
        <p:spPr>
          <a:xfrm>
            <a:off x="8138160" y="4736592"/>
            <a:ext cx="3291840" cy="731520"/>
          </a:xfrm>
          <a:prstGeom prst="rect">
            <a:avLst/>
          </a:prstGeom>
          <a:noFill/>
          <a:ln/>
        </p:spPr>
        <p:txBody>
          <a:bodyPr wrap="square" lIns="0" tIns="0" rIns="0" bIns="0" rtlCol="0" anchor="t"/>
          <a:lstStyle/>
          <a:p>
            <a:pPr indent="0" marL="0">
              <a:buNone/>
            </a:pPr>
            <a:r>
              <a:rPr lang="en-US" sz="1400" dirty="0">
                <a:solidFill>
                  <a:schemeClr val="tx1"/>
                </a:solidFill>
              </a:rPr>
              <a:t>Minimum work to liquefy (3.3 without ortho-para conversion); Kawasaki's 8–9 is 49–43 % of it</a:t>
            </a:r>
            <a:endParaRPr lang="en-US" sz="1400" dirty="0"/>
          </a:p>
        </p:txBody>
      </p:sp>
      <p:sp>
        <p:nvSpPr>
          <p:cNvPr id="56" name="basis-note"/>
          <p:cNvSpPr txBox="1"/>
          <p:nvPr/>
        </p:nvSpPr>
        <p:spPr>
          <a:xfrm>
            <a:off x="548640" y="5760720"/>
            <a:ext cx="11091672" cy="594360"/>
          </a:xfrm>
          <a:prstGeom prst="rect">
            <a:avLst/>
          </a:prstGeom>
          <a:noFill/>
          <a:ln/>
        </p:spPr>
        <p:txBody>
          <a:bodyPr wrap="square" lIns="0" tIns="0" rIns="0" bIns="0" rtlCol="0" anchor="t"/>
          <a:lstStyle/>
          <a:p>
            <a:pPr indent="0" marL="0">
              <a:buNone/>
            </a:pPr>
            <a:r>
              <a:rPr lang="en-US" sz="1100" dirty="0">
                <a:solidFill>
                  <a:schemeClr val="tx1"/>
                </a:solidFill>
              </a:rPr>
              <a:t>Placeholder Haber-Bosch 0.60 kWh/kg NH₃ (about 3.4 kWh/kg H₂, estimate, source needed); team input 1 kWh/kg H₂; 60,000 m³ export tank each route. Minimum work: US DOE Hydrogen Program Record 9013 (2009); the 49–43 % is an upper bound because Kawasaki's feed pressure is unconfirmed. Today's liquefier would match ammonia only if Haber-Bosch drew 1.46–1.64 kWh/kg NH₃, 2.4–2.7 times the placeholder.</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The ranking can flip: LH₂ uses the least energy if Haber-Bosch needs more than ~2.65 kWh/kg H₂, or once electrolysis is counted</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Sections 13.6 and 13.8 · kWh per kg H₂ delivered; supply case 100,000 t H₂ a year</a:t>
            </a:r>
            <a:endParaRPr lang="en-US" sz="1100" dirty="0"/>
          </a:p>
        </p:txBody>
      </p:sp>
      <p:graphicFrame>
        <p:nvGraphicFramePr>
          <p:cNvPr id="18" name="sensitivity-table"/>
          <p:cNvGraphicFramePr>
            <a:graphicFrameLocks noGrp="1"/>
          </p:cNvGraphicFramePr>
          <p:nvPr>
            <p:extLst>
              <p:ext uri="{D42A27DB-BD31-4B8C-83A1-F6EECF244321}">
                <p14:modId xmlns:p14="http://schemas.microsoft.com/office/powerpoint/2010/main" val="1579011935"/>
              </p:ext>
            </p:extLst>
          </p:nvPr>
        </p:nvGraphicFramePr>
        <p:xfrm>
          <a:off x="548640" y="1508760"/>
          <a:ext cx="6949440" cy="914400"/>
        </p:xfrm>
        <a:graphic>
          <a:graphicData uri="http://schemas.openxmlformats.org/drawingml/2006/table">
            <a:tbl>
              <a:tblPr/>
              <a:tblGrid>
                <a:gridCol w="3383280"/>
                <a:gridCol w="1097280"/>
                <a:gridCol w="1234440"/>
                <a:gridCol w="1234440"/>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LH₂</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NH₃ gas-fired</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NH₃ clean fuel</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r>
              <a:tr h="566928">
                <a:tc>
                  <a:txBody>
                    <a:bodyPr/>
                    <a:lstStyle/>
                    <a:p>
                      <a:pPr indent="0" marL="0">
                        <a:buNone/>
                      </a:pPr>
                      <a:r>
                        <a:rPr lang="en-US" sz="1400" b="1" dirty="0">
                          <a:solidFill>
                            <a:srgbClr val="3A3935"/>
                          </a:solidFill>
                          <a:latin typeface="Calibri" pitchFamily="34" charset="0"/>
                          <a:ea typeface="Calibri" pitchFamily="34" charset="-122"/>
                          <a:cs typeface="Calibri" pitchFamily="34" charset="-120"/>
                        </a:rPr>
                        <a:t>Default inputs</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dirty="0">
                          <a:solidFill>
                            <a:srgbClr val="3A3935"/>
                          </a:solidFill>
                          <a:latin typeface="Calibri" pitchFamily="34" charset="0"/>
                          <a:ea typeface="Calibri" pitchFamily="34" charset="-122"/>
                          <a:cs typeface="Calibri" pitchFamily="34" charset="-120"/>
                        </a:rPr>
                        <a:t>13.27</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b="1" dirty="0">
                          <a:solidFill>
                            <a:srgbClr val="7030A0"/>
                          </a:solidFill>
                          <a:latin typeface="Calibri" pitchFamily="34" charset="0"/>
                          <a:ea typeface="Calibri" pitchFamily="34" charset="-122"/>
                          <a:cs typeface="Calibri" pitchFamily="34" charset="-120"/>
                        </a:rPr>
                        <a:t>11.36</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dirty="0">
                          <a:solidFill>
                            <a:srgbClr val="3A3935"/>
                          </a:solidFill>
                          <a:latin typeface="Calibri" pitchFamily="34" charset="0"/>
                          <a:ea typeface="Calibri" pitchFamily="34" charset="-122"/>
                          <a:cs typeface="Calibri" pitchFamily="34" charset="-120"/>
                        </a:rPr>
                        <a:t>11.66</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566928">
                <a:tc>
                  <a:txBody>
                    <a:bodyPr/>
                    <a:lstStyle/>
                    <a:p>
                      <a:pPr indent="0" marL="0">
                        <a:buNone/>
                      </a:pPr>
                      <a:r>
                        <a:rPr lang="en-US" sz="1400" b="1" dirty="0">
                          <a:solidFill>
                            <a:srgbClr val="3A3935"/>
                          </a:solidFill>
                          <a:latin typeface="Calibri" pitchFamily="34" charset="0"/>
                          <a:ea typeface="Calibri" pitchFamily="34" charset="-122"/>
                          <a:cs typeface="Calibri" pitchFamily="34" charset="-120"/>
                        </a:rPr>
                        <a:t>LH₂ ship boil-off 0.2 %/day, not 0.40</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dirty="0">
                          <a:solidFill>
                            <a:srgbClr val="3A3935"/>
                          </a:solidFill>
                          <a:latin typeface="Calibri" pitchFamily="34" charset="0"/>
                          <a:ea typeface="Calibri" pitchFamily="34" charset="-122"/>
                          <a:cs typeface="Calibri" pitchFamily="34" charset="-120"/>
                        </a:rPr>
                        <a:t>12.72</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b="1" dirty="0">
                          <a:solidFill>
                            <a:srgbClr val="7030A0"/>
                          </a:solidFill>
                          <a:latin typeface="Calibri" pitchFamily="34" charset="0"/>
                          <a:ea typeface="Calibri" pitchFamily="34" charset="-122"/>
                          <a:cs typeface="Calibri" pitchFamily="34" charset="-120"/>
                        </a:rPr>
                        <a:t>11.36</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dirty="0">
                          <a:solidFill>
                            <a:srgbClr val="3A3935"/>
                          </a:solidFill>
                          <a:latin typeface="Calibri" pitchFamily="34" charset="0"/>
                          <a:ea typeface="Calibri" pitchFamily="34" charset="-122"/>
                          <a:cs typeface="Calibri" pitchFamily="34" charset="-120"/>
                        </a:rPr>
                        <a:t>11.66</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566928">
                <a:tc>
                  <a:txBody>
                    <a:bodyPr/>
                    <a:lstStyle/>
                    <a:p>
                      <a:pPr indent="0" marL="0">
                        <a:buNone/>
                      </a:pPr>
                      <a:r>
                        <a:rPr lang="en-US" sz="1400" b="1" dirty="0">
                          <a:solidFill>
                            <a:srgbClr val="3A3935"/>
                          </a:solidFill>
                          <a:latin typeface="Calibri" pitchFamily="34" charset="0"/>
                          <a:ea typeface="Calibri" pitchFamily="34" charset="-122"/>
                          <a:cs typeface="Calibri" pitchFamily="34" charset="-120"/>
                        </a:rPr>
                        <a:t>Haber-Bosch 2.65 kWh/kg H₂, not 1</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b="1" dirty="0">
                          <a:solidFill>
                            <a:srgbClr val="7030A0"/>
                          </a:solidFill>
                          <a:latin typeface="Calibri" pitchFamily="34" charset="0"/>
                          <a:ea typeface="Calibri" pitchFamily="34" charset="-122"/>
                          <a:cs typeface="Calibri" pitchFamily="34" charset="-120"/>
                        </a:rPr>
                        <a:t>13.27</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b="1" dirty="0">
                          <a:solidFill>
                            <a:srgbClr val="7030A0"/>
                          </a:solidFill>
                          <a:latin typeface="Calibri" pitchFamily="34" charset="0"/>
                          <a:ea typeface="Calibri" pitchFamily="34" charset="-122"/>
                          <a:cs typeface="Calibri" pitchFamily="34" charset="-120"/>
                        </a:rPr>
                        <a:t>13.27</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dirty="0">
                          <a:solidFill>
                            <a:srgbClr val="3A3935"/>
                          </a:solidFill>
                          <a:latin typeface="Calibri" pitchFamily="34" charset="0"/>
                          <a:ea typeface="Calibri" pitchFamily="34" charset="-122"/>
                          <a:cs typeface="Calibri" pitchFamily="34" charset="-120"/>
                        </a:rPr>
                        <a:t>13.78</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566928">
                <a:tc>
                  <a:txBody>
                    <a:bodyPr/>
                    <a:lstStyle/>
                    <a:p>
                      <a:pPr indent="0" marL="0">
                        <a:buNone/>
                      </a:pPr>
                      <a:r>
                        <a:rPr lang="en-US" sz="1400" b="1" dirty="0">
                          <a:solidFill>
                            <a:srgbClr val="3A3935"/>
                          </a:solidFill>
                          <a:latin typeface="Calibri" pitchFamily="34" charset="0"/>
                          <a:ea typeface="Calibri" pitchFamily="34" charset="-122"/>
                          <a:cs typeface="Calibri" pitchFamily="34" charset="-120"/>
                        </a:rPr>
                        <a:t>Haber-Bosch 3 kWh/kg H₂, not 1</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b="1" dirty="0">
                          <a:solidFill>
                            <a:srgbClr val="7030A0"/>
                          </a:solidFill>
                          <a:latin typeface="Calibri" pitchFamily="34" charset="0"/>
                          <a:ea typeface="Calibri" pitchFamily="34" charset="-122"/>
                          <a:cs typeface="Calibri" pitchFamily="34" charset="-120"/>
                        </a:rPr>
                        <a:t>13.27</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dirty="0">
                          <a:solidFill>
                            <a:srgbClr val="3A3935"/>
                          </a:solidFill>
                          <a:latin typeface="Calibri" pitchFamily="34" charset="0"/>
                          <a:ea typeface="Calibri" pitchFamily="34" charset="-122"/>
                          <a:cs typeface="Calibri" pitchFamily="34" charset="-120"/>
                        </a:rPr>
                        <a:t>13.68</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dirty="0">
                          <a:solidFill>
                            <a:srgbClr val="3A3935"/>
                          </a:solidFill>
                          <a:latin typeface="Calibri" pitchFamily="34" charset="0"/>
                          <a:ea typeface="Calibri" pitchFamily="34" charset="-122"/>
                          <a:cs typeface="Calibri" pitchFamily="34" charset="-120"/>
                        </a:rPr>
                        <a:t>14.23</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566928">
                <a:tc>
                  <a:txBody>
                    <a:bodyPr/>
                    <a:lstStyle/>
                    <a:p>
                      <a:pPr indent="0" marL="0">
                        <a:buNone/>
                      </a:pPr>
                      <a:r>
                        <a:rPr lang="en-US" sz="1400" b="1" dirty="0">
                          <a:solidFill>
                            <a:srgbClr val="3A3935"/>
                          </a:solidFill>
                          <a:latin typeface="Calibri" pitchFamily="34" charset="0"/>
                          <a:ea typeface="Calibri" pitchFamily="34" charset="-122"/>
                          <a:cs typeface="Calibri" pitchFamily="34" charset="-120"/>
                        </a:rPr>
                        <a:t>Electrolysis counted, 60 kWh/kg</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b="1" dirty="0">
                          <a:solidFill>
                            <a:srgbClr val="7030A0"/>
                          </a:solidFill>
                          <a:latin typeface="Calibri" pitchFamily="34" charset="0"/>
                          <a:ea typeface="Calibri" pitchFamily="34" charset="-122"/>
                          <a:cs typeface="Calibri" pitchFamily="34" charset="-120"/>
                        </a:rPr>
                        <a:t>78.49</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dirty="0">
                          <a:solidFill>
                            <a:srgbClr val="3A3935"/>
                          </a:solidFill>
                          <a:latin typeface="Calibri" pitchFamily="34" charset="0"/>
                          <a:ea typeface="Calibri" pitchFamily="34" charset="-122"/>
                          <a:cs typeface="Calibri" pitchFamily="34" charset="-120"/>
                        </a:rPr>
                        <a:t>81.00</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400" dirty="0">
                          <a:solidFill>
                            <a:srgbClr val="3A3935"/>
                          </a:solidFill>
                          <a:latin typeface="Calibri" pitchFamily="34" charset="0"/>
                          <a:ea typeface="Calibri" pitchFamily="34" charset="-122"/>
                          <a:cs typeface="Calibri" pitchFamily="34" charset="-120"/>
                        </a:rPr>
                        <a:t>88.80</a:t>
                      </a:r>
                      <a:endParaRPr lang="en-US" sz="14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bl>
          </a:graphicData>
        </a:graphic>
      </p:graphicFrame>
      <p:sp>
        <p:nvSpPr>
          <p:cNvPr id="6" name="Text 2"/>
          <p:cNvSpPr txBox="1"/>
          <p:nvPr/>
        </p:nvSpPr>
        <p:spPr>
          <a:xfrm>
            <a:off x="548640" y="5029200"/>
            <a:ext cx="6949440" cy="274320"/>
          </a:xfrm>
          <a:prstGeom prst="rect">
            <a:avLst/>
          </a:prstGeom>
          <a:noFill/>
          <a:ln/>
        </p:spPr>
        <p:txBody>
          <a:bodyPr wrap="square" lIns="0" tIns="0" rIns="0" bIns="0" rtlCol="0" anchor="t"/>
          <a:lstStyle/>
          <a:p>
            <a:pPr indent="0" marL="0">
              <a:buNone/>
            </a:pPr>
            <a:r>
              <a:rPr lang="en-US" sz="1200" dirty="0">
                <a:solidFill>
                  <a:schemeClr val="tx1"/>
                </a:solidFill>
              </a:rPr>
              <a:t>Lowest energy in each case shown in purple. Electrolysis case: slides 18 and 19.</a:t>
            </a:r>
            <a:endParaRPr lang="en-US" sz="1200" dirty="0"/>
          </a:p>
        </p:txBody>
      </p:sp>
      <p:sp>
        <p:nvSpPr>
          <p:cNvPr id="7" name="annual-case"/>
          <p:cNvSpPr/>
          <p:nvPr/>
        </p:nvSpPr>
        <p:spPr>
          <a:xfrm>
            <a:off x="7818120" y="1508760"/>
            <a:ext cx="3822192" cy="4069080"/>
          </a:xfrm>
          <a:prstGeom prst="roundRect">
            <a:avLst>
              <a:gd name="adj" fmla="val 1435"/>
            </a:avLst>
          </a:prstGeom>
          <a:solidFill>
            <a:srgbClr val="F1EAF6"/>
          </a:solidFill>
          <a:ln w="9525">
            <a:solidFill>
              <a:srgbClr val="F1EAF6"/>
            </a:solidFill>
            <a:prstDash val="solid"/>
          </a:ln>
        </p:spPr>
      </p:sp>
      <p:sp>
        <p:nvSpPr>
          <p:cNvPr id="8" name="Text 4"/>
          <p:cNvSpPr txBox="1"/>
          <p:nvPr/>
        </p:nvSpPr>
        <p:spPr>
          <a:xfrm>
            <a:off x="8046720" y="1645920"/>
            <a:ext cx="3383280" cy="320040"/>
          </a:xfrm>
          <a:prstGeom prst="rect">
            <a:avLst/>
          </a:prstGeom>
          <a:noFill/>
          <a:ln/>
        </p:spPr>
        <p:txBody>
          <a:bodyPr wrap="square" lIns="0" tIns="0" rIns="0" bIns="0" rtlCol="0" anchor="t"/>
          <a:lstStyle/>
          <a:p>
            <a:pPr indent="0" marL="0">
              <a:buNone/>
            </a:pPr>
            <a:r>
              <a:rPr lang="en-US" sz="1500" b="1" dirty="0">
                <a:solidFill>
                  <a:schemeClr val="tx2"/>
                </a:solidFill>
              </a:rPr>
              <a:t>Delivering 100,000 t of H₂ a year</a:t>
            </a:r>
            <a:endParaRPr lang="en-US" sz="1500" dirty="0"/>
          </a:p>
        </p:txBody>
      </p:sp>
      <p:sp>
        <p:nvSpPr>
          <p:cNvPr id="9" name="stat-ships"/>
          <p:cNvSpPr txBox="1"/>
          <p:nvPr/>
        </p:nvSpPr>
        <p:spPr>
          <a:xfrm>
            <a:off x="8046720" y="2011680"/>
            <a:ext cx="3383280" cy="457200"/>
          </a:xfrm>
          <a:prstGeom prst="rect">
            <a:avLst/>
          </a:prstGeom>
          <a:noFill/>
          <a:ln/>
        </p:spPr>
        <p:txBody>
          <a:bodyPr wrap="square" lIns="0" tIns="0" rIns="0" bIns="0" rtlCol="0" anchor="b"/>
          <a:lstStyle/>
          <a:p>
            <a:pPr indent="0" marL="0">
              <a:buNone/>
            </a:pPr>
            <a:r>
              <a:rPr lang="en-US" sz="2800" b="1" dirty="0">
                <a:solidFill>
                  <a:schemeClr val="accent4"/>
                </a:solidFill>
              </a:rPr>
              <a:t>5 vs 4 ships</a:t>
            </a:r>
            <a:endParaRPr lang="en-US" sz="2800" dirty="0"/>
          </a:p>
        </p:txBody>
      </p:sp>
      <p:sp>
        <p:nvSpPr>
          <p:cNvPr id="10" name="stat-label-ships"/>
          <p:cNvSpPr txBox="1"/>
          <p:nvPr/>
        </p:nvSpPr>
        <p:spPr>
          <a:xfrm>
            <a:off x="8046720" y="2542032"/>
            <a:ext cx="3383280" cy="594360"/>
          </a:xfrm>
          <a:prstGeom prst="rect">
            <a:avLst/>
          </a:prstGeom>
          <a:noFill/>
          <a:ln/>
        </p:spPr>
        <p:txBody>
          <a:bodyPr wrap="square" lIns="0" tIns="0" rIns="0" bIns="0" rtlCol="0" anchor="t"/>
          <a:lstStyle/>
          <a:p>
            <a:pPr indent="0" marL="0">
              <a:buNone/>
            </a:pPr>
            <a:r>
              <a:rPr lang="en-US" sz="1400" dirty="0">
                <a:solidFill>
                  <a:schemeClr val="tx1"/>
                </a:solidFill>
              </a:rPr>
              <a:t>40,000 m³ ships for LH₂ against gas-fired NH₃; LH₂ needs 4.97, close to a sixth</a:t>
            </a:r>
            <a:endParaRPr lang="en-US" sz="1400" dirty="0"/>
          </a:p>
        </p:txBody>
      </p:sp>
      <p:sp>
        <p:nvSpPr>
          <p:cNvPr id="11" name="stat-produced"/>
          <p:cNvSpPr txBox="1"/>
          <p:nvPr/>
        </p:nvSpPr>
        <p:spPr>
          <a:xfrm>
            <a:off x="8046720" y="3200400"/>
            <a:ext cx="3383280" cy="457200"/>
          </a:xfrm>
          <a:prstGeom prst="rect">
            <a:avLst/>
          </a:prstGeom>
          <a:noFill/>
          <a:ln/>
        </p:spPr>
        <p:txBody>
          <a:bodyPr wrap="square" lIns="0" tIns="0" rIns="0" bIns="0" rtlCol="0" anchor="b"/>
          <a:lstStyle/>
          <a:p>
            <a:pPr indent="0" marL="0">
              <a:buNone/>
            </a:pPr>
            <a:r>
              <a:rPr lang="en-US" sz="2600" b="1" dirty="0">
                <a:solidFill>
                  <a:schemeClr val="accent4"/>
                </a:solidFill>
              </a:rPr>
              <a:t>108.7 vs 116.1 ktpa</a:t>
            </a:r>
            <a:endParaRPr lang="en-US" sz="2600" dirty="0"/>
          </a:p>
        </p:txBody>
      </p:sp>
      <p:sp>
        <p:nvSpPr>
          <p:cNvPr id="12" name="stat-label-produced"/>
          <p:cNvSpPr txBox="1"/>
          <p:nvPr/>
        </p:nvSpPr>
        <p:spPr>
          <a:xfrm>
            <a:off x="8046720" y="3730752"/>
            <a:ext cx="3383280" cy="594360"/>
          </a:xfrm>
          <a:prstGeom prst="rect">
            <a:avLst/>
          </a:prstGeom>
          <a:noFill/>
          <a:ln/>
        </p:spPr>
        <p:txBody>
          <a:bodyPr wrap="square" lIns="0" tIns="0" rIns="0" bIns="0" rtlCol="0" anchor="t"/>
          <a:lstStyle/>
          <a:p>
            <a:pPr indent="0" marL="0">
              <a:buNone/>
            </a:pPr>
            <a:r>
              <a:rPr lang="en-US" sz="1400" dirty="0">
                <a:solidFill>
                  <a:schemeClr val="tx1"/>
                </a:solidFill>
              </a:rPr>
              <a:t>Hydrogen to produce for 100 ktpa delivered (LH₂ against gas-fired NH₃)</a:t>
            </a:r>
            <a:endParaRPr lang="en-US" sz="1400" dirty="0"/>
          </a:p>
        </p:txBody>
      </p:sp>
      <p:sp>
        <p:nvSpPr>
          <p:cNvPr id="13" name="stat-power"/>
          <p:cNvSpPr txBox="1"/>
          <p:nvPr/>
        </p:nvSpPr>
        <p:spPr>
          <a:xfrm>
            <a:off x="8046720" y="4389120"/>
            <a:ext cx="3383280" cy="457200"/>
          </a:xfrm>
          <a:prstGeom prst="rect">
            <a:avLst/>
          </a:prstGeom>
          <a:noFill/>
          <a:ln/>
        </p:spPr>
        <p:txBody>
          <a:bodyPr wrap="square" lIns="0" tIns="0" rIns="0" bIns="0" rtlCol="0" anchor="b"/>
          <a:lstStyle/>
          <a:p>
            <a:pPr indent="0" marL="0">
              <a:buNone/>
            </a:pPr>
            <a:r>
              <a:rPr lang="en-US" sz="2600" b="1" dirty="0">
                <a:solidFill>
                  <a:schemeClr val="accent4"/>
                </a:solidFill>
              </a:rPr>
              <a:t>152 vs 130 MW</a:t>
            </a:r>
            <a:endParaRPr lang="en-US" sz="2600" dirty="0"/>
          </a:p>
        </p:txBody>
      </p:sp>
      <p:sp>
        <p:nvSpPr>
          <p:cNvPr id="14" name="stat-label-power"/>
          <p:cNvSpPr txBox="1"/>
          <p:nvPr/>
        </p:nvSpPr>
        <p:spPr>
          <a:xfrm>
            <a:off x="8046720" y="4919472"/>
            <a:ext cx="3383280" cy="594360"/>
          </a:xfrm>
          <a:prstGeom prst="rect">
            <a:avLst/>
          </a:prstGeom>
          <a:noFill/>
          <a:ln/>
        </p:spPr>
        <p:txBody>
          <a:bodyPr wrap="square" lIns="0" tIns="0" rIns="0" bIns="0" rtlCol="0" anchor="t"/>
          <a:lstStyle/>
          <a:p>
            <a:pPr indent="0" marL="0">
              <a:buNone/>
            </a:pPr>
            <a:r>
              <a:rPr lang="en-US" sz="1400" dirty="0">
                <a:solidFill>
                  <a:schemeClr val="tx1"/>
                </a:solidFill>
              </a:rPr>
              <a:t>Average chain power, 1,327 against 1,136 GWh a year</a:t>
            </a:r>
            <a:endParaRPr lang="en-US" sz="1400" dirty="0"/>
          </a:p>
        </p:txBody>
      </p:sp>
      <p:sp>
        <p:nvSpPr>
          <p:cNvPr id="15" name="basis-note"/>
          <p:cNvSpPr txBox="1"/>
          <p:nvPr/>
        </p:nvSpPr>
        <p:spPr>
          <a:xfrm>
            <a:off x="548640" y="5760720"/>
            <a:ext cx="11091672" cy="548640"/>
          </a:xfrm>
          <a:prstGeom prst="rect">
            <a:avLst/>
          </a:prstGeom>
          <a:noFill/>
          <a:ln/>
        </p:spPr>
        <p:txBody>
          <a:bodyPr wrap="square" lIns="0" tIns="0" rIns="0" bIns="0" rtlCol="0" anchor="t"/>
          <a:lstStyle/>
          <a:p>
            <a:pPr indent="0" marL="0">
              <a:buNone/>
            </a:pPr>
            <a:r>
              <a:rPr lang="en-US" sz="1100" dirty="0">
                <a:solidFill>
                  <a:schemeClr val="tx1"/>
                </a:solidFill>
              </a:rPr>
              <a:t>Round trip 42.5 days (two 20-day legs, two 1.25-day port calls), 90 % ship availability (assumption), 7.73 voyages per ship a year. The liquefier draws about 112 MW here, against 103 MW in Section 12.1, because it must make 108.7 ktpa.</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Counting the electrolysis of the hydrogen each route consumes adds 65–77 kWh/kg and puts LH₂ ahead: 78.49 against 81.00 kWh/kg</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 13.7 · full value chain with electrolysis · kWh per kg H₂ delivered · electrolyser 60 kWh/kg H₂ (assumption)</a:t>
            </a:r>
            <a:endParaRPr lang="en-US" sz="1100" dirty="0"/>
          </a:p>
        </p:txBody>
      </p:sp>
      <p:graphicFrame>
        <p:nvGraphicFramePr>
          <p:cNvPr id="5" name="electrolysis-chart" descr=""/>
          <p:cNvGraphicFramePr/>
          <p:nvPr/>
        </p:nvGraphicFramePr>
        <p:xfrm>
          <a:off x="457200" y="141732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138160" y="1508760"/>
            <a:ext cx="3502152" cy="320040"/>
          </a:xfrm>
          <a:prstGeom prst="rect">
            <a:avLst/>
          </a:prstGeom>
          <a:noFill/>
          <a:ln/>
        </p:spPr>
        <p:txBody>
          <a:bodyPr wrap="square" lIns="0" tIns="0" rIns="0" bIns="0" rtlCol="0" anchor="t"/>
          <a:lstStyle/>
          <a:p>
            <a:pPr indent="0" marL="0">
              <a:buNone/>
            </a:pPr>
            <a:r>
              <a:rPr lang="en-US" sz="1500" b="1" dirty="0">
                <a:solidFill>
                  <a:schemeClr val="tx2"/>
                </a:solidFill>
              </a:rPr>
              <a:t>NH₃ energy as % of LH₂ (LH₂ = 100)</a:t>
            </a:r>
            <a:endParaRPr lang="en-US" sz="1500" dirty="0"/>
          </a:p>
        </p:txBody>
      </p:sp>
      <p:graphicFrame>
        <p:nvGraphicFramePr>
          <p:cNvPr id="19" name="electrolysis-views-table"/>
          <p:cNvGraphicFramePr>
            <a:graphicFrameLocks noGrp="1"/>
          </p:cNvGraphicFramePr>
          <p:nvPr>
            <p:extLst>
              <p:ext uri="{D42A27DB-BD31-4B8C-83A1-F6EECF244321}">
                <p14:modId xmlns:p14="http://schemas.microsoft.com/office/powerpoint/2010/main" val="1579011935"/>
              </p:ext>
            </p:extLst>
          </p:nvPr>
        </p:nvGraphicFramePr>
        <p:xfrm>
          <a:off x="8138160" y="1920240"/>
          <a:ext cx="3502152" cy="914400"/>
        </p:xfrm>
        <a:graphic>
          <a:graphicData uri="http://schemas.openxmlformats.org/drawingml/2006/table">
            <a:tbl>
              <a:tblPr/>
              <a:tblGrid>
                <a:gridCol w="960120"/>
                <a:gridCol w="822960"/>
                <a:gridCol w="640080"/>
                <a:gridCol w="1078992"/>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NH₃ route</a:t>
                      </a:r>
                      <a:endParaRPr lang="en-US" sz="12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Without</a:t>
                      </a:r>
                      <a:endParaRPr lang="en-US" sz="12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With</a:t>
                      </a:r>
                      <a:endParaRPr lang="en-US" sz="12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Corrected*</a:t>
                      </a:r>
                      <a:endParaRPr lang="en-US" sz="12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r>
              <a:tr h="411480">
                <a:tc>
                  <a:txBody>
                    <a:bodyPr/>
                    <a:lstStyle/>
                    <a:p>
                      <a:pPr indent="0" marL="0">
                        <a:buNone/>
                      </a:pPr>
                      <a:r>
                        <a:rPr lang="en-US" sz="1200" b="1" dirty="0">
                          <a:solidFill>
                            <a:srgbClr val="3A3935"/>
                          </a:solidFill>
                          <a:latin typeface="Calibri" pitchFamily="34" charset="0"/>
                          <a:ea typeface="Calibri" pitchFamily="34" charset="-122"/>
                          <a:cs typeface="Calibri" pitchFamily="34" charset="-120"/>
                        </a:rPr>
                        <a:t>Gas-fired</a:t>
                      </a:r>
                      <a:endParaRPr lang="en-US" sz="12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200" dirty="0">
                          <a:solidFill>
                            <a:srgbClr val="3A3935"/>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200" b="1" dirty="0">
                          <a:solidFill>
                            <a:srgbClr val="7030A0"/>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200" b="1" dirty="0">
                          <a:solidFill>
                            <a:srgbClr val="7030A0"/>
                          </a:solidFill>
                          <a:latin typeface="Calibri" pitchFamily="34" charset="0"/>
                          <a:ea typeface="Calibri" pitchFamily="34" charset="-122"/>
                          <a:cs typeface="Calibri" pitchFamily="34" charset="-120"/>
                        </a:rPr>
                        <a:t>101</a:t>
                      </a:r>
                      <a:endParaRPr lang="en-US" sz="12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411480">
                <a:tc>
                  <a:txBody>
                    <a:bodyPr/>
                    <a:lstStyle/>
                    <a:p>
                      <a:pPr indent="0" marL="0">
                        <a:buNone/>
                      </a:pPr>
                      <a:r>
                        <a:rPr lang="en-US" sz="1200" b="1" dirty="0">
                          <a:solidFill>
                            <a:srgbClr val="3A3935"/>
                          </a:solidFill>
                          <a:latin typeface="Calibri" pitchFamily="34" charset="0"/>
                          <a:ea typeface="Calibri" pitchFamily="34" charset="-122"/>
                          <a:cs typeface="Calibri" pitchFamily="34" charset="-120"/>
                        </a:rPr>
                        <a:t>Clean fuel</a:t>
                      </a:r>
                      <a:endParaRPr lang="en-US" sz="12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200" dirty="0">
                          <a:solidFill>
                            <a:srgbClr val="3A3935"/>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200" b="1" dirty="0">
                          <a:solidFill>
                            <a:srgbClr val="7030A0"/>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200" b="1" dirty="0">
                          <a:solidFill>
                            <a:srgbClr val="7030A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bl>
          </a:graphicData>
        </a:graphic>
      </p:graphicFrame>
      <p:sp>
        <p:nvSpPr>
          <p:cNvPr id="8" name="Text 3"/>
          <p:cNvSpPr txBox="1"/>
          <p:nvPr/>
        </p:nvSpPr>
        <p:spPr>
          <a:xfrm>
            <a:off x="8138160" y="3291840"/>
            <a:ext cx="3502152" cy="777240"/>
          </a:xfrm>
          <a:prstGeom prst="rect">
            <a:avLst/>
          </a:prstGeom>
          <a:noFill/>
          <a:ln/>
        </p:spPr>
        <p:txBody>
          <a:bodyPr wrap="square" lIns="0" tIns="0" rIns="0" bIns="0" rtlCol="0" anchor="t"/>
          <a:lstStyle/>
          <a:p>
            <a:pPr indent="0" marL="0">
              <a:buNone/>
            </a:pPr>
            <a:r>
              <a:rPr lang="en-US" sz="1200" dirty="0">
                <a:solidFill>
                  <a:schemeClr val="tx1"/>
                </a:solidFill>
              </a:rPr>
              <a:t>Above 100 = NH₃ uses more energy than LH₂ (shown in purple). Without and With electrolysis are the chain on slide 14 and the same chain plus electrolysis.</a:t>
            </a:r>
            <a:endParaRPr lang="en-US" sz="1200" dirty="0"/>
          </a:p>
        </p:txBody>
      </p:sp>
      <p:sp>
        <p:nvSpPr>
          <p:cNvPr id="9" name="Text 4"/>
          <p:cNvSpPr txBox="1"/>
          <p:nvPr/>
        </p:nvSpPr>
        <p:spPr>
          <a:xfrm>
            <a:off x="8138160" y="4114800"/>
            <a:ext cx="3502152" cy="1508760"/>
          </a:xfrm>
          <a:prstGeom prst="rect">
            <a:avLst/>
          </a:prstGeom>
          <a:noFill/>
          <a:ln/>
        </p:spPr>
        <p:txBody>
          <a:bodyPr wrap="square" lIns="0" tIns="0" rIns="0" bIns="0" rtlCol="0" anchor="t"/>
          <a:lstStyle/>
          <a:p>
            <a:pPr indent="0" marL="0">
              <a:buNone/>
            </a:pPr>
            <a:r>
              <a:rPr lang="en-US" sz="1200" b="1" dirty="0">
                <a:solidFill>
                  <a:schemeClr val="tx1"/>
                </a:solidFill>
              </a:rPr>
              <a:t>*Corrected: </a:t>
            </a:r>
            <a:pPr indent="0" marL="0">
              <a:buNone/>
            </a:pPr>
            <a:r>
              <a:rPr lang="en-US" sz="1200" dirty="0">
                <a:solidFill>
                  <a:schemeClr val="tx1"/>
                </a:solidFill>
              </a:rPr>
              <a:t>the earlier chain counts hydrogen burned on the ship (2.90 kWh/kg) and ammonia burned in the cracker (4.65 and 8.27) as energy used. With electrolysis they are already paid for, so they are removed. Totals become 75.59, 76.35 and 80.53 kWh/kg.</a:t>
            </a:r>
            <a:endParaRPr lang="en-US" sz="1200" dirty="0"/>
          </a:p>
        </p:txBody>
      </p:sp>
      <p:sp>
        <p:nvSpPr>
          <p:cNvPr id="10" name="basis-note"/>
          <p:cNvSpPr txBox="1"/>
          <p:nvPr/>
        </p:nvSpPr>
        <p:spPr>
          <a:xfrm>
            <a:off x="548640" y="5760720"/>
            <a:ext cx="11091672" cy="594360"/>
          </a:xfrm>
          <a:prstGeom prst="rect">
            <a:avLst/>
          </a:prstGeom>
          <a:noFill/>
          <a:ln/>
        </p:spPr>
        <p:txBody>
          <a:bodyPr wrap="square" lIns="0" tIns="0" rIns="0" bIns="0" rtlCol="0" anchor="t"/>
          <a:lstStyle/>
          <a:p>
            <a:pPr indent="0" marL="0">
              <a:buNone/>
            </a:pPr>
            <a:r>
              <a:rPr lang="en-US" sz="1100" dirty="0">
                <a:solidFill>
                  <a:schemeClr val="tx1"/>
                </a:solidFill>
              </a:rPr>
              <a:t>Electrolysis is 83 % of the LH₂ route's energy and 86–87 % of the NH₃ routes'. The NH₃ routes consume more hydrogen per kg delivered (4,871 t against 2,832 t a cargo; 86.2 % and 77.8 % delivered against 92.0 %). At 100,000 t a year: 7,849, 8,100 and 8,880 GWh, or 896, 925 and 1,014 MW average.</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The tie hinges on the electrolyser: LH₂ leads above ~50 kWh/kg H₂, gas-fired NH₃ below it; the cost gap is only USD 0.21/kg</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Sections 13.7 and 13.9 · NH₃ minus LH₂, kWh per kg H₂ delivered · cost in USD per kg H₂ delivered, cost year not stated</a:t>
            </a:r>
            <a:endParaRPr lang="en-US" sz="1100" dirty="0"/>
          </a:p>
        </p:txBody>
      </p:sp>
      <p:sp>
        <p:nvSpPr>
          <p:cNvPr id="5" name="Text 2"/>
          <p:cNvSpPr txBox="1"/>
          <p:nvPr/>
        </p:nvSpPr>
        <p:spPr>
          <a:xfrm>
            <a:off x="548640" y="1463040"/>
            <a:ext cx="7223760" cy="274320"/>
          </a:xfrm>
          <a:prstGeom prst="rect">
            <a:avLst/>
          </a:prstGeom>
          <a:noFill/>
          <a:ln/>
        </p:spPr>
        <p:txBody>
          <a:bodyPr wrap="square" lIns="0" tIns="0" rIns="0" bIns="0" rtlCol="0" anchor="t"/>
          <a:lstStyle/>
          <a:p>
            <a:pPr indent="0" marL="0">
              <a:buNone/>
            </a:pPr>
            <a:r>
              <a:rPr lang="en-US" sz="1400" b="1" dirty="0">
                <a:solidFill>
                  <a:schemeClr val="tx2"/>
                </a:solidFill>
              </a:rPr>
              <a:t>NH₃ minus LH₂, kWh per kg H₂ delivered (above zero = NH₃ uses more)</a:t>
            </a:r>
            <a:endParaRPr lang="en-US" sz="1400" dirty="0"/>
          </a:p>
        </p:txBody>
      </p:sp>
      <p:graphicFrame>
        <p:nvGraphicFramePr>
          <p:cNvPr id="6" name="electrolyser-sweep-chart" descr=""/>
          <p:cNvGraphicFramePr/>
          <p:nvPr/>
        </p:nvGraphicFramePr>
        <p:xfrm>
          <a:off x="457200" y="1783080"/>
          <a:ext cx="7315200" cy="3840480"/>
        </p:xfrm>
        <a:graphic xmlns:a="http://schemas.openxmlformats.org/drawingml/2006/main">
          <a:graphicData uri="http://schemas.openxmlformats.org/drawingml/2006/chart">
            <c:chart xmlns:c="http://schemas.openxmlformats.org/drawingml/2006/chart" r:id="rId1"/>
          </a:graphicData>
        </a:graphic>
      </p:graphicFrame>
      <p:sp>
        <p:nvSpPr>
          <p:cNvPr id="7" name="electrolysis-stats"/>
          <p:cNvSpPr/>
          <p:nvPr/>
        </p:nvSpPr>
        <p:spPr>
          <a:xfrm>
            <a:off x="8138160" y="1508760"/>
            <a:ext cx="3502152" cy="4114800"/>
          </a:xfrm>
          <a:prstGeom prst="roundRect">
            <a:avLst>
              <a:gd name="adj" fmla="val 1567"/>
            </a:avLst>
          </a:prstGeom>
          <a:solidFill>
            <a:srgbClr val="F1EAF6"/>
          </a:solidFill>
          <a:ln w="9525">
            <a:solidFill>
              <a:srgbClr val="F1EAF6"/>
            </a:solidFill>
            <a:prstDash val="solid"/>
          </a:ln>
        </p:spPr>
      </p:sp>
      <p:sp>
        <p:nvSpPr>
          <p:cNvPr id="8" name="stat-tie"/>
          <p:cNvSpPr txBox="1"/>
          <p:nvPr/>
        </p:nvSpPr>
        <p:spPr>
          <a:xfrm>
            <a:off x="8366760" y="1645920"/>
            <a:ext cx="3108960" cy="457200"/>
          </a:xfrm>
          <a:prstGeom prst="rect">
            <a:avLst/>
          </a:prstGeom>
          <a:noFill/>
          <a:ln/>
        </p:spPr>
        <p:txBody>
          <a:bodyPr wrap="square" lIns="0" tIns="0" rIns="0" bIns="0" rtlCol="0" anchor="b"/>
          <a:lstStyle/>
          <a:p>
            <a:pPr indent="0" marL="0">
              <a:buNone/>
            </a:pPr>
            <a:r>
              <a:rPr lang="en-US" sz="2600" b="1" dirty="0">
                <a:solidFill>
                  <a:schemeClr val="accent4"/>
                </a:solidFill>
              </a:rPr>
              <a:t>~50 kWh/kg</a:t>
            </a:r>
            <a:endParaRPr lang="en-US" sz="2600" dirty="0"/>
          </a:p>
        </p:txBody>
      </p:sp>
      <p:sp>
        <p:nvSpPr>
          <p:cNvPr id="9" name="stat-label-tie"/>
          <p:cNvSpPr txBox="1"/>
          <p:nvPr/>
        </p:nvSpPr>
        <p:spPr>
          <a:xfrm>
            <a:off x="8366760" y="2176272"/>
            <a:ext cx="3108960" cy="822960"/>
          </a:xfrm>
          <a:prstGeom prst="rect">
            <a:avLst/>
          </a:prstGeom>
          <a:noFill/>
          <a:ln/>
        </p:spPr>
        <p:txBody>
          <a:bodyPr wrap="square" lIns="0" tIns="0" rIns="0" bIns="0" rtlCol="0" anchor="t"/>
          <a:lstStyle/>
          <a:p>
            <a:pPr indent="0" marL="0">
              <a:buNone/>
            </a:pPr>
            <a:r>
              <a:rPr lang="en-US" sz="1400" dirty="0">
                <a:solidFill>
                  <a:schemeClr val="tx1"/>
                </a:solidFill>
              </a:rPr>
              <a:t>Electrolyser energy at which gas-fired NH₃ and LH₂ tie, overlap removed (about 35 for clean fuel; 26 as computed)</a:t>
            </a:r>
            <a:endParaRPr lang="en-US" sz="1400" dirty="0"/>
          </a:p>
        </p:txBody>
      </p:sp>
      <p:sp>
        <p:nvSpPr>
          <p:cNvPr id="10" name="stat-cost-feed"/>
          <p:cNvSpPr txBox="1"/>
          <p:nvPr/>
        </p:nvSpPr>
        <p:spPr>
          <a:xfrm>
            <a:off x="8366760" y="2926080"/>
            <a:ext cx="3108960" cy="457200"/>
          </a:xfrm>
          <a:prstGeom prst="rect">
            <a:avLst/>
          </a:prstGeom>
          <a:noFill/>
          <a:ln/>
        </p:spPr>
        <p:txBody>
          <a:bodyPr wrap="square" lIns="0" tIns="0" rIns="0" bIns="0" rtlCol="0" anchor="b"/>
          <a:lstStyle/>
          <a:p>
            <a:pPr indent="0" marL="0">
              <a:buNone/>
            </a:pPr>
            <a:r>
              <a:rPr lang="en-US" sz="2400" b="1" dirty="0">
                <a:solidFill>
                  <a:schemeClr val="accent4"/>
                </a:solidFill>
              </a:rPr>
              <a:t>USD 10.33 vs 10.54</a:t>
            </a:r>
            <a:endParaRPr lang="en-US" sz="2400" dirty="0"/>
          </a:p>
        </p:txBody>
      </p:sp>
      <p:sp>
        <p:nvSpPr>
          <p:cNvPr id="11" name="stat-label-cost-feed"/>
          <p:cNvSpPr txBox="1"/>
          <p:nvPr/>
        </p:nvSpPr>
        <p:spPr>
          <a:xfrm>
            <a:off x="8366760" y="3456432"/>
            <a:ext cx="3108960" cy="822960"/>
          </a:xfrm>
          <a:prstGeom prst="rect">
            <a:avLst/>
          </a:prstGeom>
          <a:noFill/>
          <a:ln/>
        </p:spPr>
        <p:txBody>
          <a:bodyPr wrap="square" lIns="0" tIns="0" rIns="0" bIns="0" rtlCol="0" anchor="t"/>
          <a:lstStyle/>
          <a:p>
            <a:pPr indent="0" marL="0">
              <a:buNone/>
            </a:pPr>
            <a:r>
              <a:rPr lang="en-US" sz="1400" dirty="0">
                <a:solidFill>
                  <a:schemeClr val="tx1"/>
                </a:solidFill>
              </a:rPr>
              <a:t>per kg with the hydrogen feed charged, gas-fired NH₃ against LH₂; the gap falls from USD 0.545 to 0.21</a:t>
            </a:r>
            <a:endParaRPr lang="en-US" sz="1400" dirty="0"/>
          </a:p>
        </p:txBody>
      </p:sp>
      <p:sp>
        <p:nvSpPr>
          <p:cNvPr id="12" name="stat-electrolyser-size"/>
          <p:cNvSpPr txBox="1"/>
          <p:nvPr/>
        </p:nvSpPr>
        <p:spPr>
          <a:xfrm>
            <a:off x="8366760" y="4251960"/>
            <a:ext cx="3108960" cy="457200"/>
          </a:xfrm>
          <a:prstGeom prst="rect">
            <a:avLst/>
          </a:prstGeom>
          <a:noFill/>
          <a:ln/>
        </p:spPr>
        <p:txBody>
          <a:bodyPr wrap="square" lIns="0" tIns="0" rIns="0" bIns="0" rtlCol="0" anchor="b"/>
          <a:lstStyle/>
          <a:p>
            <a:pPr indent="0" marL="0">
              <a:buNone/>
            </a:pPr>
            <a:r>
              <a:rPr lang="en-US" sz="2200" b="1" dirty="0">
                <a:solidFill>
                  <a:schemeClr val="accent4"/>
                </a:solidFill>
              </a:rPr>
              <a:t>795 / 881 vs 744 MW</a:t>
            </a:r>
            <a:endParaRPr lang="en-US" sz="2200" dirty="0"/>
          </a:p>
        </p:txBody>
      </p:sp>
      <p:sp>
        <p:nvSpPr>
          <p:cNvPr id="13" name="stat-label-electrolyser-size"/>
          <p:cNvSpPr txBox="1"/>
          <p:nvPr/>
        </p:nvSpPr>
        <p:spPr>
          <a:xfrm>
            <a:off x="8366760" y="4782312"/>
            <a:ext cx="3108960" cy="731520"/>
          </a:xfrm>
          <a:prstGeom prst="rect">
            <a:avLst/>
          </a:prstGeom>
          <a:noFill/>
          <a:ln/>
        </p:spPr>
        <p:txBody>
          <a:bodyPr wrap="square" lIns="0" tIns="0" rIns="0" bIns="0" rtlCol="0" anchor="t"/>
          <a:lstStyle/>
          <a:p>
            <a:pPr indent="0" marL="0">
              <a:buNone/>
            </a:pPr>
            <a:r>
              <a:rPr lang="en-US" sz="1400" dirty="0">
                <a:solidFill>
                  <a:schemeClr val="tx1"/>
                </a:solidFill>
              </a:rPr>
              <a:t>Average electrolyser power, gas-fired / clean-fuel NH₃ against LH₂: 7 % and 18 % more</a:t>
            </a:r>
            <a:endParaRPr lang="en-US" sz="1400" dirty="0"/>
          </a:p>
        </p:txBody>
      </p:sp>
      <p:sp>
        <p:nvSpPr>
          <p:cNvPr id="14" name="basis-note"/>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100" dirty="0">
                <a:solidFill>
                  <a:schemeClr val="tx1"/>
                </a:solidFill>
              </a:rPr>
              <a:t>Electrolyser 60 kWh/kg H₂ is an assumption and needs a sourced value. Cost charges the electrolysis electricity at USD 140/MWh (team input) and removes burned hydrogen and ammonia already paid for; the assessment's own cost sheet does not remove them and shows USD 10.88, 10.96 and 12.38 per kg.</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On energy cost alone, gas-fired ammonia is cheapest at USD 1.208/kg H₂ against USD 1.754 for LH₂; liquefier power is ~78 % of the LH₂ bill</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 13.9 · energy cost · USD per kg H₂ delivered, cost year not stated</a:t>
            </a:r>
            <a:endParaRPr lang="en-US" sz="1100" dirty="0"/>
          </a:p>
        </p:txBody>
      </p:sp>
      <p:graphicFrame>
        <p:nvGraphicFramePr>
          <p:cNvPr id="5" name="energy-cost-chart" descr=""/>
          <p:cNvGraphicFramePr/>
          <p:nvPr/>
        </p:nvGraphicFramePr>
        <p:xfrm>
          <a:off x="457200" y="141732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6" name="cost-stats"/>
          <p:cNvSpPr/>
          <p:nvPr/>
        </p:nvSpPr>
        <p:spPr>
          <a:xfrm>
            <a:off x="8138160" y="1508760"/>
            <a:ext cx="3502152" cy="4069080"/>
          </a:xfrm>
          <a:prstGeom prst="roundRect">
            <a:avLst>
              <a:gd name="adj" fmla="val 1567"/>
            </a:avLst>
          </a:prstGeom>
          <a:solidFill>
            <a:srgbClr val="F1EAF6"/>
          </a:solidFill>
          <a:ln w="9525">
            <a:solidFill>
              <a:srgbClr val="F1EAF6"/>
            </a:solidFill>
            <a:prstDash val="solid"/>
          </a:ln>
        </p:spPr>
      </p:sp>
      <p:sp>
        <p:nvSpPr>
          <p:cNvPr id="7" name="stat-gap"/>
          <p:cNvSpPr txBox="1"/>
          <p:nvPr/>
        </p:nvSpPr>
        <p:spPr>
          <a:xfrm>
            <a:off x="8366760" y="1645920"/>
            <a:ext cx="3108960" cy="457200"/>
          </a:xfrm>
          <a:prstGeom prst="rect">
            <a:avLst/>
          </a:prstGeom>
          <a:noFill/>
          <a:ln/>
        </p:spPr>
        <p:txBody>
          <a:bodyPr wrap="square" lIns="0" tIns="0" rIns="0" bIns="0" rtlCol="0" anchor="b"/>
          <a:lstStyle/>
          <a:p>
            <a:pPr indent="0" marL="0">
              <a:buNone/>
            </a:pPr>
            <a:r>
              <a:rPr lang="en-US" sz="2600" b="1" dirty="0">
                <a:solidFill>
                  <a:schemeClr val="accent4"/>
                </a:solidFill>
              </a:rPr>
              <a:t>USD 54.5 M a year</a:t>
            </a:r>
            <a:endParaRPr lang="en-US" sz="2600" dirty="0"/>
          </a:p>
        </p:txBody>
      </p:sp>
      <p:sp>
        <p:nvSpPr>
          <p:cNvPr id="8" name="stat-label-gap"/>
          <p:cNvSpPr txBox="1"/>
          <p:nvPr/>
        </p:nvSpPr>
        <p:spPr>
          <a:xfrm>
            <a:off x="8366760" y="2176272"/>
            <a:ext cx="3108960" cy="594360"/>
          </a:xfrm>
          <a:prstGeom prst="rect">
            <a:avLst/>
          </a:prstGeom>
          <a:noFill/>
          <a:ln/>
        </p:spPr>
        <p:txBody>
          <a:bodyPr wrap="square" lIns="0" tIns="0" rIns="0" bIns="0" rtlCol="0" anchor="t"/>
          <a:lstStyle/>
          <a:p>
            <a:pPr indent="0" marL="0">
              <a:buNone/>
            </a:pPr>
            <a:r>
              <a:rPr lang="en-US" sz="1400" dirty="0">
                <a:solidFill>
                  <a:schemeClr val="tx1"/>
                </a:solidFill>
              </a:rPr>
              <a:t>Energy-cost gap between LH₂ and gas-fired NH₃ at 100,000 t a year</a:t>
            </a:r>
            <a:endParaRPr lang="en-US" sz="1400" dirty="0"/>
          </a:p>
        </p:txBody>
      </p:sp>
      <p:sp>
        <p:nvSpPr>
          <p:cNvPr id="9" name="stat-zero"/>
          <p:cNvSpPr txBox="1"/>
          <p:nvPr/>
        </p:nvSpPr>
        <p:spPr>
          <a:xfrm>
            <a:off x="8366760" y="2834640"/>
            <a:ext cx="3108960" cy="457200"/>
          </a:xfrm>
          <a:prstGeom prst="rect">
            <a:avLst/>
          </a:prstGeom>
          <a:noFill/>
          <a:ln/>
        </p:spPr>
        <p:txBody>
          <a:bodyPr wrap="square" lIns="0" tIns="0" rIns="0" bIns="0" rtlCol="0" anchor="b"/>
          <a:lstStyle/>
          <a:p>
            <a:pPr indent="0" marL="0">
              <a:buNone/>
            </a:pPr>
            <a:r>
              <a:rPr lang="en-US" sz="2600" b="1" dirty="0">
                <a:solidFill>
                  <a:schemeClr val="accent4"/>
                </a:solidFill>
              </a:rPr>
              <a:t>USD 1.406/kg</a:t>
            </a:r>
            <a:endParaRPr lang="en-US" sz="2600" dirty="0"/>
          </a:p>
        </p:txBody>
      </p:sp>
      <p:sp>
        <p:nvSpPr>
          <p:cNvPr id="10" name="stat-label-zero"/>
          <p:cNvSpPr txBox="1"/>
          <p:nvPr/>
        </p:nvSpPr>
        <p:spPr>
          <a:xfrm>
            <a:off x="8366760" y="3364992"/>
            <a:ext cx="3108960" cy="594360"/>
          </a:xfrm>
          <a:prstGeom prst="rect">
            <a:avLst/>
          </a:prstGeom>
          <a:noFill/>
          <a:ln/>
        </p:spPr>
        <p:txBody>
          <a:bodyPr wrap="square" lIns="0" tIns="0" rIns="0" bIns="0" rtlCol="0" anchor="t"/>
          <a:lstStyle/>
          <a:p>
            <a:pPr indent="0" marL="0">
              <a:buNone/>
            </a:pPr>
            <a:r>
              <a:rPr lang="en-US" sz="1400" dirty="0">
                <a:solidFill>
                  <a:schemeClr val="tx1"/>
                </a:solidFill>
              </a:rPr>
              <a:t>LH₂ energy cost even at a hydrogen price of zero, still above gas-fired NH₃</a:t>
            </a:r>
            <a:endParaRPr lang="en-US" sz="1400" dirty="0"/>
          </a:p>
        </p:txBody>
      </p:sp>
      <p:sp>
        <p:nvSpPr>
          <p:cNvPr id="11" name="stat-breakeven"/>
          <p:cNvSpPr txBox="1"/>
          <p:nvPr/>
        </p:nvSpPr>
        <p:spPr>
          <a:xfrm>
            <a:off x="8366760" y="4023360"/>
            <a:ext cx="3108960" cy="457200"/>
          </a:xfrm>
          <a:prstGeom prst="rect">
            <a:avLst/>
          </a:prstGeom>
          <a:noFill/>
          <a:ln/>
        </p:spPr>
        <p:txBody>
          <a:bodyPr wrap="square" lIns="0" tIns="0" rIns="0" bIns="0" rtlCol="0" anchor="b"/>
          <a:lstStyle/>
          <a:p>
            <a:pPr indent="0" marL="0">
              <a:buNone/>
            </a:pPr>
            <a:r>
              <a:rPr lang="en-US" sz="2600" b="1" dirty="0">
                <a:solidFill>
                  <a:schemeClr val="accent4"/>
                </a:solidFill>
              </a:rPr>
              <a:t>USD 1.99/kg</a:t>
            </a:r>
            <a:endParaRPr lang="en-US" sz="2600" dirty="0"/>
          </a:p>
        </p:txBody>
      </p:sp>
      <p:sp>
        <p:nvSpPr>
          <p:cNvPr id="12" name="stat-label-breakeven"/>
          <p:cNvSpPr txBox="1"/>
          <p:nvPr/>
        </p:nvSpPr>
        <p:spPr>
          <a:xfrm>
            <a:off x="8366760" y="4553712"/>
            <a:ext cx="3108960" cy="594360"/>
          </a:xfrm>
          <a:prstGeom prst="rect">
            <a:avLst/>
          </a:prstGeom>
          <a:noFill/>
          <a:ln/>
        </p:spPr>
        <p:txBody>
          <a:bodyPr wrap="square" lIns="0" tIns="0" rIns="0" bIns="0" rtlCol="0" anchor="t"/>
          <a:lstStyle/>
          <a:p>
            <a:pPr indent="0" marL="0">
              <a:buNone/>
            </a:pPr>
            <a:r>
              <a:rPr lang="en-US" sz="1400" dirty="0">
                <a:solidFill>
                  <a:schemeClr val="tx1"/>
                </a:solidFill>
              </a:rPr>
              <a:t>Hydrogen price below which LH₂ beats the clean-fuel NH₃ route</a:t>
            </a:r>
            <a:endParaRPr lang="en-US" sz="1400" dirty="0"/>
          </a:p>
        </p:txBody>
      </p:sp>
      <p:sp>
        <p:nvSpPr>
          <p:cNvPr id="13" name="basis-note"/>
          <p:cNvSpPr txBox="1"/>
          <p:nvPr/>
        </p:nvSpPr>
        <p:spPr>
          <a:xfrm>
            <a:off x="548640" y="5760720"/>
            <a:ext cx="11091672" cy="548640"/>
          </a:xfrm>
          <a:prstGeom prst="rect">
            <a:avLst/>
          </a:prstGeom>
          <a:noFill/>
          <a:ln/>
        </p:spPr>
        <p:txBody>
          <a:bodyPr wrap="square" lIns="0" tIns="0" rIns="0" bIns="0" rtlCol="0" anchor="t"/>
          <a:lstStyle/>
          <a:p>
            <a:pPr indent="0" marL="0">
              <a:buNone/>
            </a:pPr>
            <a:r>
              <a:rPr lang="en-US" sz="1100" dirty="0">
                <a:solidFill>
                  <a:schemeClr val="tx1"/>
                </a:solidFill>
              </a:rPr>
              <a:t>Prices are team inputs in USD with no cost year: electricity 140 USD/MWh, marine fuel oil 553 USD/t, natural gas 13 USD/MMBtu (LHV), ammonia 700 USD/t; hydrogen 4.00 USD/kg (assumption); import electricity held equal to export (placeholder). Labels under 0.10 hidden.</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Neither carrier wins on every measure: ammonia leads on energy cost and ships, LH₂ on hydrogen delivered and energy with electrolysis</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 13.10 · summary of the LH₂ vs NH₃ screening</a:t>
            </a:r>
            <a:endParaRPr lang="en-US" sz="1100" dirty="0"/>
          </a:p>
        </p:txBody>
      </p:sp>
      <p:sp>
        <p:nvSpPr>
          <p:cNvPr id="5" name="summary-head-1"/>
          <p:cNvSpPr/>
          <p:nvPr/>
        </p:nvSpPr>
        <p:spPr>
          <a:xfrm>
            <a:off x="548640" y="1508760"/>
            <a:ext cx="5454396" cy="548640"/>
          </a:xfrm>
          <a:prstGeom prst="rect">
            <a:avLst/>
          </a:prstGeom>
          <a:solidFill>
            <a:srgbClr val="4A3AA7"/>
          </a:solidFill>
          <a:ln w="12700">
            <a:solidFill>
              <a:srgbClr val="4A3AA7"/>
            </a:solidFill>
            <a:prstDash val="solid"/>
          </a:ln>
        </p:spPr>
      </p:sp>
      <p:sp>
        <p:nvSpPr>
          <p:cNvPr id="6" name="Text 3"/>
          <p:cNvSpPr txBox="1"/>
          <p:nvPr/>
        </p:nvSpPr>
        <p:spPr>
          <a:xfrm>
            <a:off x="731520" y="1508760"/>
            <a:ext cx="5088636" cy="548640"/>
          </a:xfrm>
          <a:prstGeom prst="rect">
            <a:avLst/>
          </a:prstGeom>
          <a:noFill/>
          <a:ln/>
        </p:spPr>
        <p:txBody>
          <a:bodyPr wrap="square" lIns="0" tIns="0" rIns="0" bIns="0" rtlCol="0" anchor="ctr"/>
          <a:lstStyle/>
          <a:p>
            <a:pPr indent="0" marL="0">
              <a:buNone/>
            </a:pPr>
            <a:r>
              <a:rPr lang="en-US" sz="1800" b="1" dirty="0">
                <a:solidFill>
                  <a:schemeClr val="bg1"/>
                </a:solidFill>
              </a:rPr>
              <a:t>Where LH₂ is ahead</a:t>
            </a:r>
            <a:endParaRPr lang="en-US" sz="1800" dirty="0"/>
          </a:p>
        </p:txBody>
      </p:sp>
      <p:sp>
        <p:nvSpPr>
          <p:cNvPr id="7" name="summary-body-1"/>
          <p:cNvSpPr/>
          <p:nvPr/>
        </p:nvSpPr>
        <p:spPr>
          <a:xfrm>
            <a:off x="548640" y="2057400"/>
            <a:ext cx="5454396" cy="3063240"/>
          </a:xfrm>
          <a:prstGeom prst="roundRect">
            <a:avLst>
              <a:gd name="adj" fmla="val 1791"/>
            </a:avLst>
          </a:prstGeom>
          <a:solidFill>
            <a:srgbClr val="F1EAF6"/>
          </a:solidFill>
          <a:ln w="9525">
            <a:solidFill>
              <a:srgbClr val="F1EAF6"/>
            </a:solidFill>
            <a:prstDash val="solid"/>
          </a:ln>
        </p:spPr>
      </p:sp>
      <p:sp>
        <p:nvSpPr>
          <p:cNvPr id="8" name="Text 5"/>
          <p:cNvSpPr txBox="1"/>
          <p:nvPr/>
        </p:nvSpPr>
        <p:spPr>
          <a:xfrm>
            <a:off x="777240" y="2286000"/>
            <a:ext cx="4997196" cy="2743200"/>
          </a:xfrm>
          <a:prstGeom prst="rect">
            <a:avLst/>
          </a:prstGeom>
          <a:noFill/>
          <a:ln/>
        </p:spPr>
        <p:txBody>
          <a:bodyPr wrap="square" lIns="0" tIns="0" rIns="0" bIns="0" rtlCol="0" anchor="t"/>
          <a:lstStyle/>
          <a:p>
            <a:pPr marL="177800" indent="-177800">
              <a:spcAft>
                <a:spcPts val="1400"/>
              </a:spcAft>
              <a:buSzPct val="100000"/>
              <a:buChar char="•"/>
            </a:pPr>
            <a:r>
              <a:rPr lang="en-US" sz="1700" dirty="0">
                <a:solidFill>
                  <a:schemeClr val="tx1"/>
                </a:solidFill>
              </a:rPr>
              <a:t>Delivers 92.0 % of the hydrogen it starts with, against 86.2 % and 77.8 % for NH₃</a:t>
            </a:r>
            <a:endParaRPr lang="en-US" sz="1700" dirty="0"/>
          </a:p>
          <a:p>
            <a:pPr marL="177800" indent="-177800">
              <a:spcAft>
                <a:spcPts val="1400"/>
              </a:spcAft>
              <a:buSzPct val="100000"/>
              <a:buChar char="•"/>
            </a:pPr>
            <a:r>
              <a:rPr lang="en-US" sz="1700" dirty="0">
                <a:solidFill>
                  <a:schemeClr val="tx1"/>
                </a:solidFill>
              </a:rPr>
              <a:t>The import terminal only vaporises the liquid: 0.05 kWh/kg, no chemical conversion</a:t>
            </a:r>
            <a:endParaRPr lang="en-US" sz="1700" dirty="0"/>
          </a:p>
          <a:p>
            <a:pPr marL="177800" indent="-177800">
              <a:spcAft>
                <a:spcPts val="1400"/>
              </a:spcAft>
              <a:buSzPct val="100000"/>
              <a:buChar char="•"/>
            </a:pPr>
            <a:r>
              <a:rPr lang="en-US" sz="1700" dirty="0">
                <a:solidFill>
                  <a:schemeClr val="tx1"/>
                </a:solidFill>
              </a:rPr>
              <a:t>Uses the least energy once electrolysis is counted: 78.49 against 81.00 kWh/kg, but by only ~1 % with burned cargo not counted twice</a:t>
            </a:r>
            <a:endParaRPr lang="en-US" sz="1700" dirty="0"/>
          </a:p>
        </p:txBody>
      </p:sp>
      <p:sp>
        <p:nvSpPr>
          <p:cNvPr id="9" name="summary-head-2"/>
          <p:cNvSpPr/>
          <p:nvPr/>
        </p:nvSpPr>
        <p:spPr>
          <a:xfrm>
            <a:off x="6185916" y="1508760"/>
            <a:ext cx="5454396" cy="548640"/>
          </a:xfrm>
          <a:prstGeom prst="rect">
            <a:avLst/>
          </a:prstGeom>
          <a:solidFill>
            <a:srgbClr val="2977D6"/>
          </a:solidFill>
          <a:ln w="12700">
            <a:solidFill>
              <a:srgbClr val="2977D6"/>
            </a:solidFill>
            <a:prstDash val="solid"/>
          </a:ln>
        </p:spPr>
      </p:sp>
      <p:sp>
        <p:nvSpPr>
          <p:cNvPr id="10" name="Text 7"/>
          <p:cNvSpPr txBox="1"/>
          <p:nvPr/>
        </p:nvSpPr>
        <p:spPr>
          <a:xfrm>
            <a:off x="6368796" y="1508760"/>
            <a:ext cx="5088636" cy="548640"/>
          </a:xfrm>
          <a:prstGeom prst="rect">
            <a:avLst/>
          </a:prstGeom>
          <a:noFill/>
          <a:ln/>
        </p:spPr>
        <p:txBody>
          <a:bodyPr wrap="square" lIns="0" tIns="0" rIns="0" bIns="0" rtlCol="0" anchor="ctr"/>
          <a:lstStyle/>
          <a:p>
            <a:pPr indent="0" marL="0">
              <a:buNone/>
            </a:pPr>
            <a:r>
              <a:rPr lang="en-US" sz="1800" b="1" dirty="0">
                <a:solidFill>
                  <a:schemeClr val="bg1"/>
                </a:solidFill>
              </a:rPr>
              <a:t>Where NH₃ (gas-fired cracker) is ahead</a:t>
            </a:r>
            <a:endParaRPr lang="en-US" sz="1800" dirty="0"/>
          </a:p>
        </p:txBody>
      </p:sp>
      <p:sp>
        <p:nvSpPr>
          <p:cNvPr id="11" name="summary-body-2"/>
          <p:cNvSpPr/>
          <p:nvPr/>
        </p:nvSpPr>
        <p:spPr>
          <a:xfrm>
            <a:off x="6185916" y="2057400"/>
            <a:ext cx="5454396" cy="3063240"/>
          </a:xfrm>
          <a:prstGeom prst="roundRect">
            <a:avLst>
              <a:gd name="adj" fmla="val 1791"/>
            </a:avLst>
          </a:prstGeom>
          <a:solidFill>
            <a:srgbClr val="F1EAF6"/>
          </a:solidFill>
          <a:ln w="9525">
            <a:solidFill>
              <a:srgbClr val="F1EAF6"/>
            </a:solidFill>
            <a:prstDash val="solid"/>
          </a:ln>
        </p:spPr>
      </p:sp>
      <p:sp>
        <p:nvSpPr>
          <p:cNvPr id="12" name="Text 9"/>
          <p:cNvSpPr txBox="1"/>
          <p:nvPr/>
        </p:nvSpPr>
        <p:spPr>
          <a:xfrm>
            <a:off x="6414516" y="2286000"/>
            <a:ext cx="4997196" cy="2743200"/>
          </a:xfrm>
          <a:prstGeom prst="rect">
            <a:avLst/>
          </a:prstGeom>
          <a:noFill/>
          <a:ln/>
        </p:spPr>
        <p:txBody>
          <a:bodyPr wrap="square" lIns="0" tIns="0" rIns="0" bIns="0" rtlCol="0" anchor="t"/>
          <a:lstStyle/>
          <a:p>
            <a:pPr marL="177800" indent="-177800">
              <a:spcAft>
                <a:spcPts val="1400"/>
              </a:spcAft>
              <a:buSzPct val="100000"/>
              <a:buChar char="•"/>
            </a:pPr>
            <a:r>
              <a:rPr lang="en-US" sz="1700" dirty="0">
                <a:solidFill>
                  <a:schemeClr val="tx1"/>
                </a:solidFill>
              </a:rPr>
              <a:t>Less energy per kg delivered before electrolysis: 11.36 against 13.27 kWh/kg</a:t>
            </a:r>
            <a:endParaRPr lang="en-US" sz="1700" dirty="0"/>
          </a:p>
          <a:p>
            <a:pPr marL="177800" indent="-177800">
              <a:spcAft>
                <a:spcPts val="1400"/>
              </a:spcAft>
              <a:buSzPct val="100000"/>
              <a:buChar char="•"/>
            </a:pPr>
            <a:r>
              <a:rPr lang="en-US" sz="1700" dirty="0">
                <a:solidFill>
                  <a:schemeClr val="tx1"/>
                </a:solidFill>
              </a:rPr>
              <a:t>Lower energy cost: USD 1.208 against 1.754 per kg; with the hydrogen feed charged the gap falls to USD 0.21</a:t>
            </a:r>
            <a:endParaRPr lang="en-US" sz="1700" dirty="0"/>
          </a:p>
          <a:p>
            <a:pPr marL="177800" indent="-177800">
              <a:spcAft>
                <a:spcPts val="1400"/>
              </a:spcAft>
              <a:buSzPct val="100000"/>
              <a:buChar char="•"/>
            </a:pPr>
            <a:r>
              <a:rPr lang="en-US" sz="1700" dirty="0">
                <a:solidFill>
                  <a:schemeClr val="tx1"/>
                </a:solidFill>
              </a:rPr>
              <a:t>Fewer ships for 100,000 t a year: 4 against 5</a:t>
            </a:r>
            <a:endParaRPr lang="en-US" sz="1700" dirty="0"/>
          </a:p>
          <a:p>
            <a:pPr marL="177800" indent="-177800">
              <a:spcAft>
                <a:spcPts val="1400"/>
              </a:spcAft>
              <a:buSzPct val="100000"/>
              <a:buChar char="•"/>
            </a:pPr>
            <a:r>
              <a:rPr lang="en-US" sz="1700" dirty="0">
                <a:solidFill>
                  <a:schemeClr val="tx1"/>
                </a:solidFill>
              </a:rPr>
              <a:t>Upstream, even a perfect liquefier could not match the ammonia plant</a:t>
            </a:r>
            <a:endParaRPr lang="en-US" sz="1700" dirty="0"/>
          </a:p>
        </p:txBody>
      </p:sp>
      <p:sp>
        <p:nvSpPr>
          <p:cNvPr id="13" name="summary-caveat"/>
          <p:cNvSpPr/>
          <p:nvPr/>
        </p:nvSpPr>
        <p:spPr>
          <a:xfrm>
            <a:off x="548640" y="5303520"/>
            <a:ext cx="11091672" cy="594360"/>
          </a:xfrm>
          <a:prstGeom prst="roundRect">
            <a:avLst>
              <a:gd name="adj" fmla="val 9231"/>
            </a:avLst>
          </a:prstGeom>
          <a:solidFill>
            <a:srgbClr val="FFFFFF"/>
          </a:solidFill>
          <a:ln w="9525">
            <a:solidFill>
              <a:srgbClr val="B4AAE6"/>
            </a:solidFill>
            <a:prstDash val="solid"/>
          </a:ln>
        </p:spPr>
      </p:sp>
      <p:sp>
        <p:nvSpPr>
          <p:cNvPr id="14" name="Text 11"/>
          <p:cNvSpPr txBox="1"/>
          <p:nvPr/>
        </p:nvSpPr>
        <p:spPr>
          <a:xfrm>
            <a:off x="731520" y="5303520"/>
            <a:ext cx="10725912" cy="594360"/>
          </a:xfrm>
          <a:prstGeom prst="rect">
            <a:avLst/>
          </a:prstGeom>
          <a:noFill/>
          <a:ln/>
        </p:spPr>
        <p:txBody>
          <a:bodyPr wrap="square" lIns="0" tIns="0" rIns="0" bIns="0" rtlCol="0" anchor="ctr"/>
          <a:lstStyle/>
          <a:p>
            <a:pPr indent="0" marL="0">
              <a:buNone/>
            </a:pPr>
            <a:r>
              <a:rPr lang="en-US" sz="1500" b="1" dirty="0">
                <a:solidFill>
                  <a:schemeClr val="accent4"/>
                </a:solidFill>
              </a:rPr>
              <a:t>Not yet decided:  </a:t>
            </a:r>
            <a:pPr indent="0" marL="0">
              <a:buNone/>
            </a:pPr>
            <a:r>
              <a:rPr lang="en-US" sz="1500" dirty="0">
                <a:solidFill>
                  <a:schemeClr val="tx1"/>
                </a:solidFill>
              </a:rPr>
              <a:t>capital cost, ship cost and shipping economics still need cost data from a full feasibility study.</a:t>
            </a:r>
            <a:endParaRPr lang="en-US" sz="15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868680"/>
          </a:xfrm>
          <a:prstGeom prst="rect">
            <a:avLst/>
          </a:prstGeom>
          <a:noFill/>
          <a:ln/>
        </p:spPr>
        <p:txBody>
          <a:bodyPr wrap="square" lIns="0" tIns="0" rIns="0" bIns="0" rtlCol="0" anchor="t"/>
          <a:lstStyle/>
          <a:p>
            <a:pPr algn="l" indent="0" marL="0">
              <a:buNone/>
            </a:pPr>
            <a:r>
              <a:rPr lang="en-US" sz="2800" b="1" dirty="0">
                <a:solidFill>
                  <a:schemeClr val="accent1"/>
                </a:solidFill>
              </a:rPr>
              <a:t>Six open items could change the result; closing them needs supplier and vessel data, the internal ammonia dataset and a feasibility study</a:t>
            </a:r>
            <a:endParaRPr lang="en-US" sz="2800" dirty="0"/>
          </a:p>
        </p:txBody>
      </p:sp>
      <p:sp>
        <p:nvSpPr>
          <p:cNvPr id="3" name="Text 1"/>
          <p:cNvSpPr/>
          <p:nvPr>
            <p:ph idx="102" type="body" hasCustomPrompt="1"/>
          </p:nvPr>
        </p:nvSpPr>
        <p:spPr>
          <a:xfrm>
            <a:off x="548640" y="6446520"/>
            <a:ext cx="9875520" cy="274320"/>
          </a:xfrm>
          <a:prstGeom prst="rect">
            <a:avLst/>
          </a:prstGeom>
          <a:noFill/>
          <a:ln/>
        </p:spPr>
        <p:txBody>
          <a:bodyPr wrap="square" lIns="0" tIns="0" rIns="0" bIns="0" rtlCol="0" anchor="ctr"/>
          <a:lstStyle/>
          <a:p>
            <a:pPr indent="0" marL="0">
              <a:buNone/>
            </a:pPr>
            <a:r>
              <a:rPr lang="en-US" sz="1100" dirty="0">
                <a:solidFill>
                  <a:schemeClr val="tx1"/>
                </a:solidFill>
              </a:rPr>
              <a:t>LiqH₂VC Database Rev 0 · Sections 10.2, 11, 12.3 and 13.10 · open items</a:t>
            </a:r>
            <a:endParaRPr lang="en-US" sz="1100" dirty="0"/>
          </a:p>
        </p:txBody>
      </p:sp>
      <p:graphicFrame>
        <p:nvGraphicFramePr>
          <p:cNvPr id="23" name="open-items-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377440"/>
                <a:gridCol w="3566160"/>
                <a:gridCol w="5148072"/>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Open item</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Current value</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matters</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solidFill>
                      <a:srgbClr val="1F2933"/>
                    </a:solidFill>
                  </a:tcPr>
                </a:tc>
              </a:tr>
              <a:tr h="621792">
                <a:tc>
                  <a:txBody>
                    <a:bodyPr/>
                    <a:lstStyle/>
                    <a:p>
                      <a:pPr indent="0" marL="0">
                        <a:buNone/>
                      </a:pPr>
                      <a:r>
                        <a:rPr lang="en-US" sz="1300" b="1" dirty="0">
                          <a:solidFill>
                            <a:srgbClr val="3A3935"/>
                          </a:solidFill>
                          <a:latin typeface="Calibri" pitchFamily="34" charset="0"/>
                          <a:ea typeface="Calibri" pitchFamily="34" charset="-122"/>
                          <a:cs typeface="Calibri" pitchFamily="34" charset="-120"/>
                        </a:rPr>
                        <a:t>Haber-Bosch energy</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1 kWh/kg H₂ (team input)</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May exclude air separation. NH₃ stays ahead only below ~2.65 kWh/kg H₂ (2.25 with a clean-fuel cracker)</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621792">
                <a:tc>
                  <a:txBody>
                    <a:bodyPr/>
                    <a:lstStyle/>
                    <a:p>
                      <a:pPr indent="0" marL="0">
                        <a:buNone/>
                      </a:pPr>
                      <a:r>
                        <a:rPr lang="en-US" sz="1300" b="1" dirty="0">
                          <a:solidFill>
                            <a:srgbClr val="3A3935"/>
                          </a:solidFill>
                          <a:latin typeface="Calibri" pitchFamily="34" charset="0"/>
                          <a:ea typeface="Calibri" pitchFamily="34" charset="-122"/>
                          <a:cs typeface="Calibri" pitchFamily="34" charset="-120"/>
                        </a:rPr>
                        <a:t>LH₂ ship boil-off</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0.40 %/day (team input); 0.2 %/day in Section 12.2</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No full-scale data. Each extra 0.1 %/day removes about 2 % of the cargo over 20 sea days</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548640">
                <a:tc>
                  <a:txBody>
                    <a:bodyPr/>
                    <a:lstStyle/>
                    <a:p>
                      <a:pPr indent="0" marL="0">
                        <a:buNone/>
                      </a:pPr>
                      <a:r>
                        <a:rPr lang="en-US" sz="1300" b="1" dirty="0">
                          <a:solidFill>
                            <a:srgbClr val="3A3935"/>
                          </a:solidFill>
                          <a:latin typeface="Calibri" pitchFamily="34" charset="0"/>
                          <a:ea typeface="Calibri" pitchFamily="34" charset="-122"/>
                          <a:cs typeface="Calibri" pitchFamily="34" charset="-120"/>
                        </a:rPr>
                        <a:t>Sea days per cargo</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20 (assumption)</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No corridor fixed. Sets ship count and fuel; LH₂ is close to a sixth ship (4.97)</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548640">
                <a:tc>
                  <a:txBody>
                    <a:bodyPr/>
                    <a:lstStyle/>
                    <a:p>
                      <a:pPr indent="0" marL="0">
                        <a:buNone/>
                      </a:pPr>
                      <a:r>
                        <a:rPr lang="en-US" sz="1300" b="1" dirty="0">
                          <a:solidFill>
                            <a:srgbClr val="3A3935"/>
                          </a:solidFill>
                          <a:latin typeface="Calibri" pitchFamily="34" charset="0"/>
                          <a:ea typeface="Calibri" pitchFamily="34" charset="-122"/>
                          <a:cs typeface="Calibri" pitchFamily="34" charset="-120"/>
                        </a:rPr>
                        <a:t>Electrolyser energy</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Not counted in 13.2–13.6; 60 kWh/kg H₂ in 13.7 (assumption)</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Puts LH₂ ahead by only ~1 % once burned cargo is not counted twice; the routes tie at ~50 kWh/kg, so it needs a source</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621792">
                <a:tc>
                  <a:txBody>
                    <a:bodyPr/>
                    <a:lstStyle/>
                    <a:p>
                      <a:pPr indent="0" marL="0">
                        <a:buNone/>
                      </a:pPr>
                      <a:r>
                        <a:rPr lang="en-US" sz="1300" b="1" dirty="0">
                          <a:solidFill>
                            <a:srgbClr val="3A3935"/>
                          </a:solidFill>
                          <a:latin typeface="Calibri" pitchFamily="34" charset="0"/>
                          <a:ea typeface="Calibri" pitchFamily="34" charset="-122"/>
                          <a:cs typeface="Calibri" pitchFamily="34" charset="-120"/>
                        </a:rPr>
                        <a:t>Other NH₃ values</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Re-liquefaction 0.25 kWh/kg, density 682 kg/m³, LHV 18.6 MJ/kg (estimates)</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To be replaced with the internal ammonia dataset and the import-terminal power price</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r h="548640">
                <a:tc>
                  <a:txBody>
                    <a:bodyPr/>
                    <a:lstStyle/>
                    <a:p>
                      <a:pPr indent="0" marL="0">
                        <a:buNone/>
                      </a:pPr>
                      <a:r>
                        <a:rPr lang="en-US" sz="1300" b="1" dirty="0">
                          <a:solidFill>
                            <a:srgbClr val="3A3935"/>
                          </a:solidFill>
                          <a:latin typeface="Calibri" pitchFamily="34" charset="0"/>
                          <a:ea typeface="Calibri" pitchFamily="34" charset="-122"/>
                          <a:cs typeface="Calibri" pitchFamily="34" charset="-120"/>
                        </a:rPr>
                        <a:t>Not yet included</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c>
                  <a:txBody>
                    <a:bodyPr/>
                    <a:lstStyle/>
                    <a:p>
                      <a:pPr indent="0" marL="0">
                        <a:buNone/>
                      </a:pPr>
                      <a:r>
                        <a:rPr lang="en-US" sz="1300" dirty="0">
                          <a:solidFill>
                            <a:srgbClr val="3A3935"/>
                          </a:solidFill>
                          <a:latin typeface="Calibri" pitchFamily="34" charset="0"/>
                          <a:ea typeface="Calibri" pitchFamily="34" charset="-122"/>
                          <a:cs typeface="Calibri" pitchFamily="34" charset="-120"/>
                        </a:rPr>
                        <a:t>Plant, ship and terminal CAPEX and OPEX, charter, carbon cost (CO₂, N₂O), safety and permitting</a:t>
                      </a:r>
                      <a:endParaRPr lang="en-US" sz="1300" dirty="0">
                        <a:latin typeface="Calibri" charset="0"/>
                        <a:ea typeface="Calibri" charset="0"/>
                        <a:cs typeface="Calibri" charset="0"/>
                      </a:endParaRPr>
                    </a:p>
                  </a:txBody>
                  <a:tcPr marL="76200" marR="76200" marT="38100" marB="38100" anchor="ctr">
                    <a:lnL w="9525" cap="flat" cmpd="sng" algn="ctr">
                      <a:solidFill>
                        <a:srgbClr val="E8E8E4"/>
                      </a:solidFill>
                      <a:prstDash val="solid"/>
                      <a:round/>
                      <a:headEnd type="none" w="med" len="med"/>
                      <a:tailEnd type="none" w="med" len="med"/>
                    </a:lnL>
                    <a:lnR w="9525" cap="flat" cmpd="sng" algn="ctr">
                      <a:solidFill>
                        <a:srgbClr val="E8E8E4"/>
                      </a:solidFill>
                      <a:prstDash val="solid"/>
                      <a:round/>
                      <a:headEnd type="none" w="med" len="med"/>
                      <a:tailEnd type="none" w="med" len="med"/>
                    </a:lnR>
                    <a:lnT w="9525" cap="flat" cmpd="sng" algn="ctr">
                      <a:solidFill>
                        <a:srgbClr val="E8E8E4"/>
                      </a:solidFill>
                      <a:prstDash val="solid"/>
                      <a:round/>
                      <a:headEnd type="none" w="med" len="med"/>
                      <a:tailEnd type="none" w="med" len="med"/>
                    </a:lnT>
                    <a:lnB w="9525" cap="flat" cmpd="sng" algn="ctr">
                      <a:solidFill>
                        <a:srgbClr val="E8E8E4"/>
                      </a:solidFill>
                      <a:prstDash val="solid"/>
                      <a:round/>
                      <a:headEnd type="none" w="med" len="med"/>
                      <a:tailEnd type="none" w="med" len="med"/>
                    </a:lnB>
                  </a:tcPr>
                </a:tc>
              </a:tr>
            </a:tbl>
          </a:graphicData>
        </a:graphic>
      </p:graphicFrame>
      <p:sp>
        <p:nvSpPr>
          <p:cNvPr id="6" name="basis-note"/>
          <p:cNvSpPr txBox="1"/>
          <p:nvPr/>
        </p:nvSpPr>
        <p:spPr>
          <a:xfrm>
            <a:off x="548640" y="5852160"/>
            <a:ext cx="11091672" cy="411480"/>
          </a:xfrm>
          <a:prstGeom prst="rect">
            <a:avLst/>
          </a:prstGeom>
          <a:noFill/>
          <a:ln/>
        </p:spPr>
        <p:txBody>
          <a:bodyPr wrap="square" lIns="0" tIns="0" rIns="0" bIns="0" rtlCol="0" anchor="t"/>
          <a:lstStyle/>
          <a:p>
            <a:pPr indent="0" marL="0">
              <a:buNone/>
            </a:pPr>
            <a:r>
              <a:rPr lang="en-US" sz="1100" dirty="0">
                <a:solidFill>
                  <a:schemeClr val="tx1"/>
                </a:solidFill>
              </a:rPr>
              <a:t>Database-wide gaps also open: LH₂ regulation and permitting (Section 11), liquefaction, regas and ship costs (Section 12.3), and the reference tank size behind 24 USD/kg (Section 10.2).</a:t>
            </a:r>
            <a:endParaRPr lang="en-US" sz="1100" dirty="0"/>
          </a:p>
        </p:txBody>
      </p:sp>
      <p:sp>
        <p:nvSpPr>
          <p:cNvPr id="25" name="Slide Number Placeholder 0"/>
          <p:cNvSpPr>
            <a:spLocks noGrp="1"/>
          </p:cNvSpPr>
          <p:nvPr>
            <p:ph type="sldNum" sz="quarter" idx="4294967295"/>
          </p:nvPr>
        </p:nvSpPr>
        <p:spPr>
          <a:xfrm>
            <a:off x="11228832" y="6446520"/>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320040" y="2377440"/>
            <a:ext cx="6309360" cy="1874520"/>
          </a:xfrm>
          <a:prstGeom prst="rect">
            <a:avLst/>
          </a:prstGeom>
          <a:noFill/>
          <a:ln/>
        </p:spPr>
        <p:txBody>
          <a:bodyPr wrap="square" lIns="0" tIns="0" rIns="0" bIns="0" rtlCol="0" anchor="b"/>
          <a:lstStyle/>
          <a:p>
            <a:pPr algn="l" indent="0" marL="0">
              <a:buNone/>
            </a:pPr>
            <a:r>
              <a:rPr lang="en-US" sz="3200" b="1" dirty="0">
                <a:solidFill>
                  <a:schemeClr val="bg1"/>
                </a:solidFill>
                <a:latin typeface="Verdana" pitchFamily="34" charset="0"/>
                <a:ea typeface="Verdana" pitchFamily="34" charset="-122"/>
                <a:cs typeface="Verdana" pitchFamily="34" charset="-120"/>
              </a:rPr>
              <a:t>Questions and discussion</a:t>
            </a:r>
            <a:endParaRPr lang="en-US" sz="3200" dirty="0"/>
          </a:p>
        </p:txBody>
      </p:sp>
      <p:sp>
        <p:nvSpPr>
          <p:cNvPr id="3" name="Text 0"/>
          <p:cNvSpPr/>
          <p:nvPr>
            <p:ph idx="101" type="body" hasCustomPrompt="1"/>
          </p:nvPr>
        </p:nvSpPr>
        <p:spPr>
          <a:xfrm>
            <a:off x="320040" y="4370832"/>
            <a:ext cx="6309360" cy="457200"/>
          </a:xfrm>
          <a:prstGeom prst="rect">
            <a:avLst/>
          </a:prstGeom>
          <a:noFill/>
          <a:ln/>
        </p:spPr>
        <p:txBody>
          <a:bodyPr wrap="square" lIns="0" tIns="0" rIns="0" bIns="0" rtlCol="0" anchor="ctr"/>
          <a:lstStyle/>
          <a:p>
            <a:pPr algn="l" indent="0" marL="0">
              <a:buNone/>
            </a:pPr>
            <a:r>
              <a:rPr lang="en-US" sz="1800" dirty="0">
                <a:solidFill>
                  <a:schemeClr val="bg1"/>
                </a:solidFill>
                <a:latin typeface="Verdana" pitchFamily="34" charset="0"/>
                <a:ea typeface="Verdana" pitchFamily="34" charset="-122"/>
                <a:cs typeface="Verdana" pitchFamily="34" charset="-120"/>
              </a:rPr>
              <a:t>LH</a:t>
            </a:r>
            <a:pPr algn="l" indent="0" marL="0">
              <a:buNone/>
            </a:pPr>
            <a:r>
              <a:rPr lang="en-US" sz="1800" baseline="-40000" dirty="0">
                <a:solidFill>
                  <a:schemeClr val="bg1"/>
                </a:solidFill>
                <a:latin typeface="Verdana" pitchFamily="34" charset="0"/>
                <a:ea typeface="Verdana" pitchFamily="34" charset="-122"/>
                <a:cs typeface="Verdana" pitchFamily="34" charset="-120"/>
              </a:rPr>
              <a:t>2</a:t>
            </a:r>
            <a:pPr algn="l" indent="0" marL="0">
              <a:buNone/>
            </a:pPr>
            <a:r>
              <a:rPr lang="en-US" sz="1800" dirty="0">
                <a:solidFill>
                  <a:schemeClr val="bg1"/>
                </a:solidFill>
                <a:latin typeface="Verdana" pitchFamily="34" charset="0"/>
                <a:ea typeface="Verdana" pitchFamily="34" charset="-122"/>
                <a:cs typeface="Verdana" pitchFamily="34" charset="-120"/>
              </a:rPr>
              <a:t> Value Chain Technology Database, Rev 0</a:t>
            </a:r>
            <a:endParaRPr lang="en-US" sz="1800" dirty="0"/>
          </a:p>
        </p:txBody>
      </p:sp>
    </p:spTree>
  </p:cSld>
  <p:clrMapOvr>
    <a:masterClrMapping/>
  </p:clrMapOvr>
</p:sld>
</file>

<file path=ppt/theme/theme1.xml><?xml version="1.0" encoding="utf-8"?>
<a:theme xmlns:a="http://schemas.openxmlformats.org/drawingml/2006/main" name="Gentari">
  <a:themeElements>
    <a:clrScheme name="Gentari">
      <a:dk1>
        <a:srgbClr val="3A3935"/>
      </a:dk1>
      <a:lt1>
        <a:srgbClr val="FFFFFF"/>
      </a:lt1>
      <a:dk2>
        <a:srgbClr val="1F2933"/>
      </a:dk2>
      <a:lt2>
        <a:srgbClr val="F1EAF6"/>
      </a:lt2>
      <a:accent1>
        <a:srgbClr val="7030A0"/>
      </a:accent1>
      <a:accent2>
        <a:srgbClr val="4A3AA7"/>
      </a:accent2>
      <a:accent3>
        <a:srgbClr val="2977D6"/>
      </a:accent3>
      <a:accent4>
        <a:srgbClr val="60269E"/>
      </a:accent4>
      <a:accent5>
        <a:srgbClr val="75BA75"/>
      </a:accent5>
      <a:accent6>
        <a:srgbClr val="00C8E8"/>
      </a:accent6>
      <a:hlink>
        <a:srgbClr val="2977D6"/>
      </a:hlink>
      <a:folHlink>
        <a:srgbClr val="7030A0"/>
      </a:folHlink>
    </a:clrScheme>
    <a:fontScheme name="Gentari">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LH2 Value Chain Technology Database: Syndication</dc:title>
  <dc:subject>PptxGenJS Presentation</dc:subject>
  <dc:creator>Gentari</dc:creator>
  <cp:lastModifiedBy>Gentari</cp:lastModifiedBy>
  <cp:revision>1</cp:revision>
  <dcterms:created xsi:type="dcterms:W3CDTF">2026-10-11T21:59:48Z</dcterms:created>
  <dcterms:modified xsi:type="dcterms:W3CDTF">2026-10-11T21:59:48Z</dcterms:modified>
</cp:coreProperties>
</file>