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de463dc9-de89-9772-4556-cd0f424916ae}">
          <p14:sldIdLst>
            <p14:sldId id="256"/>
          </p14:sldIdLst>
        </p14:section>
        <p14:section name="Overview" id="{1e6e753b-0998-f507-a4c0-c0ad1ca15c38}">
          <p14:sldIdLst>
            <p14:sldId id="257"/>
          </p14:sldIdLst>
        </p14:section>
        <p14:section name="Technology" id="{57ba3096-9388-32c0-09ad-3d95b74de2e5}">
          <p14:sldIdLst>
            <p14:sldId id="258"/>
            <p14:sldId id="259"/>
            <p14:sldId id="260"/>
            <p14:sldId id="261"/>
          </p14:sldIdLst>
        </p14:section>
        <p14:section name="Infrastructure" id="{cc231d0c-45e7-c0dd-b0bf-8f236d7ff00e}">
          <p14:sldIdLst>
            <p14:sldId id="262"/>
            <p14:sldId id="263"/>
            <p14:sldId id="264"/>
          </p14:sldIdLst>
        </p14:section>
        <p14:section name="Cost" id="{dac76e45-586e-b7b3-9aaf-dd7774f37862}">
          <p14:sldIdLst>
            <p14:sldId id="265"/>
          </p14:sldIdLst>
        </p14:section>
        <p14:section name="Regulation and challenges" id="{111b6d8c-6834-2abb-030d-c014b4a9475c}">
          <p14:sldIdLst>
            <p14:sldId id="266"/>
            <p14:sldId id="267"/>
          </p14:sldIdLst>
        </p14:section>
        <p14:section name="LH2 vs NH3" id="{b5d218cd-a4cd-708a-17bd-6e5e019ed2ca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lose" id="{7a4895d5-8240-f91a-79cd-6f8229310257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Capacity, t/day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39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F2933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Chiba, JP · Iwatani · 2009</c:v>
                  </c:pt>
                  <c:pt idx="1">
                    <c:v>Akashi, JP · Kawasaki · 2014</c:v>
                  </c:pt>
                  <c:pt idx="2">
                    <c:v>Osaka, JP · Iwatani · 2006</c:v>
                  </c:pt>
                  <c:pt idx="3">
                    <c:v>Yamaguchi, JP · Iwatani, Tokuyama · 2017</c:v>
                  </c:pt>
                  <c:pt idx="4">
                    <c:v>Leuna, DE · Linde · 2021</c:v>
                  </c:pt>
                  <c:pt idx="5">
                    <c:v>Woodbine, US · Plug Power · 2024</c:v>
                  </c:pt>
                  <c:pt idx="6">
                    <c:v>La Porte, US · Air Products &amp; Praxair · 2021</c:v>
                  </c:pt>
                  <c:pt idx="7">
                    <c:v>Las Vegas, US · Air Liquide · 2022</c:v>
                  </c:pt>
                  <c:pt idx="8">
                    <c:v>Ulsan, KR · Hyosung–Linde · 2024</c:v>
                  </c:pt>
                  <c:pt idx="9">
                    <c:v>Incheon, KR · SK E&amp;S, Air Liquide · 2024</c:v>
                  </c:pt>
                  <c:pt idx="10">
                    <c:v>Kawasaki unit train (planned)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17.5</c:v>
                </c:pt>
                <c:pt idx="6">
                  <c:v>27.2</c:v>
                </c:pt>
                <c:pt idx="7">
                  <c:v>27.2</c:v>
                </c:pt>
                <c:pt idx="8">
                  <c:v>35.6</c:v>
                </c:pt>
                <c:pt idx="9">
                  <c:v>90</c:v>
                </c:pt>
                <c:pt idx="10">
                  <c:v>115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1" i="0" strike="noStrike" sz="1200" u="none">
                  <a:solidFill>
                    <a:srgbClr val="3A39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Cargo capacity, m³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39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93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Suiso Frontier (sailing)</c:v>
                  </c:pt>
                  <c:pt idx="1">
                    <c:v>KHI–JSE carrier (contracted)</c:v>
                  </c:pt>
                  <c:pt idx="2">
                    <c:v>Commercial design (target)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1250</c:v>
                </c:pt>
                <c:pt idx="1">
                  <c:v>40000</c:v>
                </c:pt>
                <c:pt idx="2">
                  <c:v>160000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A39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kUSD per t/day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39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30 t/day</c:v>
                  </c:pt>
                  <c:pt idx="1">
                    <c:v>60 t/day</c:v>
                  </c:pt>
                  <c:pt idx="2">
                    <c:v>115 t/day</c:v>
                  </c:pt>
                  <c:pt idx="3">
                    <c:v>200 t/day</c:v>
                  </c:pt>
                  <c:pt idx="4">
                    <c:v>300 t/day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2250</c:v>
                </c:pt>
                <c:pt idx="1">
                  <c:v>1730</c:v>
                </c:pt>
                <c:pt idx="2">
                  <c:v>1350</c:v>
                </c:pt>
                <c:pt idx="3">
                  <c:v>1090</c:v>
                </c:pt>
                <c:pt idx="4">
                  <c:v>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A39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Liquefaction or Haber-Bosch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[&lt;0.6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11.66</c:v>
                  </c:pt>
                  <c:pt idx="1">
                    <c:v>NH₃, gas-fired cracker · 11.36</c:v>
                  </c:pt>
                  <c:pt idx="2">
                    <c:v>LH₂ route · 13.27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1.29</c:v>
                </c:pt>
                <c:pt idx="1">
                  <c:v>1.16</c:v>
                </c:pt>
                <c:pt idx="2">
                  <c:v>9.78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Export-tank boil-off</c:v>
                </c:pt>
              </c:strCache>
            </c:strRef>
          </c:tx>
          <c:spPr>
            <a:solidFill>
              <a:srgbClr val="B4AAE6"/>
            </a:solidFill>
            <a:effectLst/>
          </c:spPr>
          <c:invertIfNegative val="0"/>
          <c:dLbls>
            <c:numFmt formatCode="[&lt;0.6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11.66</c:v>
                  </c:pt>
                  <c:pt idx="1">
                    <c:v>NH₃, gas-fired cracker · 11.36</c:v>
                  </c:pt>
                  <c:pt idx="2">
                    <c:v>LH₂ route · 13.27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0.01</c:v>
                </c:pt>
                <c:pt idx="1">
                  <c:v>0.01</c:v>
                </c:pt>
                <c:pt idx="2">
                  <c:v>0.03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Ship fuel bought</c:v>
                </c:pt>
              </c:strCache>
            </c:strRef>
          </c:tx>
          <c:spPr>
            <a:solidFill>
              <a:srgbClr val="6E6E68"/>
            </a:solidFill>
            <a:effectLst/>
          </c:spPr>
          <c:invertIfNegative val="0"/>
          <c:dLbls>
            <c:numFmt formatCode="[&lt;0.6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11.66</c:v>
                  </c:pt>
                  <c:pt idx="1">
                    <c:v>NH₃, gas-fired cracker · 11.36</c:v>
                  </c:pt>
                  <c:pt idx="2">
                    <c:v>LH₂ route · 13.27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1.8</c:v>
                </c:pt>
                <c:pt idx="1">
                  <c:v>1.63</c:v>
                </c:pt>
                <c:pt idx="2">
                  <c:v>0.51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Cargo H₂ burned as ship fuel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[&lt;0.6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11.66</c:v>
                  </c:pt>
                  <c:pt idx="1">
                    <c:v>NH₃, gas-fired cracker · 11.36</c:v>
                  </c:pt>
                  <c:pt idx="2">
                    <c:v>LH₂ route · 13.27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Regasification or cracking</c:v>
                </c:pt>
              </c:strCache>
            </c:strRef>
          </c:tx>
          <c:spPr>
            <a:solidFill>
              <a:srgbClr val="2977D6"/>
            </a:solidFill>
            <a:effectLst/>
          </c:spPr>
          <c:invertIfNegative val="0"/>
          <c:dLbls>
            <c:numFmt formatCode="[&lt;0.6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11.66</c:v>
                  </c:pt>
                  <c:pt idx="1">
                    <c:v>NH₃, gas-fired cracker · 11.36</c:v>
                  </c:pt>
                  <c:pt idx="2">
                    <c:v>LH₂ route · 13.27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8.56</c:v>
                </c:pt>
                <c:pt idx="1">
                  <c:v>8.56</c:v>
                </c:pt>
                <c:pt idx="2">
                  <c:v>0.05</c:v>
                </c:pt>
              </c:numCache>
            </c:numRef>
          </c:val>
        </c:ser>
        <c:dLbls>
          <c:numFmt formatCode="[&lt;0.6]&quot;&quot;;0.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9525" cap="flat">
              <a:solidFill>
                <a:srgbClr val="E8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39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LH2 minus NH3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39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77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29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Upstream</c:v>
                  </c:pt>
                  <c:pt idx="1">
                    <c:v>At sea</c:v>
                  </c:pt>
                  <c:pt idx="2">
                    <c:v>Downstream</c:v>
                  </c:pt>
                  <c:pt idx="3">
                    <c:v>Full chain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</c:v>
                </c:pt>
                <c:pt idx="1">
                  <c:v>1.8</c:v>
                </c:pt>
                <c:pt idx="2">
                  <c:v>-8.5</c:v>
                </c:pt>
                <c:pt idx="3">
                  <c:v>1.9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1" i="0" strike="noStrike" sz="1200" u="none">
                  <a:solidFill>
                    <a:srgbClr val="3A39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10"/>
        </c:scaling>
        <c:delete val="0"/>
        <c:axPos val="l"/>
        <c:majorGridlines>
          <c:spPr>
            <a:ln w="9525" cap="flat">
              <a:solidFill>
                <a:srgbClr val="E8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plant electricity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1.579</c:v>
                  </c:pt>
                  <c:pt idx="1">
                    <c:v>NH₃, gas-fired cracker · 1.208</c:v>
                  </c:pt>
                  <c:pt idx="2">
                    <c:v>LH₂ route · 1.754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0.181</c:v>
                </c:pt>
                <c:pt idx="1">
                  <c:v>0.163</c:v>
                </c:pt>
                <c:pt idx="2">
                  <c:v>1.374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Marine fuel oil</c:v>
                </c:pt>
              </c:strCache>
            </c:strRef>
          </c:tx>
          <c:spPr>
            <a:solidFill>
              <a:srgbClr val="6E6E68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1.579</c:v>
                  </c:pt>
                  <c:pt idx="1">
                    <c:v>NH₃, gas-fired cracker · 1.208</c:v>
                  </c:pt>
                  <c:pt idx="2">
                    <c:v>LH₂ route · 1.754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0.004</c:v>
                </c:pt>
                <c:pt idx="1">
                  <c:v>0.004</c:v>
                </c:pt>
                <c:pt idx="2">
                  <c:v>0.025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Ammonia fuel</c:v>
                </c:pt>
              </c:strCache>
            </c:strRef>
          </c:tx>
          <c:spPr>
            <a:solidFill>
              <a:srgbClr val="2977D6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1.579</c:v>
                  </c:pt>
                  <c:pt idx="1">
                    <c:v>NH₃, gas-fired cracker · 1.208</c:v>
                  </c:pt>
                  <c:pt idx="2">
                    <c:v>LH₂ route · 1.754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1.352</c:v>
                </c:pt>
                <c:pt idx="1">
                  <c:v>0.84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Natural gas</c:v>
                </c:pt>
              </c:strCache>
            </c:strRef>
          </c:tx>
          <c:spPr>
            <a:solidFill>
              <a:srgbClr val="0B7FA8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1.579</c:v>
                  </c:pt>
                  <c:pt idx="1">
                    <c:v>NH₃, gas-fired cracker · 1.208</c:v>
                  </c:pt>
                  <c:pt idx="2">
                    <c:v>LH₂ route · 1.754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0.16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Import terminal electricity</c:v>
                </c:pt>
              </c:strCache>
            </c:strRef>
          </c:tx>
          <c:spPr>
            <a:solidFill>
              <a:srgbClr val="B4AAE6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1.579</c:v>
                  </c:pt>
                  <c:pt idx="1">
                    <c:v>NH₃, gas-fired cracker · 1.208</c:v>
                  </c:pt>
                  <c:pt idx="2">
                    <c:v>LH₂ route · 1.754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0.041</c:v>
                </c:pt>
                <c:pt idx="1">
                  <c:v>0.041</c:v>
                </c:pt>
                <c:pt idx="2">
                  <c:v>0.007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Cargo H₂ burned as ship fuel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NH₃, clean-fuel cracker · 1.579</c:v>
                  </c:pt>
                  <c:pt idx="1">
                    <c:v>NH₃, gas-fired cracker · 1.208</c:v>
                  </c:pt>
                  <c:pt idx="2">
                    <c:v>LH₂ route · 1.754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0.348</c:v>
                </c:pt>
              </c:numCache>
            </c:numRef>
          </c:val>
        </c:ser>
        <c:dLbls>
          <c:numFmt formatCode="[&lt;0.1]&quot;&quot;;0.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b"/>
        <c:majorGridlines>
          <c:spPr>
            <a:ln w="9525" cap="flat">
              <a:solidFill>
                <a:srgbClr val="E8E8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9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39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walk all departments through the LH2 Value Chain Technology Database, Rev 0 (18 Sep 2026): what it covers, the key numbers, and what is still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document, four links in the chain plus four cross-cutting sections. Hydrogen production itself is outside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to remember. The ortho-para point explains why liquefiers include catalysts and why boil-off is never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Linde-Hampson is simple but energy hungry; Claude adds expansion turbines; Brayton is used for pre-cooling. Most commercial plants run modified Claude cycles. The shaded zone cannot be reached by any liquefier.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Linde and Air Liquide build the largest liquefiers; Chart supplies equipment; Plug Power integrates electrolysis and liquefaction; Kawasaki covers liquefaction, ships and terminals.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plants built in the last 20 years are 5 to 35 t/day. Incheon (SK E&amp;S, Air Liquide equipment) is three 30 t/day trains. The dark bar is Kawasaki's design train, not a built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Bigger tanks lose less per tonne because of their smaller surface-to-volume ratio. 0.1 %/day is the planning value used across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Suiso Frontier proved the concept in 2022. The 40,000 m3 carrier was contracted in January 2026 with an ocean-going demonstration targeted by FY2030. 128x is 160,000 divided by 1,250.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values the rest of the database and Section 13 build on. The ship's dual-fuel engine is still in development, so the 0.2 %/day burned as fuel is not yet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LH2 export terminal has been built at this scale, hence the wide range. The chart applies the database's own scaling rule to show why bigger liquefiers are cheaper per tonne.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Regulation is an open item for any LH2 project outside Japan. Each gap below is something we would need to resolve before committing to a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103 MW is liquefaction only, at 8-9 kWh/kg; producing the hydrogen is extra. The 3.4 %/day figure comes from small-scale Suiso Frontier studies and is a reference value, not project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ship size, same distance, same end product. The NH3 cargo carries 1.72 times more hydrogen, but has to be cracked back at the far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LH2's energy sits upstream in the liquefier; ammonia's sits downstream in the cracker. LH2 delivers more of the hydrogen it starts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right: the liquefier is LH2's big cost, the cracker is ammonia's. Net, LH2 uses 1.9 kWh/kg more on these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Haber-Bosch energy is the swing input: the team value of 1 kWh/kg H2 may exclude the air separation unit. The placeholder range with air separation, 2.8-3.9 kWh/kg H2, is above the break-even.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energy is priced: no capital, charter, port, carbon or hydrogen-feed cost. The hydrogen price only affects LH2, through the cargo it burns.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screening view of energy and energy cost. The capital-cost and shipping-economics comparison still needs feasibility-study cost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inputs to firm up next. The first two matter most for the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2377440"/>
            <a:ext cx="630936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4370832"/>
            <a:ext cx="6309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3048" y="45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Confidential - For PETRONAS Staff Only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2377440"/>
            <a:ext cx="6309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LH</a:t>
            </a:r>
            <a:pPr algn="l" indent="0" marL="0">
              <a:buNone/>
            </a:pPr>
            <a:r>
              <a:rPr lang="en-US" sz="3200" b="1" baseline="-40000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Value Chain: Technology Database Syndication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43708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 0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The database is a single reference for the LH₂ chain, from the liquefier to hydrogen gas at the import terminal, in 13 sections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scope and structure</a:t>
            </a:r>
            <a:endParaRPr lang="en-US" sz="1100" dirty="0"/>
          </a:p>
        </p:txBody>
      </p:sp>
      <p:sp>
        <p:nvSpPr>
          <p:cNvPr id="5" name="chain-step-1"/>
          <p:cNvSpPr/>
          <p:nvPr/>
        </p:nvSpPr>
        <p:spPr>
          <a:xfrm>
            <a:off x="548640" y="1508760"/>
            <a:ext cx="2635758" cy="777240"/>
          </a:xfrm>
          <a:prstGeom prst="homePlate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19499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Liquefaction</a:t>
            </a:r>
            <a:endParaRPr lang="en-US" sz="1500" dirty="0"/>
          </a:p>
        </p:txBody>
      </p:sp>
      <p:sp>
        <p:nvSpPr>
          <p:cNvPr id="7" name="chain-step-2"/>
          <p:cNvSpPr/>
          <p:nvPr/>
        </p:nvSpPr>
        <p:spPr>
          <a:xfrm>
            <a:off x="3367278" y="1508760"/>
            <a:ext cx="2635758" cy="777240"/>
          </a:xfrm>
          <a:prstGeom prst="chevron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78758" y="1508760"/>
            <a:ext cx="19499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Export storage &amp; loading</a:t>
            </a:r>
            <a:endParaRPr lang="en-US" sz="1500" dirty="0"/>
          </a:p>
        </p:txBody>
      </p:sp>
      <p:sp>
        <p:nvSpPr>
          <p:cNvPr id="9" name="chain-step-3"/>
          <p:cNvSpPr/>
          <p:nvPr/>
        </p:nvSpPr>
        <p:spPr>
          <a:xfrm>
            <a:off x="6185916" y="1508760"/>
            <a:ext cx="2635758" cy="777240"/>
          </a:xfrm>
          <a:prstGeom prst="chevron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97396" y="1508760"/>
            <a:ext cx="19499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Shipping</a:t>
            </a:r>
            <a:endParaRPr lang="en-US" sz="1500" dirty="0"/>
          </a:p>
        </p:txBody>
      </p:sp>
      <p:sp>
        <p:nvSpPr>
          <p:cNvPr id="11" name="chain-step-4"/>
          <p:cNvSpPr/>
          <p:nvPr/>
        </p:nvSpPr>
        <p:spPr>
          <a:xfrm>
            <a:off x="9004554" y="1508760"/>
            <a:ext cx="2635758" cy="777240"/>
          </a:xfrm>
          <a:prstGeom prst="chevron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6034" y="1508760"/>
            <a:ext cx="19499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Import &amp; regasification</a:t>
            </a:r>
            <a:endParaRPr lang="en-US" sz="1500" dirty="0"/>
          </a:p>
        </p:txBody>
      </p:sp>
      <p:sp>
        <p:nvSpPr>
          <p:cNvPr id="13" name="covers-1"/>
          <p:cNvSpPr/>
          <p:nvPr/>
        </p:nvSpPr>
        <p:spPr>
          <a:xfrm>
            <a:off x="548640" y="2468880"/>
            <a:ext cx="2635758" cy="1600200"/>
          </a:xfrm>
          <a:prstGeom prst="roundRect">
            <a:avLst>
              <a:gd name="adj" fmla="val 3429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2606040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Properties, liquefaction cycles, technology players, plants built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520440"/>
            <a:ext cx="2306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Sections 1–5, 8.1, 10.1</a:t>
            </a:r>
            <a:endParaRPr lang="en-US" sz="1300" dirty="0"/>
          </a:p>
        </p:txBody>
      </p:sp>
      <p:sp>
        <p:nvSpPr>
          <p:cNvPr id="16" name="covers-2"/>
          <p:cNvSpPr/>
          <p:nvPr/>
        </p:nvSpPr>
        <p:spPr>
          <a:xfrm>
            <a:off x="3367278" y="2468880"/>
            <a:ext cx="2635758" cy="1600200"/>
          </a:xfrm>
          <a:prstGeom prst="roundRect">
            <a:avLst>
              <a:gd name="adj" fmla="val 3429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31870" y="2606040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Tank types, boil-off, export-terminal cost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31870" y="3520440"/>
            <a:ext cx="2306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Sections 6, 8.2, 10.2</a:t>
            </a:r>
            <a:endParaRPr lang="en-US" sz="1300" dirty="0"/>
          </a:p>
        </p:txBody>
      </p:sp>
      <p:sp>
        <p:nvSpPr>
          <p:cNvPr id="19" name="covers-3"/>
          <p:cNvSpPr/>
          <p:nvPr/>
        </p:nvSpPr>
        <p:spPr>
          <a:xfrm>
            <a:off x="6185916" y="2468880"/>
            <a:ext cx="2635758" cy="1600200"/>
          </a:xfrm>
          <a:prstGeom prst="roundRect">
            <a:avLst>
              <a:gd name="adj" fmla="val 3429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0508" y="2606040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LH₂ carriers, marine projects, road and rail, ship boil-off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50508" y="3520440"/>
            <a:ext cx="2306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Sections 7, 10.3, 12.2</a:t>
            </a:r>
            <a:endParaRPr lang="en-US" sz="1300" dirty="0"/>
          </a:p>
        </p:txBody>
      </p:sp>
      <p:sp>
        <p:nvSpPr>
          <p:cNvPr id="22" name="covers-4"/>
          <p:cNvSpPr/>
          <p:nvPr/>
        </p:nvSpPr>
        <p:spPr>
          <a:xfrm>
            <a:off x="9004554" y="2468880"/>
            <a:ext cx="2635758" cy="1600200"/>
          </a:xfrm>
          <a:prstGeom prst="roundRect">
            <a:avLst>
              <a:gd name="adj" fmla="val 3429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69146" y="2606040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Vaporisers and the receiving terminal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169146" y="3520440"/>
            <a:ext cx="2306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Sections 9, 10.4</a:t>
            </a:r>
            <a:endParaRPr lang="en-US" sz="1300" dirty="0"/>
          </a:p>
        </p:txBody>
      </p:sp>
      <p:sp>
        <p:nvSpPr>
          <p:cNvPr id="25" name="cross-cutting"/>
          <p:cNvSpPr/>
          <p:nvPr/>
        </p:nvSpPr>
        <p:spPr>
          <a:xfrm>
            <a:off x="548640" y="425196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4AA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425196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Across the chain: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Export-facility cost (8)  ·  Regulation (11)  ·  Key challenges (12)  ·  LH₂ vs NH₃ as hydrogen carrier (13)</a:t>
            </a:r>
            <a:endParaRPr lang="en-US" sz="1500" dirty="0"/>
          </a:p>
        </p:txBody>
      </p:sp>
      <p:sp>
        <p:nvSpPr>
          <p:cNvPr id="27" name="basis-note"/>
          <p:cNvSpPr txBox="1"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Boundary: gaseous hydrogen at the export plant to gaseous hydrogen at import send-out; producing the hydrogen is outside the database. Use: technology benchmarking, project screening and preliminary techno-economic assessment.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 0, 18 Sep 2026. Prepared by Jasmin Suraya and Ungku M Zulhilmi Ungku Zakaria; reviewed by Wan M Ikhwan Wan Yussoff and Octavian Partenie; approved by Danial Khairi Ahmad; accepted by Alex Bower.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Cooling hydrogen to −253 °C makes it about 800 times more compact than the gas, which is what makes bulk shipping possible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1.1 and 2.2 · properties of liquid hydrogen</a:t>
            </a:r>
            <a:endParaRPr lang="en-US" sz="1100" dirty="0"/>
          </a:p>
        </p:txBody>
      </p:sp>
      <p:sp>
        <p:nvSpPr>
          <p:cNvPr id="5" name="stat-card-1"/>
          <p:cNvSpPr/>
          <p:nvPr/>
        </p:nvSpPr>
        <p:spPr>
          <a:xfrm>
            <a:off x="548640" y="1508760"/>
            <a:ext cx="2880360" cy="1920240"/>
          </a:xfrm>
          <a:prstGeom prst="roundRect">
            <a:avLst>
              <a:gd name="adj" fmla="val 285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6" name="stat-p0"/>
          <p:cNvSpPr txBox="1"/>
          <p:nvPr/>
        </p:nvSpPr>
        <p:spPr>
          <a:xfrm>
            <a:off x="77724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−253 °C</a:t>
            </a:r>
            <a:endParaRPr lang="en-US" sz="3400" dirty="0"/>
          </a:p>
        </p:txBody>
      </p:sp>
      <p:sp>
        <p:nvSpPr>
          <p:cNvPr id="7" name="stat-label-p0"/>
          <p:cNvSpPr txBox="1"/>
          <p:nvPr/>
        </p:nvSpPr>
        <p:spPr>
          <a:xfrm>
            <a:off x="777240" y="24048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Boiling point at atmospheric pressure (about 20.3 K)</a:t>
            </a:r>
            <a:endParaRPr lang="en-US" sz="1400" dirty="0"/>
          </a:p>
        </p:txBody>
      </p:sp>
      <p:sp>
        <p:nvSpPr>
          <p:cNvPr id="8" name="stat-card-2"/>
          <p:cNvSpPr/>
          <p:nvPr/>
        </p:nvSpPr>
        <p:spPr>
          <a:xfrm>
            <a:off x="3611880" y="1508760"/>
            <a:ext cx="2880360" cy="1920240"/>
          </a:xfrm>
          <a:prstGeom prst="roundRect">
            <a:avLst>
              <a:gd name="adj" fmla="val 285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9" name="stat-p1"/>
          <p:cNvSpPr txBox="1"/>
          <p:nvPr/>
        </p:nvSpPr>
        <p:spPr>
          <a:xfrm>
            <a:off x="384048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70.8 kg/m³</a:t>
            </a:r>
            <a:endParaRPr lang="en-US" sz="3400" dirty="0"/>
          </a:p>
        </p:txBody>
      </p:sp>
      <p:sp>
        <p:nvSpPr>
          <p:cNvPr id="10" name="stat-label-p1"/>
          <p:cNvSpPr txBox="1"/>
          <p:nvPr/>
        </p:nvSpPr>
        <p:spPr>
          <a:xfrm>
            <a:off x="3840480" y="24048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Density of liquid hydrogen, against 0.0899 kg/m³ for the gas</a:t>
            </a:r>
            <a:endParaRPr lang="en-US" sz="1400" dirty="0"/>
          </a:p>
        </p:txBody>
      </p:sp>
      <p:sp>
        <p:nvSpPr>
          <p:cNvPr id="11" name="stat-card-3"/>
          <p:cNvSpPr/>
          <p:nvPr/>
        </p:nvSpPr>
        <p:spPr>
          <a:xfrm>
            <a:off x="548640" y="3611880"/>
            <a:ext cx="2880360" cy="1920240"/>
          </a:xfrm>
          <a:prstGeom prst="roundRect">
            <a:avLst>
              <a:gd name="adj" fmla="val 285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2" name="stat-p2"/>
          <p:cNvSpPr txBox="1"/>
          <p:nvPr/>
        </p:nvSpPr>
        <p:spPr>
          <a:xfrm>
            <a:off x="7772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~800×</a:t>
            </a:r>
            <a:endParaRPr lang="en-US" sz="3400" dirty="0"/>
          </a:p>
        </p:txBody>
      </p:sp>
      <p:sp>
        <p:nvSpPr>
          <p:cNvPr id="13" name="stat-label-p2"/>
          <p:cNvSpPr txBox="1"/>
          <p:nvPr/>
        </p:nvSpPr>
        <p:spPr>
          <a:xfrm>
            <a:off x="777240" y="45079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 storage volume than the gas at standard conditions</a:t>
            </a:r>
            <a:endParaRPr lang="en-US" sz="1400" dirty="0"/>
          </a:p>
        </p:txBody>
      </p:sp>
      <p:sp>
        <p:nvSpPr>
          <p:cNvPr id="14" name="stat-card-4"/>
          <p:cNvSpPr/>
          <p:nvPr/>
        </p:nvSpPr>
        <p:spPr>
          <a:xfrm>
            <a:off x="3611880" y="3611880"/>
            <a:ext cx="2880360" cy="1920240"/>
          </a:xfrm>
          <a:prstGeom prst="roundRect">
            <a:avLst>
              <a:gd name="adj" fmla="val 285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5" name="stat-p3"/>
          <p:cNvSpPr txBox="1"/>
          <p:nvPr/>
        </p:nvSpPr>
        <p:spPr>
          <a:xfrm>
            <a:off x="38404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120 MJ/kg</a:t>
            </a:r>
            <a:endParaRPr lang="en-US" sz="3400" dirty="0"/>
          </a:p>
        </p:txBody>
      </p:sp>
      <p:sp>
        <p:nvSpPr>
          <p:cNvPr id="16" name="stat-label-p3"/>
          <p:cNvSpPr txBox="1"/>
          <p:nvPr/>
        </p:nvSpPr>
        <p:spPr>
          <a:xfrm>
            <a:off x="3840480" y="45079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heating value, the highest per kilogram of any fuel</a:t>
            </a:r>
            <a:endParaRPr lang="en-US" sz="1400" dirty="0"/>
          </a:p>
        </p:txBody>
      </p:sp>
      <p:sp>
        <p:nvSpPr>
          <p:cNvPr id="17" name="ortho-para-panel"/>
          <p:cNvSpPr/>
          <p:nvPr/>
        </p:nvSpPr>
        <p:spPr>
          <a:xfrm>
            <a:off x="6812280" y="1508760"/>
            <a:ext cx="4828032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088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Ortho-para conversion drives boil-off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2148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Room temperature</a:t>
            </a:r>
            <a:endParaRPr lang="en-US" sz="1300" dirty="0"/>
          </a:p>
        </p:txBody>
      </p:sp>
      <p:sp>
        <p:nvSpPr>
          <p:cNvPr id="20" name="bar-ortho"/>
          <p:cNvSpPr/>
          <p:nvPr/>
        </p:nvSpPr>
        <p:spPr>
          <a:xfrm>
            <a:off x="7040880" y="2450592"/>
            <a:ext cx="3257550" cy="384048"/>
          </a:xfrm>
          <a:prstGeom prst="rect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1" name="bar-para"/>
          <p:cNvSpPr/>
          <p:nvPr/>
        </p:nvSpPr>
        <p:spPr>
          <a:xfrm>
            <a:off x="10298430" y="2450592"/>
            <a:ext cx="1085850" cy="384048"/>
          </a:xfrm>
          <a:prstGeom prst="rect">
            <a:avLst/>
          </a:prstGeom>
          <a:solidFill>
            <a:srgbClr val="2977D6"/>
          </a:solidFill>
          <a:ln w="12700">
            <a:solidFill>
              <a:srgbClr val="2977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0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75 % ortho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344150" y="24505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25 % para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2971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Liquid hydrogen</a:t>
            </a:r>
            <a:endParaRPr lang="en-US" sz="1300" dirty="0"/>
          </a:p>
        </p:txBody>
      </p:sp>
      <p:sp>
        <p:nvSpPr>
          <p:cNvPr id="25" name="bar-para-liquid"/>
          <p:cNvSpPr/>
          <p:nvPr/>
        </p:nvSpPr>
        <p:spPr>
          <a:xfrm>
            <a:off x="7040880" y="3273552"/>
            <a:ext cx="4343400" cy="384048"/>
          </a:xfrm>
          <a:prstGeom prst="rect">
            <a:avLst/>
          </a:prstGeom>
          <a:solidFill>
            <a:srgbClr val="2977D6"/>
          </a:solidFill>
          <a:ln w="12700">
            <a:solidFill>
              <a:srgbClr val="2977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3273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Nearly 100 % para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38404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Ortho turns into para as hydrogen cools, and the change releases heat. If it happens in the tank, that heat boils off LH₂, so catalysts convert it stage by stage inside the liquefier.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Today's liquefiers use 10–13 kWh/kg H₂, about three times the 3.3 kWh/kg minimum; Kawasaki targets 8–9 now and 6 at large scale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2.1, 3.4, 5.5, 10.1, 13.3 · liquefaction energy · kWh per kg H₂</a:t>
            </a:r>
            <a:endParaRPr lang="en-US" sz="1100" dirty="0"/>
          </a:p>
        </p:txBody>
      </p:sp>
      <p:sp>
        <p:nvSpPr>
          <p:cNvPr id="5" name="unreachable-zone"/>
          <p:cNvSpPr/>
          <p:nvPr/>
        </p:nvSpPr>
        <p:spPr>
          <a:xfrm>
            <a:off x="3383280" y="1508760"/>
            <a:ext cx="1916811" cy="3675888"/>
          </a:xfrm>
          <a:prstGeom prst="rect">
            <a:avLst/>
          </a:prstGeom>
          <a:solidFill>
            <a:srgbClr val="F1EAF6"/>
          </a:solidFill>
          <a:ln w="12700">
            <a:solidFill>
              <a:srgbClr val="F1EAF6"/>
            </a:solidFill>
            <a:prstDash val="solid"/>
          </a:ln>
        </p:spPr>
      </p:sp>
      <p:sp>
        <p:nvSpPr>
          <p:cNvPr id="6" name="min-3.3"/>
          <p:cNvSpPr/>
          <p:nvPr/>
        </p:nvSpPr>
        <p:spPr>
          <a:xfrm>
            <a:off x="5005197" y="1508760"/>
            <a:ext cx="0" cy="3675888"/>
          </a:xfrm>
          <a:prstGeom prst="line">
            <a:avLst/>
          </a:prstGeom>
          <a:noFill/>
          <a:ln w="15875">
            <a:solidFill>
              <a:srgbClr val="7030A0"/>
            </a:solidFill>
            <a:prstDash val="dash"/>
          </a:ln>
        </p:spPr>
      </p:sp>
      <p:sp>
        <p:nvSpPr>
          <p:cNvPr id="7" name="min-3.9"/>
          <p:cNvSpPr/>
          <p:nvPr/>
        </p:nvSpPr>
        <p:spPr>
          <a:xfrm>
            <a:off x="5300091" y="1508760"/>
            <a:ext cx="0" cy="3675888"/>
          </a:xfrm>
          <a:prstGeom prst="line">
            <a:avLst/>
          </a:prstGeom>
          <a:noFill/>
          <a:ln w="15875">
            <a:solidFill>
              <a:srgbClr val="7030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0896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626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9194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924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3222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5790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9818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2386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28116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0684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26414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8982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247120" y="5184648"/>
            <a:ext cx="0" cy="73152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972800" y="5276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16</a:t>
            </a:r>
            <a:endParaRPr lang="en-US" sz="1100" dirty="0"/>
          </a:p>
        </p:txBody>
      </p:sp>
      <p:sp>
        <p:nvSpPr>
          <p:cNvPr id="26" name="axis"/>
          <p:cNvSpPr/>
          <p:nvPr/>
        </p:nvSpPr>
        <p:spPr>
          <a:xfrm>
            <a:off x="3383280" y="5184648"/>
            <a:ext cx="7863840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18320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kWh per kg H₂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1600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Linde-Hampson cycle</a:t>
            </a:r>
            <a:endParaRPr lang="en-US" sz="1400" dirty="0"/>
          </a:p>
        </p:txBody>
      </p:sp>
      <p:sp>
        <p:nvSpPr>
          <p:cNvPr id="29" name="range-0"/>
          <p:cNvSpPr/>
          <p:nvPr/>
        </p:nvSpPr>
        <p:spPr>
          <a:xfrm>
            <a:off x="8298180" y="1655064"/>
            <a:ext cx="2457450" cy="292608"/>
          </a:xfrm>
          <a:prstGeom prst="rect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920222" y="16002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10–15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21122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cycle</a:t>
            </a:r>
            <a:endParaRPr lang="en-US" sz="1400" dirty="0"/>
          </a:p>
        </p:txBody>
      </p:sp>
      <p:sp>
        <p:nvSpPr>
          <p:cNvPr id="32" name="range-1"/>
          <p:cNvSpPr/>
          <p:nvPr/>
        </p:nvSpPr>
        <p:spPr>
          <a:xfrm>
            <a:off x="6823710" y="2167128"/>
            <a:ext cx="1474470" cy="292608"/>
          </a:xfrm>
          <a:prstGeom prst="rect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62772" y="211226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7–10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26243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Brayton cycle (pre-cooling)*</a:t>
            </a:r>
            <a:endParaRPr lang="en-US" sz="1400" dirty="0"/>
          </a:p>
        </p:txBody>
      </p:sp>
      <p:sp>
        <p:nvSpPr>
          <p:cNvPr id="35" name="range-2"/>
          <p:cNvSpPr/>
          <p:nvPr/>
        </p:nvSpPr>
        <p:spPr>
          <a:xfrm>
            <a:off x="6332220" y="2679192"/>
            <a:ext cx="982980" cy="292608"/>
          </a:xfrm>
          <a:prstGeom prst="rect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79792" y="26243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6–8*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31363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Commercial plants today</a:t>
            </a:r>
            <a:endParaRPr lang="en-US" sz="1400" dirty="0"/>
          </a:p>
        </p:txBody>
      </p:sp>
      <p:sp>
        <p:nvSpPr>
          <p:cNvPr id="38" name="range-3"/>
          <p:cNvSpPr/>
          <p:nvPr/>
        </p:nvSpPr>
        <p:spPr>
          <a:xfrm>
            <a:off x="8298180" y="3191256"/>
            <a:ext cx="1474470" cy="292608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937242" y="31363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10–13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6484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Linde Leuna, reported</a:t>
            </a:r>
            <a:endParaRPr lang="en-US" sz="1400" dirty="0"/>
          </a:p>
        </p:txBody>
      </p:sp>
      <p:sp>
        <p:nvSpPr>
          <p:cNvPr id="41" name="point-4"/>
          <p:cNvSpPr/>
          <p:nvPr/>
        </p:nvSpPr>
        <p:spPr>
          <a:xfrm>
            <a:off x="9113139" y="3730752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396603" y="36484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11.9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Kawasaki, current development</a:t>
            </a:r>
            <a:endParaRPr lang="en-US" sz="1400" dirty="0"/>
          </a:p>
        </p:txBody>
      </p:sp>
      <p:sp>
        <p:nvSpPr>
          <p:cNvPr id="44" name="range-5"/>
          <p:cNvSpPr/>
          <p:nvPr/>
        </p:nvSpPr>
        <p:spPr>
          <a:xfrm>
            <a:off x="7315200" y="4215384"/>
            <a:ext cx="491490" cy="292608"/>
          </a:xfrm>
          <a:prstGeom prst="rect">
            <a:avLst/>
          </a:prstGeom>
          <a:solidFill>
            <a:srgbClr val="2977D6"/>
          </a:solidFill>
          <a:ln w="12700">
            <a:solidFill>
              <a:srgbClr val="2977D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71282" y="41605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8–9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46725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Kawasaki, large-scale target</a:t>
            </a:r>
            <a:endParaRPr lang="en-US" sz="1400" dirty="0"/>
          </a:p>
        </p:txBody>
      </p:sp>
      <p:sp>
        <p:nvSpPr>
          <p:cNvPr id="47" name="point-6"/>
          <p:cNvSpPr/>
          <p:nvPr/>
        </p:nvSpPr>
        <p:spPr>
          <a:xfrm>
            <a:off x="6213348" y="4754880"/>
            <a:ext cx="237744" cy="237744"/>
          </a:xfrm>
          <a:prstGeom prst="ellipse">
            <a:avLst/>
          </a:prstGeom>
          <a:solidFill>
            <a:srgbClr val="2977D6"/>
          </a:solidFill>
          <a:ln w="12700">
            <a:solidFill>
              <a:srgbClr val="2977D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96812" y="46725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3456432" y="164592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Unreachable: below the minimum work to liquefy, 3.3 kWh/kg (dashed) or 3.9 with ortho-para conversion</a:t>
            </a:r>
            <a:endParaRPr lang="en-US" sz="1100" dirty="0"/>
          </a:p>
        </p:txBody>
      </p:sp>
      <p:sp>
        <p:nvSpPr>
          <p:cNvPr id="50" name="basis-note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*Brayton is a pre-cooling cycle inside integrated plants, so its figure is not directly comparable with the other cycles. Most commercial plants use modified Claude cycles with pre-cooling, expansion turbines and staged ortho-para conversion. Minimum work: US DOE Hydrogen Program Record 9013 (2009), as cited in Section 13.3.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Five companies lead LH₂ technology, and Kawasaki is the only one offering the full chain from liquefier to receiving terminal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4 and 10 · technology players</a:t>
            </a:r>
            <a:endParaRPr lang="en-US" sz="1100" dirty="0"/>
          </a:p>
        </p:txBody>
      </p:sp>
      <p:sp>
        <p:nvSpPr>
          <p:cNvPr id="5" name="player-1"/>
          <p:cNvSpPr/>
          <p:nvPr/>
        </p:nvSpPr>
        <p:spPr>
          <a:xfrm>
            <a:off x="548640" y="1508760"/>
            <a:ext cx="2072030" cy="41605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pic>
        <p:nvPicPr>
          <p:cNvPr id="6" name="logo-1" descr="Lind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9086"/>
            <a:ext cx="1614830" cy="435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7744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Linde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88036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Munich, Germany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20040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Claude-cycle liquefiers, heat exchangers, compressors, storage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069080"/>
            <a:ext cx="17977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Leuna, Germany: 5 to 10 t/day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Porte, Texas: over 30 t/day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LH₂ supply to NASA</a:t>
            </a:r>
            <a:endParaRPr lang="en-US" sz="1300" dirty="0"/>
          </a:p>
        </p:txBody>
      </p:sp>
      <p:sp>
        <p:nvSpPr>
          <p:cNvPr id="11" name="player-2"/>
          <p:cNvSpPr/>
          <p:nvPr/>
        </p:nvSpPr>
        <p:spPr>
          <a:xfrm>
            <a:off x="2803550" y="1508760"/>
            <a:ext cx="2072030" cy="41605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pic>
        <p:nvPicPr>
          <p:cNvPr id="12" name="logo-2" descr="Air Liquid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50" y="1803139"/>
            <a:ext cx="1614830" cy="3073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40710" y="237744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Air Liquide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940710" y="288036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Paris, France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940710" y="320040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Helium-cycle liquefiers and full cryogenic equipment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940710" y="4069080"/>
            <a:ext cx="17977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North Las Vegas: 30 t/day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South Korea: 90 t/day, world's largest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Wenchang, China: 1,500 L/h</a:t>
            </a:r>
            <a:endParaRPr lang="en-US" sz="1300" dirty="0"/>
          </a:p>
        </p:txBody>
      </p:sp>
      <p:sp>
        <p:nvSpPr>
          <p:cNvPr id="17" name="player-3"/>
          <p:cNvSpPr/>
          <p:nvPr/>
        </p:nvSpPr>
        <p:spPr>
          <a:xfrm>
            <a:off x="5058461" y="1508760"/>
            <a:ext cx="2072030" cy="41605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pic>
        <p:nvPicPr>
          <p:cNvPr id="18" name="logo-3" descr="Chart Industries (Baker Hughes)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526" y="1673352"/>
            <a:ext cx="1535901" cy="5669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95621" y="237744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Chart Industries (Baker Hughes)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195621" y="288036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Georgia, USA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95621" y="320040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Cold boxes, turboexpanders, heat exchangers, modular plants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195621" y="4069080"/>
            <a:ext cx="17977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15 t/day plants for Plug Power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Standard plants of 5–30 t/day</a:t>
            </a:r>
            <a:endParaRPr lang="en-US" sz="1300" dirty="0"/>
          </a:p>
        </p:txBody>
      </p:sp>
      <p:sp>
        <p:nvSpPr>
          <p:cNvPr id="23" name="player-4"/>
          <p:cNvSpPr/>
          <p:nvPr/>
        </p:nvSpPr>
        <p:spPr>
          <a:xfrm>
            <a:off x="7313371" y="1508760"/>
            <a:ext cx="2072030" cy="41605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60269E"/>
            </a:solidFill>
            <a:prstDash val="solid"/>
          </a:ln>
        </p:spPr>
      </p:sp>
      <p:pic>
        <p:nvPicPr>
          <p:cNvPr id="24" name="logo-4" descr="Kawasaki Heavy Industrie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046" y="1673352"/>
            <a:ext cx="1548681" cy="56692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50531" y="237744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Kawasaki Heavy Industries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450531" y="288036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Tokyo, Japan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450531" y="320040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Liquefiers, cryogenic tanks, LH₂ carriers, receiving terminals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450531" y="4069080"/>
            <a:ext cx="17977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HESC Australia–Japan chain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Suiso Frontier, 1,250 m³ carrier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Hy touch Kobe terminal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40,000 m³ carrier by 2030</a:t>
            </a:r>
            <a:endParaRPr lang="en-US" sz="1300" dirty="0"/>
          </a:p>
        </p:txBody>
      </p:sp>
      <p:sp>
        <p:nvSpPr>
          <p:cNvPr id="29" name="player-5"/>
          <p:cNvSpPr/>
          <p:nvPr/>
        </p:nvSpPr>
        <p:spPr>
          <a:xfrm>
            <a:off x="9568282" y="1508760"/>
            <a:ext cx="2072030" cy="416052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pic>
        <p:nvPicPr>
          <p:cNvPr id="30" name="logo-5" descr="Plug Power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882" y="1675226"/>
            <a:ext cx="1614830" cy="56317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05442" y="237744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Plug Power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9705442" y="288036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New York, USA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9705442" y="320040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In-house liquefaction with PEM electrolysis and trailer logistics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9705442" y="4069080"/>
            <a:ext cx="17977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Woodbine, Georgia: 15–17.5 t/day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Graham, Texas: 45 t/day design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Alabama, NY: 74 t/day target</a:t>
            </a:r>
            <a:endParaRPr lang="en-US" sz="1300" dirty="0"/>
          </a:p>
        </p:txBody>
      </p:sp>
      <p:sp>
        <p:nvSpPr>
          <p:cNvPr id="35" name="khi-tag"/>
          <p:cNvSpPr txBox="1"/>
          <p:nvPr/>
        </p:nvSpPr>
        <p:spPr>
          <a:xfrm>
            <a:off x="7450531" y="5742432"/>
            <a:ext cx="1797710" cy="292608"/>
          </a:xfrm>
          <a:prstGeom prst="rect">
            <a:avLst/>
          </a:prstGeom>
          <a:solidFill>
            <a:srgbClr val="6026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Full chain</a:t>
            </a:r>
            <a:endParaRPr lang="en-US" sz="1200" dirty="0"/>
          </a:p>
        </p:txBody>
      </p:sp>
      <p:sp>
        <p:nvSpPr>
          <p:cNvPr id="36" name="basis-note"/>
          <p:cNvSpPr txBox="1"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Capacities as stated in each company profile (Section 4); Section 10 notes Kawasaki is currently the single player covering liquefaction, shipping, receiving and regasification.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The largest liquefier operating today is 90 t/day at Incheon; Kawasaki's planned 115 t/day train would be bigger than any plant built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5 and 10.1 · liquefaction capacity · t/day LH₂</a:t>
            </a:r>
            <a:endParaRPr lang="en-US" sz="1100" dirty="0"/>
          </a:p>
        </p:txBody>
      </p:sp>
      <p:graphicFrame>
        <p:nvGraphicFramePr>
          <p:cNvPr id="5" name="plants-chart" descr=""/>
          <p:cNvGraphicFramePr/>
          <p:nvPr/>
        </p:nvGraphicFramePr>
        <p:xfrm>
          <a:off x="457200" y="1417320"/>
          <a:ext cx="76809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lants-stats"/>
          <p:cNvSpPr/>
          <p:nvPr/>
        </p:nvSpPr>
        <p:spPr>
          <a:xfrm>
            <a:off x="8458200" y="1508760"/>
            <a:ext cx="3182112" cy="4160520"/>
          </a:xfrm>
          <a:prstGeom prst="roundRect">
            <a:avLst>
              <a:gd name="adj" fmla="val 1724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7" name="stat-incheon"/>
          <p:cNvSpPr txBox="1"/>
          <p:nvPr/>
        </p:nvSpPr>
        <p:spPr>
          <a:xfrm>
            <a:off x="868680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90 t/day</a:t>
            </a:r>
            <a:endParaRPr lang="en-US" sz="3200" dirty="0"/>
          </a:p>
        </p:txBody>
      </p:sp>
      <p:sp>
        <p:nvSpPr>
          <p:cNvPr id="8" name="stat-label-incheon"/>
          <p:cNvSpPr txBox="1"/>
          <p:nvPr/>
        </p:nvSpPr>
        <p:spPr>
          <a:xfrm>
            <a:off x="8686800" y="22677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Incheon, three 30 t/day trains, completed May 2024</a:t>
            </a:r>
            <a:endParaRPr lang="en-US" sz="1400" dirty="0"/>
          </a:p>
        </p:txBody>
      </p:sp>
      <p:sp>
        <p:nvSpPr>
          <p:cNvPr id="9" name="stat-khi"/>
          <p:cNvSpPr txBox="1"/>
          <p:nvPr/>
        </p:nvSpPr>
        <p:spPr>
          <a:xfrm>
            <a:off x="868680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115 t/day</a:t>
            </a:r>
            <a:endParaRPr lang="en-US" sz="3200" dirty="0"/>
          </a:p>
        </p:txBody>
      </p:sp>
      <p:sp>
        <p:nvSpPr>
          <p:cNvPr id="10" name="stat-label-khi"/>
          <p:cNvSpPr txBox="1"/>
          <p:nvPr/>
        </p:nvSpPr>
        <p:spPr>
          <a:xfrm>
            <a:off x="8686800" y="35935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Kawasaki's design train size per liquefier</a:t>
            </a:r>
            <a:endParaRPr lang="en-US" sz="1400" dirty="0"/>
          </a:p>
        </p:txBody>
      </p:sp>
      <p:sp>
        <p:nvSpPr>
          <p:cNvPr id="11" name="stat-leuna"/>
          <p:cNvSpPr txBox="1"/>
          <p:nvPr/>
        </p:nvSpPr>
        <p:spPr>
          <a:xfrm>
            <a:off x="868680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11.9 kWh/kg</a:t>
            </a:r>
            <a:endParaRPr lang="en-US" sz="3200" dirty="0"/>
          </a:p>
        </p:txBody>
      </p:sp>
      <p:sp>
        <p:nvSpPr>
          <p:cNvPr id="12" name="stat-label-leuna"/>
          <p:cNvSpPr txBox="1"/>
          <p:nvPr/>
        </p:nvSpPr>
        <p:spPr>
          <a:xfrm>
            <a:off x="8686800" y="4919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Reported energy use at Linde Leuna</a:t>
            </a:r>
            <a:endParaRPr lang="en-US" sz="1400" dirty="0"/>
          </a:p>
        </p:txBody>
      </p:sp>
      <p:sp>
        <p:nvSpPr>
          <p:cNvPr id="13" name="basis-note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Woodbine shown at the top of its 15–17.5 t/day range. Sources disagree within the database: Las Vegas is 27.2 t/day in Table 5.6 but 30 t/day in Section 5.4, and La Porte is 27.2 t/day in Table 5.6 but over 30 t/day in Section 4.1.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Large double-wall vacuum-insulated tanks lose about 0.1 % of their LH₂ a day, and the boil-off has to be vented, used or re-liquefied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6 and 8.2 · LH₂ storage · boil-off in % of tank contents per day</a:t>
            </a:r>
            <a:endParaRPr lang="en-US" sz="1100" dirty="0"/>
          </a:p>
        </p:txBody>
      </p:sp>
      <p:pic>
        <p:nvPicPr>
          <p:cNvPr id="5" name="tank-image" descr="Cutaway of a Linde double-wall LH2 t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071813" cy="2286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Double-wall vacuum-insulated LH₂ tank (Linde, Figure 7)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251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Boil-off options: vent it, compress it, re-liquefy it, or stop it with active zero-boil-off refrigeration.</a:t>
            </a:r>
            <a:endParaRPr lang="en-US" sz="1400" dirty="0"/>
          </a:p>
        </p:txBody>
      </p:sp>
      <p:sp>
        <p:nvSpPr>
          <p:cNvPr id="8" name="tank-type-1"/>
          <p:cNvSpPr/>
          <p:nvPr/>
        </p:nvSpPr>
        <p:spPr>
          <a:xfrm>
            <a:off x="3931920" y="1508760"/>
            <a:ext cx="3762756" cy="1143000"/>
          </a:xfrm>
          <a:prstGeom prst="roundRect">
            <a:avLst>
              <a:gd name="adj" fmla="val 4800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618488"/>
            <a:ext cx="3396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Large stationary tanks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1965960"/>
            <a:ext cx="3396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Plants and terminals. Lowest boil-off per tonne; high CAPEX and footprint</a:t>
            </a:r>
            <a:endParaRPr lang="en-US" sz="1400" dirty="0"/>
          </a:p>
        </p:txBody>
      </p:sp>
      <p:sp>
        <p:nvSpPr>
          <p:cNvPr id="11" name="tank-type-2"/>
          <p:cNvSpPr/>
          <p:nvPr/>
        </p:nvSpPr>
        <p:spPr>
          <a:xfrm>
            <a:off x="7877556" y="1508760"/>
            <a:ext cx="3762756" cy="1143000"/>
          </a:xfrm>
          <a:prstGeom prst="roundRect">
            <a:avLst>
              <a:gd name="adj" fmla="val 4800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60436" y="1618488"/>
            <a:ext cx="3396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Transport tanks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60436" y="1965960"/>
            <a:ext cx="3396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Road, rail and ships. Flexible; more heat ingress, boil-off to manage</a:t>
            </a:r>
            <a:endParaRPr lang="en-US" sz="1400" dirty="0"/>
          </a:p>
        </p:txBody>
      </p:sp>
      <p:sp>
        <p:nvSpPr>
          <p:cNvPr id="14" name="tank-type-3"/>
          <p:cNvSpPr/>
          <p:nvPr/>
        </p:nvSpPr>
        <p:spPr>
          <a:xfrm>
            <a:off x="3931920" y="2788920"/>
            <a:ext cx="3762756" cy="1143000"/>
          </a:xfrm>
          <a:prstGeom prst="roundRect">
            <a:avLst>
              <a:gd name="adj" fmla="val 4800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14800" y="2898648"/>
            <a:ext cx="3396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Small and medium tanks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3246120"/>
            <a:ext cx="3396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Refuelling stations and buffers. Low investment; higher relative losses</a:t>
            </a:r>
            <a:endParaRPr lang="en-US" sz="1400" dirty="0"/>
          </a:p>
        </p:txBody>
      </p:sp>
      <p:sp>
        <p:nvSpPr>
          <p:cNvPr id="17" name="tank-type-4"/>
          <p:cNvSpPr/>
          <p:nvPr/>
        </p:nvSpPr>
        <p:spPr>
          <a:xfrm>
            <a:off x="7877556" y="2788920"/>
            <a:ext cx="3762756" cy="1143000"/>
          </a:xfrm>
          <a:prstGeom prst="roundRect">
            <a:avLst>
              <a:gd name="adj" fmla="val 4800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60436" y="2898648"/>
            <a:ext cx="3396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Pressurised LH₂ tanks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060436" y="3246120"/>
            <a:ext cx="3396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delivery pressure, less compression; tougher design and safety</a:t>
            </a:r>
            <a:endParaRPr lang="en-US" sz="1400" dirty="0"/>
          </a:p>
        </p:txBody>
      </p:sp>
      <p:sp>
        <p:nvSpPr>
          <p:cNvPr id="20" name="stat-bor0"/>
          <p:cNvSpPr txBox="1"/>
          <p:nvPr/>
        </p:nvSpPr>
        <p:spPr>
          <a:xfrm>
            <a:off x="3931920" y="4206240"/>
            <a:ext cx="244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~0.07 %/day</a:t>
            </a:r>
            <a:endParaRPr lang="en-US" sz="2800" dirty="0"/>
          </a:p>
        </p:txBody>
      </p:sp>
      <p:sp>
        <p:nvSpPr>
          <p:cNvPr id="21" name="stat-label-bor0"/>
          <p:cNvSpPr txBox="1"/>
          <p:nvPr/>
        </p:nvSpPr>
        <p:spPr>
          <a:xfrm>
            <a:off x="3931920" y="4782312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NASA Kennedy 3,000 m³ sphere, the largest LH₂ tank in use</a:t>
            </a:r>
            <a:endParaRPr lang="en-US" sz="1400" dirty="0"/>
          </a:p>
        </p:txBody>
      </p:sp>
      <p:sp>
        <p:nvSpPr>
          <p:cNvPr id="22" name="stat-bor1"/>
          <p:cNvSpPr txBox="1"/>
          <p:nvPr/>
        </p:nvSpPr>
        <p:spPr>
          <a:xfrm>
            <a:off x="6562344" y="4206240"/>
            <a:ext cx="244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≤0.1 %/day</a:t>
            </a:r>
            <a:endParaRPr lang="en-US" sz="2800" dirty="0"/>
          </a:p>
        </p:txBody>
      </p:sp>
      <p:sp>
        <p:nvSpPr>
          <p:cNvPr id="23" name="stat-label-bor1"/>
          <p:cNvSpPr txBox="1"/>
          <p:nvPr/>
        </p:nvSpPr>
        <p:spPr>
          <a:xfrm>
            <a:off x="6562344" y="4782312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Kawasaki 11,200 m³ design target</a:t>
            </a:r>
            <a:endParaRPr lang="en-US" sz="1400" dirty="0"/>
          </a:p>
        </p:txBody>
      </p:sp>
      <p:sp>
        <p:nvSpPr>
          <p:cNvPr id="24" name="stat-bor2"/>
          <p:cNvSpPr txBox="1"/>
          <p:nvPr/>
        </p:nvSpPr>
        <p:spPr>
          <a:xfrm>
            <a:off x="9192768" y="4206240"/>
            <a:ext cx="244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0.1 %/day</a:t>
            </a:r>
            <a:endParaRPr lang="en-US" sz="2800" dirty="0"/>
          </a:p>
        </p:txBody>
      </p:sp>
      <p:sp>
        <p:nvSpPr>
          <p:cNvPr id="25" name="stat-label-bor2"/>
          <p:cNvSpPr txBox="1"/>
          <p:nvPr/>
        </p:nvSpPr>
        <p:spPr>
          <a:xfrm>
            <a:off x="9192768" y="4782312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planning value (S&amp;P input, likely conservative)</a:t>
            </a:r>
            <a:endParaRPr lang="en-US" sz="1400" dirty="0"/>
          </a:p>
        </p:txBody>
      </p:sp>
      <p:sp>
        <p:nvSpPr>
          <p:cNvPr id="26" name="basis-note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Boil-off depends on tank size, insulation, storage time and fill level; sloshing, stratification and ortho-para conversion add to it (Section 6.3).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Only a 1,250 m³ demonstration carrier has sailed; the commercial design is 160,000 m³, 128 times larger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7 and 10.3 · LH₂ carriers · cargo capacity in m³</a:t>
            </a:r>
            <a:endParaRPr lang="en-US" sz="1100" dirty="0"/>
          </a:p>
        </p:txBody>
      </p:sp>
      <p:pic>
        <p:nvPicPr>
          <p:cNvPr id="5" name="ship-image" descr="Suiso Frontier LH2 carrier at s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120640" cy="199788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598089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Suiso Frontier (Kawasaki): 116 m long, 1,250 m³ (~75 t LH₂), 13 knots, about 8,000 gross tonnes. First international LH₂ voyage in 2022.</a:t>
            </a:r>
            <a:endParaRPr lang="en-US" sz="1300" dirty="0"/>
          </a:p>
        </p:txBody>
      </p:sp>
      <p:graphicFrame>
        <p:nvGraphicFramePr>
          <p:cNvPr id="7" name="ship-size-chart" descr=""/>
          <p:cNvGraphicFramePr/>
          <p:nvPr/>
        </p:nvGraphicFramePr>
        <p:xfrm>
          <a:off x="5943600" y="141732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mod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  <a:gridCol w="51480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distribution, refuelling stations, smaller deliveries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capacity; higher cost per kg over long distances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volumes over longer inland distances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rail infrastructure and dedicated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Large-scale, long-distance and international supply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ship and terminal CAPEX; boil-off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basis-note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Road and rail all use vacuum-insulated cryogenic tanks; mode choice depends on distance, volume, delivery frequency, infrastructure, boil-off and cost (Section 7.3).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Kawasaki's specification is the chain's design basis: 8–9 kWh/kg to liquefy, 0.1 %/day boil-off in tanks and 0.2 %/day at sea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10 · KHI technical specification</a:t>
            </a:r>
            <a:endParaRPr lang="en-US" sz="1100" dirty="0"/>
          </a:p>
        </p:txBody>
      </p:sp>
      <p:sp>
        <p:nvSpPr>
          <p:cNvPr id="5" name="chain-step-1"/>
          <p:cNvSpPr/>
          <p:nvPr/>
        </p:nvSpPr>
        <p:spPr>
          <a:xfrm>
            <a:off x="548640" y="1508760"/>
            <a:ext cx="2635758" cy="685800"/>
          </a:xfrm>
          <a:prstGeom prst="homePlate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1949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Liquefier</a:t>
            </a:r>
            <a:endParaRPr lang="en-US" sz="1500" dirty="0"/>
          </a:p>
        </p:txBody>
      </p:sp>
      <p:sp>
        <p:nvSpPr>
          <p:cNvPr id="7" name="chain-step-2"/>
          <p:cNvSpPr/>
          <p:nvPr/>
        </p:nvSpPr>
        <p:spPr>
          <a:xfrm>
            <a:off x="3367278" y="1508760"/>
            <a:ext cx="2635758" cy="685800"/>
          </a:xfrm>
          <a:prstGeom prst="chevron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78758" y="1508760"/>
            <a:ext cx="1949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Export terminal</a:t>
            </a:r>
            <a:endParaRPr lang="en-US" sz="1500" dirty="0"/>
          </a:p>
        </p:txBody>
      </p:sp>
      <p:sp>
        <p:nvSpPr>
          <p:cNvPr id="9" name="chain-step-3"/>
          <p:cNvSpPr/>
          <p:nvPr/>
        </p:nvSpPr>
        <p:spPr>
          <a:xfrm>
            <a:off x="6185916" y="1508760"/>
            <a:ext cx="2635758" cy="685800"/>
          </a:xfrm>
          <a:prstGeom prst="chevron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97396" y="1508760"/>
            <a:ext cx="1949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LH₂ carrier</a:t>
            </a:r>
            <a:endParaRPr lang="en-US" sz="1500" dirty="0"/>
          </a:p>
        </p:txBody>
      </p:sp>
      <p:sp>
        <p:nvSpPr>
          <p:cNvPr id="11" name="chain-step-4"/>
          <p:cNvSpPr/>
          <p:nvPr/>
        </p:nvSpPr>
        <p:spPr>
          <a:xfrm>
            <a:off x="9004554" y="1508760"/>
            <a:ext cx="2635758" cy="685800"/>
          </a:xfrm>
          <a:prstGeom prst="chevron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6034" y="1508760"/>
            <a:ext cx="1949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Import &amp; regasification</a:t>
            </a:r>
            <a:endParaRPr lang="en-US" sz="1500" dirty="0"/>
          </a:p>
        </p:txBody>
      </p:sp>
      <p:sp>
        <p:nvSpPr>
          <p:cNvPr id="13" name="spec-1"/>
          <p:cNvSpPr/>
          <p:nvPr/>
        </p:nvSpPr>
        <p:spPr>
          <a:xfrm>
            <a:off x="548640" y="2377440"/>
            <a:ext cx="2635758" cy="3246120"/>
          </a:xfrm>
          <a:prstGeom prst="roundRect">
            <a:avLst>
              <a:gd name="adj" fmla="val 2082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514600"/>
            <a:ext cx="24071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115 t/day per train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8–9 kWh/kg H₂ now; 6 at large scale, gains expected 2035–2040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H₂ Claude cycle with N₂ pre-cooling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Iron-based ortho-para catalyst inside the liquefier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Minimum economic scale ~10,000 tpa</a:t>
            </a:r>
            <a:endParaRPr lang="en-US" sz="1400" dirty="0"/>
          </a:p>
        </p:txBody>
      </p:sp>
      <p:sp>
        <p:nvSpPr>
          <p:cNvPr id="15" name="spec-2"/>
          <p:cNvSpPr/>
          <p:nvPr/>
        </p:nvSpPr>
        <p:spPr>
          <a:xfrm>
            <a:off x="3367278" y="2377440"/>
            <a:ext cx="2635758" cy="3246120"/>
          </a:xfrm>
          <a:prstGeom prst="roundRect">
            <a:avLst>
              <a:gd name="adj" fmla="val 2082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7006" y="2514600"/>
            <a:ext cx="24071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 to 4,000 t (~56,000 m³) per tank, not yet built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Boil-off 0.1 %/day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Boil-off re-liquefied at 8 kWh/kg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Jetty and loading arms costed on an LNG basis</a:t>
            </a:r>
            <a:endParaRPr lang="en-US" sz="1400" dirty="0"/>
          </a:p>
        </p:txBody>
      </p:sp>
      <p:sp>
        <p:nvSpPr>
          <p:cNvPr id="17" name="spec-3"/>
          <p:cNvSpPr/>
          <p:nvPr/>
        </p:nvSpPr>
        <p:spPr>
          <a:xfrm>
            <a:off x="6185916" y="2377440"/>
            <a:ext cx="2635758" cy="3246120"/>
          </a:xfrm>
          <a:prstGeom prst="roundRect">
            <a:avLst>
              <a:gd name="adj" fmla="val 2082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5644" y="2514600"/>
            <a:ext cx="24071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160,000 m³ commercial design; 40,000 m³ being built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29.6 km/h (about 16 knots)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Boil-off 0.2 %/day, burned in a dual-fuel engine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onboard re-liquefaction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1.30 % vaporised at loading, 1.25 % at unloading</a:t>
            </a:r>
            <a:endParaRPr lang="en-US" sz="1400" dirty="0"/>
          </a:p>
        </p:txBody>
      </p:sp>
      <p:sp>
        <p:nvSpPr>
          <p:cNvPr id="19" name="spec-4"/>
          <p:cNvSpPr/>
          <p:nvPr/>
        </p:nvSpPr>
        <p:spPr>
          <a:xfrm>
            <a:off x="9004554" y="2377440"/>
            <a:ext cx="2635758" cy="3246120"/>
          </a:xfrm>
          <a:prstGeom prst="roundRect">
            <a:avLst>
              <a:gd name="adj" fmla="val 2082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14282" y="2514600"/>
            <a:ext cx="24071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65,000 m³ tanks, boil-off 0.1 %/day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Open-rack vaporiser using seawater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3.8 MJ/kg of heat from seawater, not counted as purchased energy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Ship-to-ship transfer and floating storage not yet considered</a:t>
            </a:r>
            <a:endParaRPr lang="en-US" sz="1400" dirty="0"/>
          </a:p>
        </p:txBody>
      </p:sp>
      <p:sp>
        <p:nvSpPr>
          <p:cNvPr id="21" name="basis-note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Source: Kawasaki questionnaire reply and supplemental information, as recorded in Section 10. Export-terminal CAPEX factors are in Section 8.2.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Export-facility cost is a Class 5 estimate (±30–50 %): the liquefier dominates, and its power use should fall from ~10 to ~6 kWh/kg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8 and 10.1–10.2 · export-facility CAPEX inputs · USD, cost year not stated</a:t>
            </a:r>
            <a:endParaRPr lang="en-US" sz="1100" dirty="0"/>
          </a:p>
        </p:txBody>
      </p:sp>
      <p:sp>
        <p:nvSpPr>
          <p:cNvPr id="5" name="cost-row-1"/>
          <p:cNvSpPr/>
          <p:nvPr/>
        </p:nvSpPr>
        <p:spPr>
          <a:xfrm>
            <a:off x="548640" y="1508760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636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H₂ liquefier (largest item)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562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2,250 kUSD per t/day at 30 t/day · scaling exponent −0.38 · fixed O&amp;M 4 %/yr, power extra</a:t>
            </a:r>
            <a:endParaRPr lang="en-US" sz="1300" dirty="0"/>
          </a:p>
        </p:txBody>
      </p:sp>
      <p:sp>
        <p:nvSpPr>
          <p:cNvPr id="8" name="cost-row-2"/>
          <p:cNvSpPr/>
          <p:nvPr/>
        </p:nvSpPr>
        <p:spPr>
          <a:xfrm>
            <a:off x="548640" y="2359152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140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LH₂ storage tanks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066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24 USD/kg LH₂ (steel sphere ×2.5 for insulation and installation) · scaling factor 0.6</a:t>
            </a:r>
            <a:endParaRPr lang="en-US" sz="1300" dirty="0"/>
          </a:p>
        </p:txBody>
      </p:sp>
      <p:sp>
        <p:nvSpPr>
          <p:cNvPr id="11" name="cost-row-3"/>
          <p:cNvSpPr/>
          <p:nvPr/>
        </p:nvSpPr>
        <p:spPr>
          <a:xfrm>
            <a:off x="548640" y="3209544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2644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Boil-off re-liquefaction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570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 MUSD for a 6 t/day unit · scaling factor 0.85 · 8 kWh/kg, to be confirmed</a:t>
            </a:r>
            <a:endParaRPr lang="en-US" sz="1300" dirty="0"/>
          </a:p>
        </p:txBody>
      </p:sp>
      <p:sp>
        <p:nvSpPr>
          <p:cNvPr id="14" name="cost-row-4"/>
          <p:cNvSpPr/>
          <p:nvPr/>
        </p:nvSpPr>
        <p:spPr>
          <a:xfrm>
            <a:off x="548640" y="4059936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41148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Jetty and cryogenic loading arms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4074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15,960 USD per m³/h of loading rate (LNG benchmark +20 % for LH₂)</a:t>
            </a:r>
            <a:endParaRPr lang="en-US" sz="1300" dirty="0"/>
          </a:p>
        </p:txBody>
      </p:sp>
      <p:sp>
        <p:nvSpPr>
          <p:cNvPr id="17" name="cost-row-5"/>
          <p:cNvSpPr/>
          <p:nvPr/>
        </p:nvSpPr>
        <p:spPr>
          <a:xfrm>
            <a:off x="548640" y="4910328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9651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Adders on the subtotal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257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+25 % utilities and civil · +20 % indirects and contingency · ×0.85 India · O&amp;M 2.5 %/yr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Liquefier CAPEX per t/day of capacity, kUSD</a:t>
            </a:r>
            <a:endParaRPr lang="en-US" sz="1400" dirty="0"/>
          </a:p>
        </p:txBody>
      </p:sp>
      <p:graphicFrame>
        <p:nvGraphicFramePr>
          <p:cNvPr id="21" name="capex-scaling-chart" descr=""/>
          <p:cNvGraphicFramePr/>
          <p:nvPr/>
        </p:nvGraphicFramePr>
        <p:xfrm>
          <a:off x="7178040" y="1783080"/>
          <a:ext cx="45262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269480" y="43159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Computed with the Section 10.1 rule: 2,250 × (size ÷ 30)^−0.38, rounded to 10. 115 t/day = one Kawasaki train.</a:t>
            </a:r>
            <a:endParaRPr lang="en-US" sz="1100" dirty="0"/>
          </a:p>
        </p:txBody>
      </p:sp>
      <p:sp>
        <p:nvSpPr>
          <p:cNvPr id="23" name="stat-sec-path"/>
          <p:cNvSpPr txBox="1"/>
          <p:nvPr/>
        </p:nvSpPr>
        <p:spPr>
          <a:xfrm>
            <a:off x="7269480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10 → 6 kWh/kg</a:t>
            </a:r>
            <a:endParaRPr lang="en-US" sz="2800" dirty="0"/>
          </a:p>
        </p:txBody>
      </p:sp>
      <p:sp>
        <p:nvSpPr>
          <p:cNvPr id="24" name="stat-label-sec-path"/>
          <p:cNvSpPr txBox="1"/>
          <p:nvPr/>
        </p:nvSpPr>
        <p:spPr>
          <a:xfrm>
            <a:off x="7269480" y="5330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Liquefier power use today and as plants grow (Section 8.1, Figure 10)</a:t>
            </a:r>
            <a:endParaRPr lang="en-US" sz="1400" dirty="0"/>
          </a:p>
        </p:txBody>
      </p:sp>
      <p:sp>
        <p:nvSpPr>
          <p:cNvPr id="25" name="basis-note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Tank cost reference size is still ‘xx m³’ in Section 10.2. Storage is sized from plant output, ship size and calls a year (6 loadings a year, 5 % minimum heel assumed).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There is no dedicated LH₂ regulation yet: Japan has approved projects case by case, so a permitting timeline cannot be set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11 · regulatory compliance</a:t>
            </a:r>
            <a:endParaRPr lang="en-US" sz="1100" dirty="0"/>
          </a:p>
        </p:txBody>
      </p:sp>
      <p:sp>
        <p:nvSpPr>
          <p:cNvPr id="5" name="exists-panel"/>
          <p:cNvSpPr/>
          <p:nvPr/>
        </p:nvSpPr>
        <p:spPr>
          <a:xfrm>
            <a:off x="548640" y="1508760"/>
            <a:ext cx="4114800" cy="4114800"/>
          </a:xfrm>
          <a:prstGeom prst="roundRect">
            <a:avLst>
              <a:gd name="adj" fmla="val 1333"/>
            </a:avLst>
          </a:prstGeom>
          <a:solidFill>
            <a:srgbClr val="60269E"/>
          </a:solidFill>
          <a:ln w="9525">
            <a:solidFill>
              <a:srgbClr val="6026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exists today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Japan: project elements not covered by existing rules were reviewed and approved by a special evaluation committee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Elsewhere: a similar country-by-country approach may follow, but this is not confirmed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508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 yet identified in the sources reviewed</a:t>
            </a:r>
            <a:endParaRPr lang="en-US" sz="1800" dirty="0"/>
          </a:p>
        </p:txBody>
      </p:sp>
      <p:sp>
        <p:nvSpPr>
          <p:cNvPr id="9" name="gap-icon-1"/>
          <p:cNvSpPr/>
          <p:nvPr/>
        </p:nvSpPr>
        <p:spPr>
          <a:xfrm>
            <a:off x="4937760" y="2084832"/>
            <a:ext cx="384048" cy="38404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0116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Classification-society rules or Approval in Principle for LH₂ carriers</a:t>
            </a:r>
            <a:endParaRPr lang="en-US" sz="1500" dirty="0"/>
          </a:p>
        </p:txBody>
      </p:sp>
      <p:sp>
        <p:nvSpPr>
          <p:cNvPr id="12" name="gap-icon-2"/>
          <p:cNvSpPr/>
          <p:nvPr/>
        </p:nvSpPr>
        <p:spPr>
          <a:xfrm>
            <a:off x="4937760" y="2798064"/>
            <a:ext cx="384048" cy="38404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272491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Classification of ship cargo tanks</a:t>
            </a:r>
            <a:endParaRPr lang="en-US" sz="1500" dirty="0"/>
          </a:p>
        </p:txBody>
      </p:sp>
      <p:sp>
        <p:nvSpPr>
          <p:cNvPr id="15" name="gap-icon-3"/>
          <p:cNvSpPr/>
          <p:nvPr/>
        </p:nvSpPr>
        <p:spPr>
          <a:xfrm>
            <a:off x="4937760" y="3511296"/>
            <a:ext cx="384048" cy="38404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34381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and safety standards for liquefiers, ships and terminals</a:t>
            </a:r>
            <a:endParaRPr lang="en-US" sz="1500" dirty="0"/>
          </a:p>
        </p:txBody>
      </p:sp>
      <p:sp>
        <p:nvSpPr>
          <p:cNvPr id="18" name="gap-icon-4"/>
          <p:cNvSpPr/>
          <p:nvPr/>
        </p:nvSpPr>
        <p:spPr>
          <a:xfrm>
            <a:off x="4937760" y="4224528"/>
            <a:ext cx="384048" cy="38404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415137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Carbon-border or emissions-reporting requirements</a:t>
            </a:r>
            <a:endParaRPr lang="en-US" sz="1500" dirty="0"/>
          </a:p>
        </p:txBody>
      </p:sp>
      <p:sp>
        <p:nvSpPr>
          <p:cNvPr id="21" name="gap-icon-5"/>
          <p:cNvSpPr/>
          <p:nvPr/>
        </p:nvSpPr>
        <p:spPr>
          <a:xfrm>
            <a:off x="4937760" y="4937760"/>
            <a:ext cx="384048" cy="384048"/>
          </a:xfrm>
          <a:prstGeom prst="ellipse">
            <a:avLst/>
          </a:prstGeom>
          <a:solidFill>
            <a:srgbClr val="2977D6"/>
          </a:solidFill>
          <a:ln w="12700">
            <a:solidFill>
              <a:srgbClr val="2977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48646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Carbon-intensity disclosure for the liquefier: needs a feasibility study, as it varies with plant size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Two challenges dominate: liquefying 100,000 t a year needs about 103 MW non-stop, and ship boil-off is still unproven at full scale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12 · key challenges</a:t>
            </a:r>
            <a:endParaRPr lang="en-US" sz="1100" dirty="0"/>
          </a:p>
        </p:txBody>
      </p:sp>
      <p:sp>
        <p:nvSpPr>
          <p:cNvPr id="5" name="challenge-energy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6" name="stat-103"/>
          <p:cNvSpPr txBox="1"/>
          <p:nvPr/>
        </p:nvSpPr>
        <p:spPr>
          <a:xfrm>
            <a:off x="822960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103 MW</a:t>
            </a:r>
            <a:endParaRPr lang="en-US" sz="4000" dirty="0"/>
          </a:p>
        </p:txBody>
      </p:sp>
      <p:sp>
        <p:nvSpPr>
          <p:cNvPr id="7" name="stat-label-103"/>
          <p:cNvSpPr txBox="1"/>
          <p:nvPr/>
        </p:nvSpPr>
        <p:spPr>
          <a:xfrm>
            <a:off x="822960" y="23591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power running all the time, just to liquefy 100,000 t of hydrogen a year. Finding that much low-carbon power at a low price is critical.</a:t>
            </a:r>
            <a:endParaRPr lang="en-US" sz="1400" dirty="0"/>
          </a:p>
        </p:txBody>
      </p:sp>
      <p:sp>
        <p:nvSpPr>
          <p:cNvPr id="8" name="challenge-bog"/>
          <p:cNvSpPr/>
          <p:nvPr/>
        </p:nvSpPr>
        <p:spPr>
          <a:xfrm>
            <a:off x="548640" y="36576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9" name="stat-bog"/>
          <p:cNvSpPr txBox="1"/>
          <p:nvPr/>
        </p:nvSpPr>
        <p:spPr>
          <a:xfrm>
            <a:off x="8229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0.2 vs ~3.4 %/day</a:t>
            </a:r>
            <a:endParaRPr lang="en-US" sz="3400" dirty="0"/>
          </a:p>
        </p:txBody>
      </p:sp>
      <p:sp>
        <p:nvSpPr>
          <p:cNvPr id="10" name="stat-label-bog"/>
          <p:cNvSpPr txBox="1"/>
          <p:nvPr/>
        </p:nvSpPr>
        <p:spPr>
          <a:xfrm>
            <a:off x="822960" y="450799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Planned ship boil-off against rates reported in smaller-scale Suiso Frontier studies. No full-scale vessel data yet; one voyage vented significant hydrogen.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5087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Other challenges</a:t>
            </a:r>
            <a:endParaRPr lang="en-US" sz="1800" dirty="0"/>
          </a:p>
        </p:txBody>
      </p:sp>
      <p:sp>
        <p:nvSpPr>
          <p:cNvPr id="12" name="challenge-num-1"/>
          <p:cNvSpPr/>
          <p:nvPr/>
        </p:nvSpPr>
        <p:spPr>
          <a:xfrm>
            <a:off x="6263640" y="2057400"/>
            <a:ext cx="384048" cy="384048"/>
          </a:xfrm>
          <a:prstGeom prst="ellipse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20116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Bigger ships cost more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232257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 demo ship has sailed; large cargo tanks are hard to build; ship price not shared</a:t>
            </a:r>
            <a:endParaRPr lang="en-US" sz="1400" dirty="0"/>
          </a:p>
        </p:txBody>
      </p:sp>
      <p:sp>
        <p:nvSpPr>
          <p:cNvPr id="16" name="challenge-num-2"/>
          <p:cNvSpPr/>
          <p:nvPr/>
        </p:nvSpPr>
        <p:spPr>
          <a:xfrm>
            <a:off x="6263640" y="2971800"/>
            <a:ext cx="384048" cy="384048"/>
          </a:xfrm>
          <a:prstGeom prst="ellipse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29260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Costs are still unclear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23697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Liquefaction and regas cost per kg not shared; needs a feasibility study</a:t>
            </a:r>
            <a:endParaRPr lang="en-US" sz="1400" dirty="0"/>
          </a:p>
        </p:txBody>
      </p:sp>
      <p:sp>
        <p:nvSpPr>
          <p:cNvPr id="20" name="challenge-num-3"/>
          <p:cNvSpPr/>
          <p:nvPr/>
        </p:nvSpPr>
        <p:spPr>
          <a:xfrm>
            <a:off x="6263640" y="3886200"/>
            <a:ext cx="384048" cy="384048"/>
          </a:xfrm>
          <a:prstGeom prst="ellipse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63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38404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Rules and permits uncertain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415137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 by case so far, mainly in Japan (see previous slide)</a:t>
            </a:r>
            <a:endParaRPr lang="en-US" sz="1400" dirty="0"/>
          </a:p>
        </p:txBody>
      </p:sp>
      <p:sp>
        <p:nvSpPr>
          <p:cNvPr id="24" name="challenge-num-4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rgbClr val="60269E"/>
          </a:solidFill>
          <a:ln w="12700">
            <a:solidFill>
              <a:srgbClr val="60269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47548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Materials and safety need detail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506577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Cargo-tank metal not confirmed; likely needs a bigger safety zone than ammonia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LH₂ and NH₃ are compared on the same job: one 40,000 m³ cargo, from hydrogen gas at the export plant to hydrogen gas at the import terminal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13.1 · basis of the LH₂ vs NH₃ comparison</a:t>
            </a:r>
            <a:endParaRPr lang="en-US" sz="1100" dirty="0"/>
          </a:p>
        </p:txBody>
      </p:sp>
      <p:sp>
        <p:nvSpPr>
          <p:cNvPr id="5" name="lane-1"/>
          <p:cNvSpPr/>
          <p:nvPr/>
        </p:nvSpPr>
        <p:spPr>
          <a:xfrm>
            <a:off x="548640" y="150876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4A3AA7"/>
          </a:solidFill>
          <a:ln w="9525">
            <a:solidFill>
              <a:srgbClr val="4A3AA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LH₂ route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2,832 t of H₂ per cargo</a:t>
            </a:r>
            <a:endParaRPr lang="en-US" sz="1400" dirty="0"/>
          </a:p>
        </p:txBody>
      </p:sp>
      <p:sp>
        <p:nvSpPr>
          <p:cNvPr id="8" name="lane-1-step-1"/>
          <p:cNvSpPr/>
          <p:nvPr/>
        </p:nvSpPr>
        <p:spPr>
          <a:xfrm>
            <a:off x="2834640" y="150876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71800" y="164592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 cargo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1168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Liquefier, 9 kWh/kg H₂</a:t>
            </a:r>
            <a:endParaRPr lang="en-US" sz="1400" dirty="0"/>
          </a:p>
        </p:txBody>
      </p:sp>
      <p:sp>
        <p:nvSpPr>
          <p:cNvPr id="11" name="lane-1-step-2"/>
          <p:cNvSpPr/>
          <p:nvPr/>
        </p:nvSpPr>
        <p:spPr>
          <a:xfrm>
            <a:off x="5081778" y="150876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8938" y="164592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Export tank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218938" y="201168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Boil-off 0.1 %/day, re-liquefied</a:t>
            </a:r>
            <a:endParaRPr lang="en-US" sz="1400" dirty="0"/>
          </a:p>
        </p:txBody>
      </p:sp>
      <p:sp>
        <p:nvSpPr>
          <p:cNvPr id="14" name="lane-1-step-3"/>
          <p:cNvSpPr/>
          <p:nvPr/>
        </p:nvSpPr>
        <p:spPr>
          <a:xfrm>
            <a:off x="7328916" y="150876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66076" y="164592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Voyage, 20 days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466076" y="201168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Boil-off 0.40 %/day burned as engine fuel</a:t>
            </a:r>
            <a:endParaRPr lang="en-US" sz="1400" dirty="0"/>
          </a:p>
        </p:txBody>
      </p:sp>
      <p:sp>
        <p:nvSpPr>
          <p:cNvPr id="17" name="lane-1-step-4"/>
          <p:cNvSpPr/>
          <p:nvPr/>
        </p:nvSpPr>
        <p:spPr>
          <a:xfrm>
            <a:off x="9576054" y="150876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13214" y="164592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Import terminal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713214" y="201168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Seawater vaporiser, 3.8 MJ/kg of free heat</a:t>
            </a:r>
            <a:endParaRPr lang="en-US" sz="1400" dirty="0"/>
          </a:p>
        </p:txBody>
      </p:sp>
      <p:sp>
        <p:nvSpPr>
          <p:cNvPr id="20" name="lane-2"/>
          <p:cNvSpPr/>
          <p:nvPr/>
        </p:nvSpPr>
        <p:spPr>
          <a:xfrm>
            <a:off x="548640" y="347472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2977D6"/>
          </a:solidFill>
          <a:ln w="9525">
            <a:solidFill>
              <a:srgbClr val="2977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NH₃ route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27,280 t of NH₃ = 4,871 t of H₂</a:t>
            </a:r>
            <a:endParaRPr lang="en-US" sz="1400" dirty="0"/>
          </a:p>
        </p:txBody>
      </p:sp>
      <p:sp>
        <p:nvSpPr>
          <p:cNvPr id="23" name="lane-2-step-1"/>
          <p:cNvSpPr/>
          <p:nvPr/>
        </p:nvSpPr>
        <p:spPr>
          <a:xfrm>
            <a:off x="2834640" y="347472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71800" y="361188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 cargo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971800" y="397764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Haber-Bosch, 1 kWh/kg H₂ (team input)</a:t>
            </a:r>
            <a:endParaRPr lang="en-US" sz="1400" dirty="0"/>
          </a:p>
        </p:txBody>
      </p:sp>
      <p:sp>
        <p:nvSpPr>
          <p:cNvPr id="26" name="lane-2-step-2"/>
          <p:cNvSpPr/>
          <p:nvPr/>
        </p:nvSpPr>
        <p:spPr>
          <a:xfrm>
            <a:off x="5081778" y="347472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18938" y="361188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Export tank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218938" y="397764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Boil-off 0.05 %/day, re-liquefied</a:t>
            </a:r>
            <a:endParaRPr lang="en-US" sz="1400" dirty="0"/>
          </a:p>
        </p:txBody>
      </p:sp>
      <p:sp>
        <p:nvSpPr>
          <p:cNvPr id="29" name="lane-2-step-3"/>
          <p:cNvSpPr/>
          <p:nvPr/>
        </p:nvSpPr>
        <p:spPr>
          <a:xfrm>
            <a:off x="7328916" y="347472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66076" y="361188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Voyage, 20 days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466076" y="397764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Boil-off 0.15 %/day re-liquefied; ammonia bought as fuel</a:t>
            </a:r>
            <a:endParaRPr lang="en-US" sz="1400" dirty="0"/>
          </a:p>
        </p:txBody>
      </p:sp>
      <p:sp>
        <p:nvSpPr>
          <p:cNvPr id="32" name="lane-2-step-4"/>
          <p:cNvSpPr/>
          <p:nvPr/>
        </p:nvSpPr>
        <p:spPr>
          <a:xfrm>
            <a:off x="9576054" y="3474720"/>
            <a:ext cx="2064258" cy="1783080"/>
          </a:xfrm>
          <a:prstGeom prst="roundRect">
            <a:avLst>
              <a:gd name="adj" fmla="val 307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713214" y="3611880"/>
            <a:ext cx="1789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Import terminal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713214" y="3977640"/>
            <a:ext cx="1789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Cracker: 6.5 kg NH₃ per kg H₂ gas-fired, 7.2 clean fuel</a:t>
            </a:r>
            <a:endParaRPr lang="en-US" sz="1400" dirty="0"/>
          </a:p>
        </p:txBody>
      </p:sp>
      <p:sp>
        <p:nvSpPr>
          <p:cNvPr id="35" name="basis-note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Both export tanks 60,000 m³ with 5 days per cargo. Energy on a lower-heating-value basis; electricity as delivered kWh. Chosen values: 20 sea days, tank size and storage time, 3.94 kWh/kg to re-liquefy LH₂ boil-off. Several NH₃ values are team inputs or estimates that still need sources.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On current inputs, ammonia with a gas-fired cracker uses about 14 % less energy than LH₂: 11.36 against 13.27 kWh/kg of hydrogen delivered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13.6 · end-to-end energy · kWh per kg H₂ delivered</a:t>
            </a:r>
            <a:endParaRPr lang="en-US" sz="1100" dirty="0"/>
          </a:p>
        </p:txBody>
      </p:sp>
      <p:graphicFrame>
        <p:nvGraphicFramePr>
          <p:cNvPr id="5" name="full-chain-chart" descr=""/>
          <p:cNvGraphicFramePr/>
          <p:nvPr/>
        </p:nvGraphicFramePr>
        <p:xfrm>
          <a:off x="457200" y="141732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0" y="150876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Share of hydrogen delivered</a:t>
            </a:r>
            <a:endParaRPr lang="en-US" sz="1500" dirty="0"/>
          </a:p>
        </p:txBody>
      </p:sp>
      <p:graphicFrame>
        <p:nvGraphicFramePr>
          <p:cNvPr id="15" name="delivered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920240"/>
          <a:ext cx="350215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99032"/>
                <a:gridCol w="960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Burned on the 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 t as ship fuel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NH₃, gas-fired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 t in cracker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NH₃, clean fuel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1,083 t in cracker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138160" y="388620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Tonnes are per 40,000 m³ cargo (H₂ or H₂ equivalent). NH₃ ship fuel is bought separately, so the NH₃ cargo arrives whole (assumption).</a:t>
            </a:r>
            <a:endParaRPr lang="en-US" sz="1200" dirty="0"/>
          </a:p>
        </p:txBody>
      </p:sp>
      <p:sp>
        <p:nvSpPr>
          <p:cNvPr id="9" name="basis-note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Labels under 0.6 kWh/kg hidden (export-tank boil-off 0.01–0.03; LH₂ ship fuel bought 0.51; LH₂ regas 0.05). LH₂ ship boil-off 0.40 %/day; Haber-Bosch 1 kWh/kg H₂ (team input). Totals are 34 % and 40 % of the hydrogen LHV.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LH₂ pays 8.6 kWh/kg more upstream and 1.8 more at sea, then wins back 8.5 downstream because vaporising needs almost no energy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13.2–13.6 · energy by stream, LH₂ against gas-fired NH₃ · kWh per kg H₂ delivered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LH₂ minus NH₃ (gas-fired cracker), kWh/kg H₂</a:t>
            </a:r>
            <a:endParaRPr lang="en-US" sz="1500" dirty="0"/>
          </a:p>
        </p:txBody>
      </p:sp>
      <p:graphicFrame>
        <p:nvGraphicFramePr>
          <p:cNvPr id="6" name="stream-chart" descr=""/>
          <p:cNvGraphicFramePr/>
          <p:nvPr/>
        </p:nvGraphicFramePr>
        <p:xfrm>
          <a:off x="457200" y="178308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strea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651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114300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sea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chain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675120" y="4206240"/>
            <a:ext cx="4965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Upstream: the liquefier needs about nine times the energy per kg of the ammonia plant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sea: LH₂ burns 227 t of its own cargo as engine fuel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Downstream: the cracker burns ammonia and natural gas; LH₂ regas uses free seawater heat</a:t>
            </a:r>
            <a:endParaRPr lang="en-US" sz="1400" dirty="0"/>
          </a:p>
        </p:txBody>
      </p:sp>
      <p:sp>
        <p:nvSpPr>
          <p:cNvPr id="9" name="basis-note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Positive = LH₂ uses more energy. At sea includes the cargo hydrogen LH₂ burns. Haber-Bosch power and sea days are still placeholders, so the net figure will move with them.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The ranking can flip: LH₂ uses the least energy if Haber-Bosch needs more than ~2.65 kWh/kg H₂, or once hydrogen production is counted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13.3, 13.6 and 13.7 · kWh per kg H₂ delivered; supply case 100,000 t H₂ a year</a:t>
            </a:r>
            <a:endParaRPr lang="en-US" sz="1100" dirty="0"/>
          </a:p>
        </p:txBody>
      </p:sp>
      <p:graphicFrame>
        <p:nvGraphicFramePr>
          <p:cNvPr id="17" name="sensitiv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09728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NH₃ gas-fired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NH₃ clean fuel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inputs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LH₂ ship boil-off 0.2 %/day, not 0.40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Haber-Bosch 2.65 kWh/kg H₂, not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Haber-Bosch 3 kWh/kg H₂, not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Hydrogen production included (electrolysis 60 kWh/kg)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029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Lowest energy in each case shown in purple.</a:t>
            </a:r>
            <a:endParaRPr lang="en-US" sz="1200" dirty="0"/>
          </a:p>
        </p:txBody>
      </p:sp>
      <p:sp>
        <p:nvSpPr>
          <p:cNvPr id="7" name="annual-case"/>
          <p:cNvSpPr/>
          <p:nvPr/>
        </p:nvSpPr>
        <p:spPr>
          <a:xfrm>
            <a:off x="7818120" y="1508760"/>
            <a:ext cx="3822192" cy="4069080"/>
          </a:xfrm>
          <a:prstGeom prst="roundRect">
            <a:avLst>
              <a:gd name="adj" fmla="val 1435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4672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Delivering 100,000 t of H₂ a year</a:t>
            </a:r>
            <a:endParaRPr lang="en-US" sz="1500" dirty="0"/>
          </a:p>
        </p:txBody>
      </p:sp>
      <p:sp>
        <p:nvSpPr>
          <p:cNvPr id="9" name="stat-ships"/>
          <p:cNvSpPr txBox="1"/>
          <p:nvPr/>
        </p:nvSpPr>
        <p:spPr>
          <a:xfrm>
            <a:off x="804672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5 vs 4 ships</a:t>
            </a:r>
            <a:endParaRPr lang="en-US" sz="2800" dirty="0"/>
          </a:p>
        </p:txBody>
      </p:sp>
      <p:sp>
        <p:nvSpPr>
          <p:cNvPr id="10" name="stat-label-ships"/>
          <p:cNvSpPr txBox="1"/>
          <p:nvPr/>
        </p:nvSpPr>
        <p:spPr>
          <a:xfrm>
            <a:off x="8046720" y="2542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40,000 m³ ships for LH₂ against gas-fired NH₃; LH₂ needs 4.97, close to a sixth</a:t>
            </a:r>
            <a:endParaRPr lang="en-US" sz="1400" dirty="0"/>
          </a:p>
        </p:txBody>
      </p:sp>
      <p:sp>
        <p:nvSpPr>
          <p:cNvPr id="11" name="stat-produced"/>
          <p:cNvSpPr txBox="1"/>
          <p:nvPr/>
        </p:nvSpPr>
        <p:spPr>
          <a:xfrm>
            <a:off x="80467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108.7 vs 116.1 ktpa</a:t>
            </a:r>
            <a:endParaRPr lang="en-US" sz="2600" dirty="0"/>
          </a:p>
        </p:txBody>
      </p:sp>
      <p:sp>
        <p:nvSpPr>
          <p:cNvPr id="12" name="stat-label-produced"/>
          <p:cNvSpPr txBox="1"/>
          <p:nvPr/>
        </p:nvSpPr>
        <p:spPr>
          <a:xfrm>
            <a:off x="8046720" y="37307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Hydrogen to produce for 100 ktpa delivered (LH₂ against gas-fired NH₃)</a:t>
            </a:r>
            <a:endParaRPr lang="en-US" sz="1400" dirty="0"/>
          </a:p>
        </p:txBody>
      </p:sp>
      <p:sp>
        <p:nvSpPr>
          <p:cNvPr id="13" name="stat-power"/>
          <p:cNvSpPr txBox="1"/>
          <p:nvPr/>
        </p:nvSpPr>
        <p:spPr>
          <a:xfrm>
            <a:off x="804672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152 vs 130 MW</a:t>
            </a:r>
            <a:endParaRPr lang="en-US" sz="2600" dirty="0"/>
          </a:p>
        </p:txBody>
      </p:sp>
      <p:sp>
        <p:nvSpPr>
          <p:cNvPr id="14" name="stat-label-power"/>
          <p:cNvSpPr txBox="1"/>
          <p:nvPr/>
        </p:nvSpPr>
        <p:spPr>
          <a:xfrm>
            <a:off x="8046720" y="4919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chain power, 1,327 against 1,136 GWh a year</a:t>
            </a:r>
            <a:endParaRPr lang="en-US" sz="1400" dirty="0"/>
          </a:p>
        </p:txBody>
      </p:sp>
      <p:sp>
        <p:nvSpPr>
          <p:cNvPr id="15" name="basis-note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Round trip 42.5 days (two 20-day legs, two 1.25-day port calls), 90 % ship availability (assumption), 7.73 voyages per ship a year. The liquefier draws about 112 MW here, against 103 MW in Section 12.1, because it must make 108.7 ktpa.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On energy cost alone, gas-fired ammonia is cheapest at USD 1.208/kg H₂ against USD 1.754 for LH₂; liquefier power is ~78 % of the LH₂ bill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13.8 · energy cost · USD per kg H₂ delivered, cost year not stated</a:t>
            </a:r>
            <a:endParaRPr lang="en-US" sz="1100" dirty="0"/>
          </a:p>
        </p:txBody>
      </p:sp>
      <p:graphicFrame>
        <p:nvGraphicFramePr>
          <p:cNvPr id="5" name="energy-cost-chart" descr=""/>
          <p:cNvGraphicFramePr/>
          <p:nvPr/>
        </p:nvGraphicFramePr>
        <p:xfrm>
          <a:off x="457200" y="141732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ost-stats"/>
          <p:cNvSpPr/>
          <p:nvPr/>
        </p:nvSpPr>
        <p:spPr>
          <a:xfrm>
            <a:off x="8138160" y="1508760"/>
            <a:ext cx="3502152" cy="4069080"/>
          </a:xfrm>
          <a:prstGeom prst="roundRect">
            <a:avLst>
              <a:gd name="adj" fmla="val 1567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7" name="stat-gap"/>
          <p:cNvSpPr txBox="1"/>
          <p:nvPr/>
        </p:nvSpPr>
        <p:spPr>
          <a:xfrm>
            <a:off x="83667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USD 54.5 M a year</a:t>
            </a:r>
            <a:endParaRPr lang="en-US" sz="2600" dirty="0"/>
          </a:p>
        </p:txBody>
      </p:sp>
      <p:sp>
        <p:nvSpPr>
          <p:cNvPr id="8" name="stat-label-gap"/>
          <p:cNvSpPr txBox="1"/>
          <p:nvPr/>
        </p:nvSpPr>
        <p:spPr>
          <a:xfrm>
            <a:off x="8366760" y="21762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Energy-cost gap between LH₂ and gas-fired NH₃ at 100,000 t a year</a:t>
            </a:r>
            <a:endParaRPr lang="en-US" sz="1400" dirty="0"/>
          </a:p>
        </p:txBody>
      </p:sp>
      <p:sp>
        <p:nvSpPr>
          <p:cNvPr id="9" name="stat-zero"/>
          <p:cNvSpPr txBox="1"/>
          <p:nvPr/>
        </p:nvSpPr>
        <p:spPr>
          <a:xfrm>
            <a:off x="836676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USD 1.406/kg</a:t>
            </a:r>
            <a:endParaRPr lang="en-US" sz="2600" dirty="0"/>
          </a:p>
        </p:txBody>
      </p:sp>
      <p:sp>
        <p:nvSpPr>
          <p:cNvPr id="10" name="stat-label-zero"/>
          <p:cNvSpPr txBox="1"/>
          <p:nvPr/>
        </p:nvSpPr>
        <p:spPr>
          <a:xfrm>
            <a:off x="8366760" y="33649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LH₂ energy cost even at a hydrogen price of zero, still above gas-fired NH₃</a:t>
            </a:r>
            <a:endParaRPr lang="en-US" sz="1400" dirty="0"/>
          </a:p>
        </p:txBody>
      </p:sp>
      <p:sp>
        <p:nvSpPr>
          <p:cNvPr id="11" name="stat-breakeven"/>
          <p:cNvSpPr txBox="1"/>
          <p:nvPr/>
        </p:nvSpPr>
        <p:spPr>
          <a:xfrm>
            <a:off x="83667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USD 1.99/kg</a:t>
            </a:r>
            <a:endParaRPr lang="en-US" sz="2600" dirty="0"/>
          </a:p>
        </p:txBody>
      </p:sp>
      <p:sp>
        <p:nvSpPr>
          <p:cNvPr id="12" name="stat-label-breakeven"/>
          <p:cNvSpPr txBox="1"/>
          <p:nvPr/>
        </p:nvSpPr>
        <p:spPr>
          <a:xfrm>
            <a:off x="8366760" y="45537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Hydrogen price below which LH₂ beats the clean-fuel NH₃ route</a:t>
            </a:r>
            <a:endParaRPr lang="en-US" sz="1400" dirty="0"/>
          </a:p>
        </p:txBody>
      </p:sp>
      <p:sp>
        <p:nvSpPr>
          <p:cNvPr id="13" name="basis-note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Prices are team inputs in USD with no cost year: electricity 140 USD/MWh, marine fuel oil 553 USD/t, natural gas 13 USD/MMBtu (LHV), ammonia 700 USD/t; hydrogen 4.00 USD/kg (assumption); import electricity held equal to export (placeholder). Labels under 0.10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Neither carrier wins on every measure: ammonia leads on energy, energy cost and ship count, while LH₂ delivers more of its hydrogen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 13.9 · summary of the LH₂ vs NH₃ screening</a:t>
            </a:r>
            <a:endParaRPr lang="en-US" sz="1100" dirty="0"/>
          </a:p>
        </p:txBody>
      </p:sp>
      <p:sp>
        <p:nvSpPr>
          <p:cNvPr id="5" name="summary-head-1"/>
          <p:cNvSpPr/>
          <p:nvPr/>
        </p:nvSpPr>
        <p:spPr>
          <a:xfrm>
            <a:off x="548640" y="1508760"/>
            <a:ext cx="5454396" cy="548640"/>
          </a:xfrm>
          <a:prstGeom prst="rect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5088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Where LH₂ is ahead</a:t>
            </a:r>
            <a:endParaRPr lang="en-US" sz="1800" dirty="0"/>
          </a:p>
        </p:txBody>
      </p:sp>
      <p:sp>
        <p:nvSpPr>
          <p:cNvPr id="7" name="summary-body-1"/>
          <p:cNvSpPr/>
          <p:nvPr/>
        </p:nvSpPr>
        <p:spPr>
          <a:xfrm>
            <a:off x="548640" y="2057400"/>
            <a:ext cx="5454396" cy="3063240"/>
          </a:xfrm>
          <a:prstGeom prst="roundRect">
            <a:avLst>
              <a:gd name="adj" fmla="val 1791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286000"/>
            <a:ext cx="49971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Delivers 92.0 % of the hydrogen it starts with, against 86.2 % and 77.8 % for NH₃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import terminal only vaporises the liquid: 0.05 kWh/kg, no chemical conversion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Uses the least energy once hydrogen production is counted: 78.49 against 81.00 kWh/kg</a:t>
            </a:r>
            <a:endParaRPr lang="en-US" sz="1700" dirty="0"/>
          </a:p>
        </p:txBody>
      </p:sp>
      <p:sp>
        <p:nvSpPr>
          <p:cNvPr id="9" name="summary-head-2"/>
          <p:cNvSpPr/>
          <p:nvPr/>
        </p:nvSpPr>
        <p:spPr>
          <a:xfrm>
            <a:off x="6185916" y="1508760"/>
            <a:ext cx="5454396" cy="548640"/>
          </a:xfrm>
          <a:prstGeom prst="rect">
            <a:avLst/>
          </a:prstGeom>
          <a:solidFill>
            <a:srgbClr val="2977D6"/>
          </a:solidFill>
          <a:ln w="12700">
            <a:solidFill>
              <a:srgbClr val="2977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68796" y="1508760"/>
            <a:ext cx="5088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Where NH₃ (gas-fired cracker) is ahead</a:t>
            </a:r>
            <a:endParaRPr lang="en-US" sz="1800" dirty="0"/>
          </a:p>
        </p:txBody>
      </p:sp>
      <p:sp>
        <p:nvSpPr>
          <p:cNvPr id="11" name="summary-body-2"/>
          <p:cNvSpPr/>
          <p:nvPr/>
        </p:nvSpPr>
        <p:spPr>
          <a:xfrm>
            <a:off x="6185916" y="2057400"/>
            <a:ext cx="5454396" cy="3063240"/>
          </a:xfrm>
          <a:prstGeom prst="roundRect">
            <a:avLst>
              <a:gd name="adj" fmla="val 1791"/>
            </a:avLst>
          </a:prstGeom>
          <a:solidFill>
            <a:srgbClr val="F1EAF6"/>
          </a:solidFill>
          <a:ln w="9525">
            <a:solidFill>
              <a:srgbClr val="F1EA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2286000"/>
            <a:ext cx="49971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Less energy per kg delivered: 11.36 against 13.27 kWh/kg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Lower energy cost: USD 1.208 against 1.754 per kg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Fewer ships for 100,000 t a year: 4 against 5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Upstream, even a perfect liquefier could not match the ammonia plant</a:t>
            </a:r>
            <a:endParaRPr lang="en-US" sz="1700" dirty="0"/>
          </a:p>
        </p:txBody>
      </p:sp>
      <p:sp>
        <p:nvSpPr>
          <p:cNvPr id="13" name="summary-caveat"/>
          <p:cNvSpPr/>
          <p:nvPr/>
        </p:nvSpPr>
        <p:spPr>
          <a:xfrm>
            <a:off x="548640" y="530352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B4AA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30352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Not yet decided: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capital cost, ship cost and shipping economics still need cost data from a full feasibility study.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Six open items could change the result; closing them needs supplier and vessel data, the internal ammonia dataset and a feasibility study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LiqH₂VC Database Rev 0 · Sections 10.2, 11, 12.3 and 13.9 · open items</a:t>
            </a:r>
            <a:endParaRPr lang="en-US" sz="1100" dirty="0"/>
          </a:p>
        </p:txBody>
      </p:sp>
      <p:graphicFrame>
        <p:nvGraphicFramePr>
          <p:cNvPr id="20" name="open-item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48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Haber-Bosch 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kWh/kg H₂ (team input)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exclude air separation. NH₃ stays ahead only below ~2.65 kWh/kg H₂ (2.25 with a clean-fuel cracker)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LH₂ ship boil-off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0.40 %/day (team input); 0.2 %/day in Section 12.2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full-scale data. Each extra 0.1 %/day removes about 2 % of the cargo over 20 sea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 days per cargo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(assumption)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corridor fixed. Sets ship count and fuel; LH₂ is close to a sixth ship (4.97)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Hydrogen production 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counted; 60 kWh/kg when included (assumption)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it puts LH₂ ahead, because it loses less hydrogen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NH₃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Re-liquefaction 0.25 kWh/kg, density 682 kg/m³, LHV 18.6 MJ/kg (estimates)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replaced with the internal ammonia dataset and the import-terminal power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included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Plant, ship and terminal CAPEX and OPEX, charter, carbon cost (CO₂, N₂O), safety and permitting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asis-note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Database-wide gaps also open: LH₂ regulation and permitting (Section 11), liquefaction, regas and ship costs (Section 12.3), and the reference tank size behind 24 USD/kg (Section 10.2).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2377440"/>
            <a:ext cx="6309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Questions and discussion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43708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LH</a:t>
            </a:r>
            <a:pPr algn="l" indent="0" marL="0">
              <a:buNone/>
            </a:pPr>
            <a:r>
              <a:rPr lang="en-US" sz="1800" baseline="-40000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Value Chain Technology Database, Rev 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tari">
  <a:themeElements>
    <a:clrScheme name="Gentari">
      <a:dk1>
        <a:srgbClr val="3A3935"/>
      </a:dk1>
      <a:lt1>
        <a:srgbClr val="FFFFFF"/>
      </a:lt1>
      <a:dk2>
        <a:srgbClr val="1F2933"/>
      </a:dk2>
      <a:lt2>
        <a:srgbClr val="F1EAF6"/>
      </a:lt2>
      <a:accent1>
        <a:srgbClr val="7030A0"/>
      </a:accent1>
      <a:accent2>
        <a:srgbClr val="4A3AA7"/>
      </a:accent2>
      <a:accent3>
        <a:srgbClr val="2977D6"/>
      </a:accent3>
      <a:accent4>
        <a:srgbClr val="60269E"/>
      </a:accent4>
      <a:accent5>
        <a:srgbClr val="75BA75"/>
      </a:accent5>
      <a:accent6>
        <a:srgbClr val="00C8E8"/>
      </a:accent6>
      <a:hlink>
        <a:srgbClr val="2977D6"/>
      </a:hlink>
      <a:folHlink>
        <a:srgbClr val="7030A0"/>
      </a:folHlink>
    </a:clrScheme>
    <a:fontScheme name="Gentar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LH2 Value Chain Technology Database: Syndication</dc:title>
  <dc:subject>PptxGenJS Presentation</dc:subject>
  <dc:creator>Gentari</dc:creator>
  <cp:lastModifiedBy>Gentari</cp:lastModifiedBy>
  <cp:revision>1</cp:revision>
  <dcterms:created xsi:type="dcterms:W3CDTF">2026-10-11T16:43:43Z</dcterms:created>
  <dcterms:modified xsi:type="dcterms:W3CDTF">2026-10-11T16:43:43Z</dcterms:modified>
</cp:coreProperties>
</file>